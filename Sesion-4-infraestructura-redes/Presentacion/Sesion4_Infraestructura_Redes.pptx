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· ESCUELA DE COMUNICACIONES MILITARES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Ciberseguridad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332720" y="50292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session4_build/icons/Fi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85039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en la Nube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· Seguridad de Infraestructura, Redes y Acceso Privado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3159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· Microsegmentación (NSG/ASG) · Private Endpoints · WAF · Bastion · TLS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2453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manuelvargasrojas@cedoc.edu.co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y agenda de la sesión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diseñará e implementará una arquitectura de red segura con segmentación, firewall, acceso privado y WAF.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560320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Topología, componentes del hub y flujos de tráfico.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3834" y="169164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11" name="Text 9"/>
          <p:cNvSpPr/>
          <p:nvPr/>
        </p:nvSpPr>
        <p:spPr>
          <a:xfrm>
            <a:off x="4515002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15002" y="2240280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15002" y="2560320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NSG, ASG y visibilidad con flow logs.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79029" y="169164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80197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80197" y="2240280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 a PaaS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80197" y="2560320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y TLS en tránsito.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3858768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y perímetro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9808" y="4178808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DDoS Protection, App Gateway/Front Door.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13834" y="3310128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15002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15002" y="3858768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15002" y="4178808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sin IP pública.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79029" y="3310128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F5FAF9"/>
          </a:solidFill>
          <a:ln/>
        </p:spPr>
      </p:sp>
      <p:sp>
        <p:nvSpPr>
          <p:cNvPr id="27" name="Text 25"/>
          <p:cNvSpPr/>
          <p:nvPr/>
        </p:nvSpPr>
        <p:spPr>
          <a:xfrm>
            <a:off x="8280197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80197" y="3858768"/>
            <a:ext cx="316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80197" y="4178808"/>
            <a:ext cx="31616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+ PaaS con Private Endpoints + WAF (DVWA/ACI).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ABAC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define el "qué puede hacer"; los atributos del contexto lo refinan (hora, ubicación, sensibilidad del recurso).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y OIDC validados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con sptest.iamshowcase.com (SAML) y con ms-identity-python-webapp en localhost:5000 (OIDC/JWT).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19933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con DES + CMK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 de las VM cifrados con Disk Encryption Set y llave administrada por el cliente en Key Vault.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48640" y="3977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datos protegidos son la base — hoy protegemos la red por la que viajan.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camino de la especialización en Seguridad en la Nube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58082" y="2468880"/>
            <a:ext cx="8875532" cy="0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38042" y="21488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8042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953512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56925" y="21488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692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40675" y="2953512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Gobernanza, Riesgo,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Segura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59558" y="2953512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Identidad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(IAM)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05289" y="1801368"/>
            <a:ext cx="22188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94691" y="2148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994691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78441" y="2953512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Redes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Privado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213574" y="21488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357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97324" y="2953512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4000"/>
            </a:avLst>
          </a:prstGeom>
          <a:solidFill>
            <a:srgbClr val="0E3C4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09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conceptual hacia lo técnico-operativo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Sesiones 1-3 sentaron la base conceptual (responsabilidad compartida, riesgo, gobernanza) y la protección de identidad y datos (IAM). La Sesión 4 baja al terreno de la red: cómo se segmenta, cómo se restringe el acceso administrativo y cómo se expone de forma segura una aplicación PaaS a Internet. Es el puente directo hacia la Sesión 5.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de aprendizaje y laboratorio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sesión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810512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Diagramar y justificar la topología Hub-and-Spoke: qué vive en el hub, qué en los spokes y cómo fluye el tráfico.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587752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microsegmentación con NSG y ASG aplicando el principio de deny-by-default.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364992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Private Endpoints para exponer servicios PaaS sin superficie pública de ataque.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4142232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rol de un WAF frente a Injection (SQLi, Command Injection) y de un plan DDoS Protection.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4919472"/>
            <a:ext cx="5596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IP públicas de administración mediante Azure Bastion.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78040" y="1417320"/>
            <a:ext cx="4465015" cy="4709160"/>
          </a:xfrm>
          <a:prstGeom prst="roundRect">
            <a:avLst>
              <a:gd name="adj" fmla="val 1434"/>
            </a:avLst>
          </a:prstGeom>
          <a:solidFill>
            <a:srgbClr val="0E3C44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691640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14884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0" descr="/home/claude/session4_build/icons/Fi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240280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982712" y="2121408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Red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982712" y="2386584"/>
            <a:ext cx="3386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con firewall/NSG y validación de microsegmentación.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452360" y="30175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1" descr="/home/claude/session4_build/icons/Fi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108960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982712" y="2990088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PaaS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982712" y="3255264"/>
            <a:ext cx="3386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con Private Endpoint y Managed Identity, sin acceso público.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7452360" y="38862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77640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982712" y="3858768"/>
            <a:ext cx="3386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WAF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7982712" y="4123944"/>
            <a:ext cx="3386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en Azure Container Instances tras un WAF, con bloqueo verificado de SQLi/Command Injection.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452360" y="498348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7452360" y="530352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PDF único vía Google Classroom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Arquitectura de Red Segura: Hub-and-Spoke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Topología, componentes del hub, peering y flujos de tráfico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y por qué existe?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recomendada por el Cloud Adoption Framework para organizaciones con múltiples cargas de trabajo.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64026" cy="1828800"/>
          </a:xfrm>
          <a:prstGeom prst="roundRect">
            <a:avLst>
              <a:gd name="adj" fmla="val 3500"/>
            </a:avLst>
          </a:prstGeom>
          <a:solidFill>
            <a:srgbClr val="E4E9E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121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session4_build/icons/FiHex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2199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6883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3072384"/>
            <a:ext cx="316169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con servicios de red compartidos: punto único de conectividad con on-premises y de egreso/inspección hacia Internet.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3834" y="1920240"/>
            <a:ext cx="3564026" cy="1828800"/>
          </a:xfrm>
          <a:prstGeom prst="roundRect">
            <a:avLst>
              <a:gd name="adj" fmla="val 3500"/>
            </a:avLst>
          </a:prstGeom>
          <a:solidFill>
            <a:srgbClr val="E4E9E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5002" y="2121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session4_build/icons/Fi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22199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5002" y="26883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15002" y="3072384"/>
            <a:ext cx="316169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VNets separadas, una por workload o ambiente, conectadas al hub mediante VNet peering.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79029" y="1920240"/>
            <a:ext cx="3564026" cy="1828800"/>
          </a:xfrm>
          <a:prstGeom prst="roundRect">
            <a:avLst>
              <a:gd name="adj" fmla="val 3500"/>
            </a:avLst>
          </a:prstGeom>
          <a:solidFill>
            <a:srgbClr val="E4E9E8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0197" y="2121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22199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0197" y="26883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80197" y="3072384"/>
            <a:ext cx="316169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incidente en un spoke no compromete automáticamente a los demás.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564026" cy="1463040"/>
          </a:xfrm>
          <a:prstGeom prst="roundRect">
            <a:avLst>
              <a:gd name="adj" fmla="val 4375"/>
            </a:avLst>
          </a:prstGeom>
          <a:solidFill>
            <a:srgbClr val="E4E9E8"/>
          </a:solidFill>
          <a:ln/>
        </p:spPr>
      </p:sp>
      <p:sp>
        <p:nvSpPr>
          <p:cNvPr id="23" name="Shape 18"/>
          <p:cNvSpPr/>
          <p:nvPr/>
        </p:nvSpPr>
        <p:spPr>
          <a:xfrm>
            <a:off x="749808" y="4178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session4_build/icons/FiSlid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7939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" y="4745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centralizados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9808" y="5129784"/>
            <a:ext cx="31616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firewall y una política de salida, no diez configuraciones distintas.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13834" y="3977640"/>
            <a:ext cx="3564026" cy="1463040"/>
          </a:xfrm>
          <a:prstGeom prst="roundRect">
            <a:avLst>
              <a:gd name="adj" fmla="val 4375"/>
            </a:avLst>
          </a:prstGeom>
          <a:solidFill>
            <a:srgbClr val="E4E9E8"/>
          </a:solidFill>
          <a:ln/>
        </p:spPr>
      </p:sp>
      <p:sp>
        <p:nvSpPr>
          <p:cNvPr id="28" name="Shape 22"/>
          <p:cNvSpPr/>
          <p:nvPr/>
        </p:nvSpPr>
        <p:spPr>
          <a:xfrm>
            <a:off x="4515002" y="4178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session4_build/icons/Fi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586" y="427939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15002" y="4745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claro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15002" y="5129784"/>
            <a:ext cx="31616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administra el hub; cada equipo administra su spoke.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079029" y="3977640"/>
            <a:ext cx="3564026" cy="1463040"/>
          </a:xfrm>
          <a:prstGeom prst="roundRect">
            <a:avLst>
              <a:gd name="adj" fmla="val 4375"/>
            </a:avLst>
          </a:prstGeom>
          <a:solidFill>
            <a:srgbClr val="E4E9E8"/>
          </a:solidFill>
          <a:ln/>
        </p:spPr>
      </p:sp>
      <p:sp>
        <p:nvSpPr>
          <p:cNvPr id="33" name="Shape 26"/>
          <p:cNvSpPr/>
          <p:nvPr/>
        </p:nvSpPr>
        <p:spPr>
          <a:xfrm>
            <a:off x="8280197" y="4178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5" descr="/home/claude/session4_build/icons/Fi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781" y="4279392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280197" y="4745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280197" y="5129784"/>
            <a:ext cx="316169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red compartidos entre todos los spokes (firewall, gateway, Bastion).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Anatomía del hub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hub NO aloja lógica de negocio: solo servicios de red compartidos.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394960"/>
                <a:gridCol w="29535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 de diseño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Firewall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Inspección Norte-Sur y Este-Oeste; egreso; IDPS (SKU Premium)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 dedicada AzureFirewallSubnet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/ ExpressRoute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Conectividad híbrida; compartida por todos los spokes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GatewaySubnet (mínimo /27)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RDP/SSH a VM de cualquier spoke sin IP pública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Basic o superior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Protege las IP públicas del hub y de los spokes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 según el nivel de 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709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aplicación vive en un spoke; el hub solo enruta e inspecciona.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 spokes y el peering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64026" cy="2148840"/>
          </a:xfrm>
          <a:prstGeom prst="roundRect">
            <a:avLst>
              <a:gd name="adj" fmla="val 2979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Lin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8483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511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peering NO es transitivo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935224"/>
            <a:ext cx="316169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A↔hub↔B no implica A↔B. Ese aislamiento por defecto entre spokes es, en sí mismo, una característica de seguridad.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83080"/>
            <a:ext cx="3564026" cy="2148840"/>
          </a:xfrm>
          <a:prstGeom prst="roundRect">
            <a:avLst>
              <a:gd name="adj" fmla="val 2979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Navig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8483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511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fuerza el tráfico al firewall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935224"/>
            <a:ext cx="316169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Defined Routes agregan un salto, pero garantizan que el tráfico entre spokes quede inspeccionado.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83080"/>
            <a:ext cx="3564026" cy="2148840"/>
          </a:xfrm>
          <a:prstGeom prst="roundRect">
            <a:avLst>
              <a:gd name="adj" fmla="val 2979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848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511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tunneling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935224"/>
            <a:ext cx="316169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ruta por defecto (0.0.0.0/0 → firewall) obliga a que el egreso a Internet pase primero por el hub.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160520"/>
            <a:ext cx="11094415" cy="685800"/>
          </a:xfrm>
          <a:prstGeom prst="roundRect">
            <a:avLst>
              <a:gd name="adj" fmla="val 9333"/>
            </a:avLst>
          </a:prstGeom>
          <a:solidFill>
            <a:srgbClr val="F5FAF9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160520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spokes necesitan comunicarse: peering directo (rápido, sin inspección) o a través del firewall del hub (más lento, con visibilidad total).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Diagrama completo y flujos de tráfico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E4E9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323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907792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VPN/ExpressRoute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0" y="2788920"/>
            <a:ext cx="548640" cy="0"/>
          </a:xfrm>
          <a:prstGeom prst="line">
            <a:avLst/>
          </a:prstGeom>
          <a:noFill/>
          <a:ln w="19050">
            <a:solidFill>
              <a:srgbClr val="5C7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8288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0B202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883664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9192" y="3072384"/>
            <a:ext cx="30540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· Bastion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VPN/ExpressRoute GW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06440" y="228600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3200400"/>
            <a:ext cx="5486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5FA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836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Prod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3952" y="23591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+ NSG + ASG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283464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5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8895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Datos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3952" y="33649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+ NSG + 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778240" y="2240280"/>
            <a:ext cx="548640" cy="0"/>
          </a:xfrm>
          <a:prstGeom prst="line">
            <a:avLst/>
          </a:prstGeom>
          <a:noFill/>
          <a:ln w="19050">
            <a:solidFill>
              <a:srgbClr val="5C7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246120"/>
            <a:ext cx="548640" cy="0"/>
          </a:xfrm>
          <a:prstGeom prst="line">
            <a:avLst/>
          </a:prstGeom>
          <a:noFill/>
          <a:ln w="19050">
            <a:solidFill>
              <a:srgbClr val="5C7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87452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9464040" y="1929384"/>
            <a:ext cx="1691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GW / WAF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45752" y="235915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web (N-S)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372600" y="2834640"/>
            <a:ext cx="187452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9464040" y="288950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→ VM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45752" y="336499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sin IP pública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flujos clave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427939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N-S entrante: Internet → App Gateway/WAF → spoke.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4608576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N-S saliente: spoke → firewall del hub → Internet (egreso inspeccionado).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937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E-O entre spokes: spoke A → firewall del hub → spoke B (vía UDR).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26694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Administración: operador → Bastion → VM (sin IP pública).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todo ingreso y todo egreso pasa por el hub.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IDS/IPS en profundidad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detecta y alerta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tráfico contra firmas y patrones conocidos; genera alertas pero no bloquea por sí mismo.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Shield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IPS: detecta y bloquea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visibilidad que un IDS, pero actúa en línea: descarta paquetes antes de que lleguen al destino.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691640"/>
            <a:ext cx="3564026" cy="1920240"/>
          </a:xfrm>
          <a:prstGeom prst="roundRect">
            <a:avLst>
              <a:gd name="adj" fmla="val 3333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19933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Azure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43784"/>
            <a:ext cx="316169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Premium (IDPS) dentro del hub, o una NVA de terceros con motor Suricata para mayor control de firmas.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48737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IDPS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usarlo?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 y alerta, no bloquea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 de aprendizaje / evitar falsos positivos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and Deny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Registra, alerta y bloquea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 estable, firmas ya afinadas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Variantes de diseño y ejercicio de aplicación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4026" cy="1600200"/>
          </a:xfrm>
          <a:prstGeom prst="roundRect">
            <a:avLst>
              <a:gd name="adj" fmla="val 4000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WAN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43784"/>
            <a:ext cx="31616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administrado por Microsoft: menos overhead, ideal para multi-región o multi-sitio.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691640"/>
            <a:ext cx="3564026" cy="1600200"/>
          </a:xfrm>
          <a:prstGeom prst="roundRect">
            <a:avLst>
              <a:gd name="adj" fmla="val 4000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Multi-región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43784"/>
            <a:ext cx="31616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hub por región, hubs interconectados entre sí.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691640"/>
            <a:ext cx="3564026" cy="1600200"/>
          </a:xfrm>
          <a:prstGeom prst="roundRect">
            <a:avLst>
              <a:gd name="adj" fmla="val 4000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Alert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19933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4597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43784"/>
            <a:ext cx="31616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firewall del hub es un cuello de botella potencial: dimensionar su ancho de banda.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11094415" cy="2560320"/>
          </a:xfrm>
          <a:prstGeom prst="roundRect">
            <a:avLst>
              <a:gd name="adj" fmla="val 2500"/>
            </a:avLst>
          </a:prstGeom>
          <a:solidFill>
            <a:srgbClr val="F5FAF9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en parejas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2960" y="4087368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de e-commerce tiene tres cargas de trabajo: la app de pagos en producción, un ambiente de desarrollo, y una base de datos regulada (PCI-DSS).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22960" y="46634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spokes crearían y qué tráfico permitirían entre ellos? Sustenten su respuesta con el principio de menor privilegio en red.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22960" y="52578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la base de datos regulada probablemente necesita su propio spoke, sin peering directo con desarrollo.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Microsegmentación: NSG, ASG y Visibilidad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macro segmentación (hub-spoke) a la micro segmentación por carga de trabajo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macro a la micro segmentación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Hex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597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(macro)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437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ENTRE workloads: cada aplicación vive en su propio spoke.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6432" y="16916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639760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00" y="24597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 (micro)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97600" y="28437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DENTRO de cada workload: capas individuales con políticas que limitan su tráfico entre sí.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48640" y="3474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triple de la microsegmentación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384048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E4E9E8"/>
          </a:solidFill>
          <a:ln/>
        </p:spPr>
      </p:sp>
      <p:sp>
        <p:nvSpPr>
          <p:cNvPr id="18" name="Shape 14"/>
          <p:cNvSpPr/>
          <p:nvPr/>
        </p:nvSpPr>
        <p:spPr>
          <a:xfrm>
            <a:off x="749808" y="4041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session4_build/icons/Fi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14223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9808" y="46085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superficie de ataque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9808" y="4992624"/>
            <a:ext cx="3161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rutas de comunicación abiertas entre capas.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313834" y="384048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E4E9E8"/>
          </a:solidFill>
          <a:ln/>
        </p:spPr>
      </p:sp>
      <p:sp>
        <p:nvSpPr>
          <p:cNvPr id="23" name="Shape 18"/>
          <p:cNvSpPr/>
          <p:nvPr/>
        </p:nvSpPr>
        <p:spPr>
          <a:xfrm>
            <a:off x="4515002" y="4041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session4_build/icons/FiShield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586" y="414223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515002" y="46085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 el movimiento lateral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15002" y="4992624"/>
            <a:ext cx="3161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atacante en la capa web no llega directo a la base de datos.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079029" y="3840480"/>
            <a:ext cx="3564026" cy="1417320"/>
          </a:xfrm>
          <a:prstGeom prst="roundRect">
            <a:avLst>
              <a:gd name="adj" fmla="val 4516"/>
            </a:avLst>
          </a:prstGeom>
          <a:solidFill>
            <a:srgbClr val="E4E9E8"/>
          </a:solidFill>
          <a:ln/>
        </p:spPr>
      </p:sp>
      <p:sp>
        <p:nvSpPr>
          <p:cNvPr id="28" name="Shape 22"/>
          <p:cNvSpPr/>
          <p:nvPr/>
        </p:nvSpPr>
        <p:spPr>
          <a:xfrm>
            <a:off x="8280197" y="40416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session4_build/icons/FiSett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781" y="414223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280197" y="460857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la política por app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280197" y="4992624"/>
            <a:ext cx="31616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reflejan la arquitectura real, no solo la topología de red.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 diseño no es "¿cuántos segmentos creo?" sino "si este segmento cae, ¿qué arrastra consigo?"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herramientas, de gruesa a fina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VNet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total: sin peering, no hay tráfico posible entre VNets.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Subnet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una VNet en segmentos lógicos; primer punto de aplicación de NSG.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NSG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de capa 4 sobre subred o NIC. Gana la combinación más restrictiva.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374904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22" name="Shape 17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session4_build/icons/Fi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05079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" y="45171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9808" y="490118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NIC por rol de aplicación (no por IP), simplificando reglas.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13834" y="374904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27" name="Shape 21"/>
          <p:cNvSpPr/>
          <p:nvPr/>
        </p:nvSpPr>
        <p:spPr>
          <a:xfrm>
            <a:off x="4515002" y="3950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/home/claude/session4_build/icons/Fi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586" y="4050792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15002" y="45171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 tags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515002" y="490118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Destinos de plataforma por nombre, sin mantener rangos de IP.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79029" y="3749040"/>
            <a:ext cx="3564026" cy="1783080"/>
          </a:xfrm>
          <a:prstGeom prst="roundRect">
            <a:avLst>
              <a:gd name="adj" fmla="val 3590"/>
            </a:avLst>
          </a:prstGeom>
          <a:solidFill>
            <a:srgbClr val="E4E9E8"/>
          </a:solidFill>
          <a:ln/>
        </p:spPr>
      </p:sp>
      <p:sp>
        <p:nvSpPr>
          <p:cNvPr id="32" name="Shape 25"/>
          <p:cNvSpPr/>
          <p:nvPr/>
        </p:nvSpPr>
        <p:spPr>
          <a:xfrm>
            <a:off x="8280197" y="39502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3" name="Image 5" descr="/home/claude/session4_build/icons/Fi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0781" y="4050792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280197" y="451713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Private endpoints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8280197" y="4901184"/>
            <a:ext cx="3161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PaaS entra a la VNet con IP privada: deja de existir en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Ejemplo: 3 capas con NSG + ASG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pagos — web, API y base de datos en una VNet de spoke: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  <a:gridCol w="2834640"/>
                <a:gridCol w="1554480"/>
                <a:gridCol w="25877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Puerto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(App GW)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asg-web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asg-db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 (default)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11094415" cy="685800"/>
          </a:xfrm>
          <a:prstGeom prst="roundRect">
            <a:avLst>
              <a:gd name="adj" fmla="val 9333"/>
            </a:avLst>
          </a:prstGeom>
          <a:solidFill>
            <a:srgbClr val="F5FAF9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434840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la regla 130→4096 es redundante? El default DENY ya niega todo lo no permitido. Documentar la intención explícita reduce ambigüedad ante una auditoría.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web NUNCA habla con la base de datos directamente.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Visibilidad: no se microsegmenta a ciegas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Flow Logs + Traffic Analytics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Registran quién habla con quién y qué reglas niegan o permiten cada conexión.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 real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el tráfico real → derivar la matriz de comunicación esperada → escribir reglas deny-by-default.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forense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incidente, los flow logs permiten reconstruir el movimiento lateral.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11094415" cy="594360"/>
          </a:xfrm>
          <a:prstGeom prst="roundRect">
            <a:avLst>
              <a:gd name="adj" fmla="val 10769"/>
            </a:avLst>
          </a:prstGeom>
          <a:solidFill>
            <a:srgbClr val="FCE9E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02336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Actualidad: los NSG flow logs clásicos están en camino de retiro — usar Virtual Network flow logs (la generación vigente) en todo diseño nuevo.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Acceso Privado a Servicios PaaS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TLS y el patrón de referencia para exponer una app de forma segura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arquitectura de referencia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Shield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 ataques volumétricos contra las IP públicas de entrada.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6432" y="173736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6397600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00" y="250545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 / App Gateway + WAF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97600" y="288950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punto de entrada público. Reglas OWASP administradas, TLS terminado en el borde.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3721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2219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808" y="42885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(PaaS)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9808" y="46725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 para autenticarse contra otros servicios; sin credenciales embebidas.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6432" y="35204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22" name="Shape 17"/>
          <p:cNvSpPr/>
          <p:nvPr/>
        </p:nvSpPr>
        <p:spPr>
          <a:xfrm>
            <a:off x="6397600" y="3721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session4_build/icons/Fi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84" y="382219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97600" y="42885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→ SQL / Key Vault / Storage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397600" y="46725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nunca sale a Internet: acceso público desactivado.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Endpoints en profundidad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PaaS con endpoint público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CE9E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02536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243230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origen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88920" y="2331720"/>
            <a:ext cx="502920" cy="0"/>
          </a:xfrm>
          <a:prstGeom prst="line">
            <a:avLst/>
          </a:prstGeom>
          <a:noFill/>
          <a:ln w="19050">
            <a:solidFill>
              <a:srgbClr val="E457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947672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FCE9E3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02536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10712" y="24323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público + firewall de IP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acceso vía Private Endpoint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947672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E4E9E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02536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/ Spoke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2432304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integrado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2331720"/>
            <a:ext cx="5029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94767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200253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71432" y="2286000"/>
            <a:ext cx="2459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privada dentro de la VNet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público: disabled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0" descr="/home/claude/session4_build/icons/Fi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502152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" y="396849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9808" y="435254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crea una NIC con IP privada dentro de tu VNet, mapeada 1:1 al recurso PaaS mediante Azure Private Link.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13834" y="320040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28" name="Shape 25"/>
          <p:cNvSpPr/>
          <p:nvPr/>
        </p:nvSpPr>
        <p:spPr>
          <a:xfrm>
            <a:off x="4515002" y="3401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1" descr="/home/claude/session4_build/icons/Fi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3502152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515002" y="396849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privado obligatorio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4515002" y="435254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zona de DNS privado (ej. privatelink.database.windows.net) resuelve el nombre hacia la IP privada.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079029" y="320040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33" name="Shape 29"/>
          <p:cNvSpPr/>
          <p:nvPr/>
        </p:nvSpPr>
        <p:spPr>
          <a:xfrm>
            <a:off x="8280197" y="34015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2" descr="/home/claude/session4_build/icons/FiAlert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3502152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280197" y="396849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Service Endpoint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280197" y="435254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Service Endpoint solo restringe el origen (sigue siendo IP pública); un Private Endpoint inyecta IP privada real.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TLS y cifrado en tránsito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1965960"/>
          </a:xfrm>
          <a:prstGeom prst="roundRect">
            <a:avLst>
              <a:gd name="adj" fmla="val 3256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mínimo; preferir TLS 1.3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1.0/1.1 deben deshabilitarse explícitamente en App Service, App Gateway y Storage.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1965960"/>
          </a:xfrm>
          <a:prstGeom prst="roundRect">
            <a:avLst>
              <a:gd name="adj" fmla="val 3256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administrados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Managed Certificate o Key Vault, con renovación automática — nunca autofirmados en producción.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1965960"/>
          </a:xfrm>
          <a:prstGeom prst="roundRect">
            <a:avLst>
              <a:gd name="adj" fmla="val 3256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HTTPS-only en cada capa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Gateway/Front Door terminan TLS en el borde y re-cifran hacia el backend cuando el dato es sensible.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91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esperada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Only: On · TLS mínimo 1.2 · FTP deshabilitado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Gateway / Front Door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SSL más reciente · certificados en Key Vault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/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transfer required: Enabled · TLS 1.2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Nota rápida: el mismo patrón en App Service, AKS y Functions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(managed identity, RBAC, Key Vault) ya se trabajó en la Sesión 3. Aquí cerramos el círculo con la óptica de red: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red equivalente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restrictions (solo el WAF llega) + Private Endpoint + VNet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CNI + Network Policies = microsegmentación entre pods; egreso por Azure Firewall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Mismo patrón de App Service: Private Endpoint de entrada + VNet Integration de salida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resuelve "quién puede"; red resuelve "desde dónde puede llegar". Ninguna sustituye a la otra.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WAF y Protección Perimetral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detiene un Web Application Firewall y cómo se conecta con el laboratorio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un WAF y qué detiene?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en la capa de aplicación (L7)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 firewall de red (IP y puerto), un WAF interpreta el contenido completo de la petición HTTP/HTTPS.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intención, no solo origen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payloads de explotación y comportamiento anómalo, más allá de si el origen "parece" confiable.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Core Rule Set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WAF aplica el CRS de OWASP listo para usar, con reglas personalizadas por aplicación.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11094415" cy="640080"/>
          </a:xfrm>
          <a:prstGeom prst="roundRect">
            <a:avLst>
              <a:gd name="adj" fmla="val 10000"/>
            </a:avLst>
          </a:prstGeom>
          <a:solidFill>
            <a:srgbClr val="F5FAF9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023360"/>
            <a:ext cx="105823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WAF es un control compensatorio: protege mientras el equipo de desarrollo corrige la causa raíz en el código. No reemplaza escribir código seguro.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control mitiga una amenaza del modelo STRIDE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  <a:gridCol w="542239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STRIDE que ataja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 / Injection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SQLi, XSS bloqueados por reglas administradas (OWASP CRS)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Absorbe ataques volumétricos antes del borde de la aplicación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extremo a extremo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viaja en claro entre el App Gateway y el 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+ MFA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robusta de usuarios y de la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base de datos no existe en Internet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+ App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Trazabilidad de cada transacción y cada bloqueo del WAF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arquitectura segura es un modelo de amenazas respondido.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WAF frente a Injection: SQLi y Command Injection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sigue crítica en OWASP Top 10:2025 (A05)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Abarca SQLi, XSS y Command Injection: datos no confiables del usuario terminan ejecutándose como código o comando.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actúa el WAF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Rule Set reconoce firmas típicas de SQLi y Command Injection e interrumpe la petición antes de la aplicación.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valida el laboratorio de hoy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DVWA en Azure Container Instances: ataque sin WAF y luego bloqueo verificado con el WAF activo.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114800"/>
            <a:ext cx="11094415" cy="640080"/>
          </a:xfrm>
          <a:prstGeom prst="roundRect">
            <a:avLst>
              <a:gd name="adj" fmla="val 10000"/>
            </a:avLst>
          </a:prstGeom>
          <a:solidFill>
            <a:srgbClr val="FCE9E3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114800"/>
            <a:ext cx="105823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WAF no "arregla" la vulnerabilidad de inyección en el código de DVWA — la contiene. Es un control compensatorio, no un reemplazo del desarrollo seguro.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DDoS Protection y el borde: App Gateway vs. Front Door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9087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Gateway + WAF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Door + WAF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(una región de Azure)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(anycast, borde de Microsoft)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L7, dentro de la VNet (puede vivir en un spoke)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L7, fuera de la VNet, en el edge global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app en una región, tráfico interno/híbrido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multi-región, CDN, latencia global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apoya en el DDoS Protection Plan del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 integrada en el edge de Microsoft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51960"/>
            <a:ext cx="11094415" cy="594360"/>
          </a:xfrm>
          <a:prstGeom prst="roundRect">
            <a:avLst>
              <a:gd name="adj" fmla="val 10769"/>
            </a:avLst>
          </a:prstGeom>
          <a:solidFill>
            <a:srgbClr val="F5FAF9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425196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de hoy usa Application Gateway + WAF: la app vive en un spoke, dentro de la misma arquitectura de red que construimos.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07492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E4E9E8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52760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0" descr="/home/claude/session4_build/icons/Fi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3766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584301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Protection: Basic vs. Network Protection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9808" y="6227064"/>
            <a:ext cx="10692079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viene activado gratis en toda IP pública. Network Protection añade mitigación adaptativa y telemetría detallada.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Azure Bastion y Acceso Administrativo Seguro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Eliminando la IP pública como vector de ataque hacia las VM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problema de las IP públicas en VM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IP pública es escaneada, constantemente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automatizados prueban credenciales por fuerza bruta contra RDP (3389) y SSH (22) minutos después de activarse.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Wifi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jump box tradicional traslada el problema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jump box tiene IP pública, sigue siendo un blanco directo — solo se movió el punto de entrada.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2103120"/>
          </a:xfrm>
          <a:prstGeom prst="roundRect">
            <a:avLst>
              <a:gd name="adj" fmla="val 3043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acceso vía plataforma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Bastion se despliega como PaaS dentro del hub, con una única IP pública administrada por Microsoft.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114800"/>
            <a:ext cx="11094415" cy="594360"/>
          </a:xfrm>
          <a:prstGeom prst="roundRect">
            <a:avLst>
              <a:gd name="adj" fmla="val 10769"/>
            </a:avLst>
          </a:prstGeom>
          <a:solidFill>
            <a:srgbClr val="F5FAF9"/>
          </a:solidFill>
          <a:ln/>
        </p:spPr>
      </p:sp>
      <p:sp>
        <p:nvSpPr>
          <p:cNvPr id="22" name="Text 17"/>
          <p:cNvSpPr/>
          <p:nvPr/>
        </p:nvSpPr>
        <p:spPr>
          <a:xfrm>
            <a:off x="804672" y="411480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diseño: cero VM con IP pública en toda la arquitectura, sin excepción — incluidas las de administración.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funciona Azure Bastion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 dedicada dentro del hub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AzureBastionSubnet, mínimo /26 — una única instancia sirve a todas las VM de todos los spokes conectados.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3834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5002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es el cliente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15002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RDP/SSH desde Azure Portal (HTTPS/443), sin instalar cliente ni exponer 3389/22 a Internet.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79029" y="1737360"/>
            <a:ext cx="3564026" cy="2011680"/>
          </a:xfrm>
          <a:prstGeom prst="roundRect">
            <a:avLst>
              <a:gd name="adj" fmla="val 3182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80197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03911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0197" y="250545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y capacidades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80197" y="2889504"/>
            <a:ext cx="316169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cubre RDP/SSH básico; Standard/Premium añaden escalado, túnel nativo y grabación de sesión.</a:t>
            </a:r>
            <a:endParaRPr lang="en-US" sz="11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4415" cy="914400"/>
        </p:xfrm>
        <a:graphic>
          <a:graphicData uri="http://schemas.openxmlformats.org/drawingml/2006/table">
            <a:tbl>
              <a:tblPr/>
              <a:tblGrid>
                <a:gridCol w="5550408"/>
                <a:gridCol w="555040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Bastion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Bastion (jump box tradicional)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IP pública en las 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box con IP pública expuesta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agentes ni clientes que mantener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de cliente o cliente RDP/SSH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Integrado con Azure RBAC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acceso independiente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Flujo de acceso administrativo end-to-end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651978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session4_build/icons/Fi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282" y="206654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1518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Operador autenticado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292608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MFA en Azure Portal.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21076" y="2057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5582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session4_build/icons/FiS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86" y="20665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7964" y="261518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Solicita conexión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67964" y="292608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valida el RBAC (rol de Bastion).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94680" y="2057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199186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session4_build/icons/Fi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490" y="206654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1568" y="261518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Bastion abre el túnel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141568" y="292608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HTTPS/443, sin exponer 3389/22.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668283" y="205740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972789" y="19202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session4_build/icons/Fi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093" y="206654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171" y="261518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Conexión a la VM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915171" y="292608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IP privada — nunca tuvo IP pública.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749040"/>
            <a:ext cx="11094415" cy="594360"/>
          </a:xfrm>
          <a:prstGeom prst="roundRect">
            <a:avLst>
              <a:gd name="adj" fmla="val 10769"/>
            </a:avLst>
          </a:prstGeom>
          <a:solidFill>
            <a:srgbClr val="F5FAF9"/>
          </a:solidFill>
          <a:ln/>
        </p:spPr>
      </p:sp>
      <p:sp>
        <p:nvSpPr>
          <p:cNvPr id="26" name="Text 20"/>
          <p:cNvSpPr/>
          <p:nvPr/>
        </p:nvSpPr>
        <p:spPr>
          <a:xfrm>
            <a:off x="804672" y="3749040"/>
            <a:ext cx="105823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principio de Zero Trust de la Sesión 1 — "nunca confiar, siempre verificar" — aplicado ahora al plano de administración de infraestructura.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4572000"/>
            <a:ext cx="11094415" cy="1234440"/>
          </a:xfrm>
          <a:prstGeom prst="roundRect">
            <a:avLst>
              <a:gd name="adj" fmla="val 5185"/>
            </a:avLst>
          </a:prstGeom>
          <a:solidFill>
            <a:srgbClr val="E4E9E8"/>
          </a:solidFill>
          <a:ln/>
        </p:spPr>
      </p:sp>
      <p:sp>
        <p:nvSpPr>
          <p:cNvPr id="28" name="Shape 22"/>
          <p:cNvSpPr/>
          <p:nvPr/>
        </p:nvSpPr>
        <p:spPr>
          <a:xfrm>
            <a:off x="749808" y="4773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/home/claude/session4_build/icons/Fi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87375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" y="5340096"/>
            <a:ext cx="10692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registrado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749808" y="5724144"/>
            <a:ext cx="10692079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Bastion y Azure Monitor generan un registro completo de cada sesión administrativa: quién, cuándo, a qué VM.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Mínima Exposición y Hardening Continuo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 los principios de toda la sesión en una checklist operativa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4572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session4_build/icons/Fi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75895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decálogo de mínima exposición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6624" cy="1737360"/>
          </a:xfrm>
          <a:prstGeom prst="roundRect">
            <a:avLst>
              <a:gd name="adj" fmla="val 3684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X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3911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50545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VM con IP pública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89504"/>
            <a:ext cx="50442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administrativo exclusivamente vía Azure Bastion.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6432" y="1737360"/>
            <a:ext cx="5446624" cy="1737360"/>
          </a:xfrm>
          <a:prstGeom prst="roundRect">
            <a:avLst>
              <a:gd name="adj" fmla="val 3684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6397600" y="193852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00" y="250545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sin acceso público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97600" y="2889504"/>
            <a:ext cx="50442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para SQL, Storage y Key Vault; acceso público deshabilitado.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675888"/>
            <a:ext cx="5446624" cy="1737360"/>
          </a:xfrm>
          <a:prstGeom prst="roundRect">
            <a:avLst>
              <a:gd name="adj" fmla="val 3684"/>
            </a:avLst>
          </a:prstGeom>
          <a:solidFill>
            <a:srgbClr val="E4E9E8"/>
          </a:solidFill>
          <a:ln/>
        </p:spPr>
      </p:sp>
      <p:sp>
        <p:nvSpPr>
          <p:cNvPr id="17" name="Shape 13"/>
          <p:cNvSpPr/>
          <p:nvPr/>
        </p:nvSpPr>
        <p:spPr>
          <a:xfrm>
            <a:off x="749808" y="38770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session4_build/icons/Fi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97764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808" y="4443984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 controlado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9808" y="4828032"/>
            <a:ext cx="50442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tráfico de salida pasa por el firewall del hub, con reglas explícitas por FQDN.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96432" y="3675888"/>
            <a:ext cx="5446624" cy="1737360"/>
          </a:xfrm>
          <a:prstGeom prst="roundRect">
            <a:avLst>
              <a:gd name="adj" fmla="val 3684"/>
            </a:avLst>
          </a:prstGeom>
          <a:solidFill>
            <a:srgbClr val="E4E9E8"/>
          </a:solidFill>
          <a:ln/>
        </p:spPr>
      </p:sp>
      <p:sp>
        <p:nvSpPr>
          <p:cNvPr id="22" name="Shape 17"/>
          <p:cNvSpPr/>
          <p:nvPr/>
        </p:nvSpPr>
        <p:spPr>
          <a:xfrm>
            <a:off x="6397600" y="387705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session4_build/icons/Fi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184" y="397764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97600" y="4443984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en todos los NSG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397600" y="4828032"/>
            <a:ext cx="50442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de permiso es una excepción documentada — nunca el punto de partida.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MÍNIMA EXPOSICIÓN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Hardening continuo, no evento único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session4_build/icons/Fi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93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24597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se degrada sola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28437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recursos y excepciones "temporales" que nunca se retiran erosionan la postura con el tiempo.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6432" y="1691640"/>
            <a:ext cx="5446624" cy="1554480"/>
          </a:xfrm>
          <a:prstGeom prst="roundRect">
            <a:avLst>
              <a:gd name="adj" fmla="val 4118"/>
            </a:avLst>
          </a:prstGeom>
          <a:solidFill>
            <a:srgbClr val="E4E9E8"/>
          </a:solidFill>
          <a:ln/>
        </p:spPr>
      </p:sp>
      <p:sp>
        <p:nvSpPr>
          <p:cNvPr id="12" name="Shape 9"/>
          <p:cNvSpPr/>
          <p:nvPr/>
        </p:nvSpPr>
        <p:spPr>
          <a:xfrm>
            <a:off x="6397600" y="1892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session4_build/icons/Fi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184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97600" y="2459736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como backlog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97600" y="2843784"/>
            <a:ext cx="50442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recomendaciones por riesgo — un ciclo de mejora continua, no una lista de checkboxes.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651978" y="3794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session4_build/icons/Fi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282" y="39410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" y="448970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(Policy)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94360" y="480060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define el estado deseado.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121076" y="39319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425582" y="3794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session4_build/icons/Fi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394106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367964" y="448970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(CSPM)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3367964" y="480060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continua vs. lo deseado.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894680" y="39319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7199186" y="3794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4" descr="/home/claude/session4_build/icons/FiTo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490" y="394106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41568" y="448970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141568" y="480060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la desviación, con evidencia.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8668283" y="39319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9972789" y="37947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5" descr="/home/claude/session4_build/icons/FiRepe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9093" y="394106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171" y="4489704"/>
            <a:ext cx="2682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915171" y="4800600"/>
            <a:ext cx="2682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cambia constantemente.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mínima exposición no es una lista de checkboxes: es una propiedad emergente del diseño.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teoría a la arquitectura completa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4E9E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95144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57400" y="2624328"/>
            <a:ext cx="365760" cy="0"/>
          </a:xfrm>
          <a:prstGeom prst="line">
            <a:avLst/>
          </a:prstGeom>
          <a:noFill/>
          <a:ln w="19050">
            <a:solidFill>
              <a:srgbClr val="5C7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9202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97510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+ WAF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42032" y="240487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2788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84378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42032" y="32735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2304288"/>
            <a:ext cx="3657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3172968"/>
            <a:ext cx="3657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1691640"/>
            <a:ext cx="2468880" cy="1920240"/>
          </a:xfrm>
          <a:prstGeom prst="roundRect">
            <a:avLst>
              <a:gd name="adj" fmla="val 2857"/>
            </a:avLst>
          </a:prstGeom>
          <a:solidFill>
            <a:srgbClr val="0B2027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746504"/>
            <a:ext cx="2286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02352" y="317296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(IDPS)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 + forced tunneling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43800" y="2624328"/>
            <a:ext cx="365760" cy="0"/>
          </a:xfrm>
          <a:prstGeom prst="line">
            <a:avLst/>
          </a:prstGeom>
          <a:noFill/>
          <a:ln w="19050">
            <a:solidFill>
              <a:srgbClr val="5C7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69164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5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74650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App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28432" y="222199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NSG/ASG · Managed Identity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55280" y="2788920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F5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84378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— Datos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28432" y="331927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 · TLS</a:t>
            </a:r>
            <a:endParaRPr lang="en-US" sz="8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de hoy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 en el diagrama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Hub-and-Spoke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topología completa: hub central + spokes de app y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Microsegmentación (NSG/ASG)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reglas dentro de cada spoke, entre capas de la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 + 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acceso privado al spoke de datos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+ DDoS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único punto de entrada público, protegido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único camino de administración, sin IP pública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laboratorio en tres partes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la arquitectura completa de hoy y luego atacamos la aplicación para verificar que el WAF realmente la protege.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64026" cy="2651760"/>
          </a:xfrm>
          <a:prstGeom prst="roundRect">
            <a:avLst>
              <a:gd name="adj" fmla="val 2414"/>
            </a:avLst>
          </a:prstGeom>
          <a:solidFill>
            <a:srgbClr val="E4E9E8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2304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/home/claude/session4_build/icons/Fi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40487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87121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Red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3255264"/>
            <a:ext cx="316169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con Azure Firewall, NSG y ASG. Validación de microsegmentación con pruebas de conectividad dirigidas.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3834" y="2103120"/>
            <a:ext cx="3564026" cy="2651760"/>
          </a:xfrm>
          <a:prstGeom prst="roundRect">
            <a:avLst>
              <a:gd name="adj" fmla="val 2414"/>
            </a:avLst>
          </a:prstGeom>
          <a:solidFill>
            <a:srgbClr val="E4E9E8"/>
          </a:solidFill>
          <a:ln/>
        </p:spPr>
      </p:sp>
      <p:sp>
        <p:nvSpPr>
          <p:cNvPr id="13" name="Shape 10"/>
          <p:cNvSpPr/>
          <p:nvPr/>
        </p:nvSpPr>
        <p:spPr>
          <a:xfrm>
            <a:off x="4515002" y="2304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session4_build/icons/Fi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86" y="240487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15002" y="287121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PaaS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15002" y="3255264"/>
            <a:ext cx="316169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 con Private Endpoint y Managed Identity hacia Key Vault y SQL. Verificación de que el acceso público queda deshabilitado.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79029" y="2103120"/>
            <a:ext cx="3564026" cy="2651760"/>
          </a:xfrm>
          <a:prstGeom prst="roundRect">
            <a:avLst>
              <a:gd name="adj" fmla="val 2414"/>
            </a:avLst>
          </a:prstGeom>
          <a:solidFill>
            <a:srgbClr val="E4E9E8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0197" y="2304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/home/claude/session4_build/icons/Fi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781" y="240487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0197" y="2871216"/>
            <a:ext cx="316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WAF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80197" y="3255264"/>
            <a:ext cx="316169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en Azure Container Instances tras un Application Gateway con WAF. Ataque de SQLi/Command Injection sin y con WAF (modo Prevention).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en el repositorio del curso (GitHub) · Entrega: PDF único vía Google Classroom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teoría a la práctica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Hub-and-Spoke (Bloque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VNet-Hub + VNet-Spoke con peering, Azure Firewall como punto único de inspección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Microsegmentación NSG/ASG (Bloque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por ASG entre capas de la app desplegada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 + TLS (Bloque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 y SQL sin acceso público; HTTPS-only forzado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frente a Injection (Bloque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Bloqueo verificado de SQLi y Command Injection contra DVWA en ACI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Bastion (Bloque 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conexión administrativa a las VM del laboratorio, sin IP pública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Mínima exposición (Bloque 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de cierre: validar que ningún recurso quedó expuesto de más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 y puente a la Sesión 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63040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topología Hub-and-Spoke centraliza la inspección y el egreso; el peering no transitivo entre spokes es una característica de seguridad, no una limitación.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21408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microsegmentación con NSG y ASG lleva el deny-by-default hasta dentro de cada aplicación, conteniendo el movimiento lateral.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779776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Private Endpoints eliminan la existencia pública de un servicio PaaS; TLS protege lo que sigue viajando por la red.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438144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WAF es un control compensatorio frente a Injection (SQLi, XSS, Command Injection) — no un sustituto del código seguro.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96512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Bastion cierra el último vector clásico: la IP pública de administración.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754880"/>
            <a:ext cx="108018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Cloud Security Operations, Observabilidad y Respuesta a Incidentes.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Referencias bibliográficas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Edwards, J. Cloud Security Fundamentals.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1284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Thompson, G. Certificate of Cloud Security Knowledge (CCSK v5) Official Study Guide.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Messier, R. Learning Cloud Security: Cloud Computing and Security Architecture Essentials.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Dotson, C. Practical Cloud Security: A Guide for Secure Design and Deployment.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9417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Alliance. Top Threats to Cloud Computing 2024.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documentación técnica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53712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Core Rule Set — coreruleset.org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864608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DVWA (Damn Vulnerable Web Application) — github.com/digininja/DVWA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175504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Documentación de Azure Firewall, Bastion y Private Link — learn.microsoft.com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· manuelvargasrojas@cedoc.edu.co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ESCOM - Ejército Nacional de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en la Nube - Sesión 4</dc:title>
  <dc:subject>PptxGenJS Presentation</dc:subject>
  <dc:creator>Manuel Alejandro Vargas Rojas</dc:creator>
  <cp:lastModifiedBy>Manuel Alejandro Vargas Rojas</cp:lastModifiedBy>
  <cp:revision>1</cp:revision>
  <dcterms:created xsi:type="dcterms:W3CDTF">2026-09-04T02:19:33Z</dcterms:created>
  <dcterms:modified xsi:type="dcterms:W3CDTF">2026-09-04T02:19:33Z</dcterms:modified>
</cp:coreProperties>
</file>