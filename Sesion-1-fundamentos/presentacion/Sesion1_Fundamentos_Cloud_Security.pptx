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3.png"/><Relationship Id="rId5" Type="http://schemas.openxmlformats.org/officeDocument/2006/relationships/image" Target="../media/image-3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0E3C4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502920"/>
            <a:ext cx="1554480" cy="1554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9995" y="875995"/>
            <a:ext cx="808330" cy="808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EJÉRCITO NACIONAL · ESCUELA DE COMUNICACIONES MILITARES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Ciberseguridad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la Nube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 · Fundamentos de Cloud Computing,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Compartida y Principios de Seguridad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029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teórico  ·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 HTA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y agenda de la sesión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aplicará el modelo de responsabilidad compartida y los principios Zero Trust, Least Privilege y Defense in Depth en el diseño de una arquitectura cloud.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282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Cloud Computing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características, modelos de despliegue y de servicio (IaaS/PaaS/SaaS).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7282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03720" y="17190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03720" y="2057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matriz de 7 capas, ejemplos en Azure e implicaciones para SecOps.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53512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815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07238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y gestión de riesgos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17320" y="341071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Threats CSA 2024 y conceptos base de gestión de riesgos (puente a Sesión 2).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953512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0815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07238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03720" y="341071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 y Zero Trust (principios, pilares y arquitectura).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44256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476402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Fundamentos, DFD, metodología STRIDE y enfoque OWASP con Threat Dragon.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306824"/>
            <a:ext cx="5212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434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44256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 en Azure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03720" y="476402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responsabilidad compartida, modelo de amenazas y Managed Identity.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 y laboratorio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sesión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responsabilidades de seguridad entre proveedor y cliente según el modelo de servicio (IaaS/PaaS/SaaS).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9572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panorama de amenazas actuales en la nube (CSA Top Threats 2024).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5409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principios de Least Privilege, Defense in Depth y Zero Trust en el diseño de una arquitectura cloud.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1246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un ejercicio de threat modeling usando la metodología STRIDE y el enfoque OWASP.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165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37083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Diagramar el modelo de responsabilidad compartida y configurar una Managed Identity funcional.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1371600"/>
            <a:ext cx="4892040" cy="4709160"/>
          </a:xfrm>
          <a:prstGeom prst="roundRect">
            <a:avLst>
              <a:gd name="adj" fmla="val 1942"/>
            </a:avLst>
          </a:prstGeom>
          <a:solidFill>
            <a:srgbClr val="0E3C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16459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698" y="1832458"/>
            <a:ext cx="404165" cy="40416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955280" y="17007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955280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en Azure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9516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2816352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680960" y="26791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responsabilidad compartida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680960" y="300837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para el entorno cloud asignado.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995160" y="3749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2" descr="/home/claude/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867912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80960" y="37307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amenazas con OWASP Threat Dragon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7680960" y="405993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STRIDE al flujo de la aplicación del laboratorio.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995160" y="4800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3" descr="/home/claude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4919472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80960" y="4782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funcional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680960" y="511149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Integrando 2 componentes cloud sin credenciales embebidas.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995160" y="5715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de la nota final del módulo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computación en la nube?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0B20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889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(NIST SP 800-145)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que permite acceso ubicuo, conveniente y bajo demanda a un conjunto compartido de recursos informáticos configurables (redes, servidores, almacenamiento, aplicaciones y servicios), que pueden aprovisionarse y liberarse rápidamente con mínimo esfuerzo de gestión o interacción del proveedor.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48132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3533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bajo demanda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55080" y="1645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aprovisiona recursos sin intervención humana del proveedor.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0" y="23042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414016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286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acceso a la red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55080" y="25786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a través de la red mediante mecanismos estándar.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69280" y="323697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346704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218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recursos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55080" y="351129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compartidos dinámicamente entre múltiples consumidores (multi-tenant).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69280" y="41696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/home/claude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427939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5080" y="415137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rápida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355080" y="44439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escalan hacia arriba o abajo según la demanda.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669280" y="51023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/home/claude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5212080"/>
            <a:ext cx="283464" cy="28346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55080" y="508406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medido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355080" y="53766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monitoreado, controlado y reportado con transparencia.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despliegue en la nube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18288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90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pública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propiedad y operación de un proveedor externo (AWS, Azure, GCP), compartida entre múltiples organizaciones.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47388" y="18288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898" y="20263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privada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38728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dedicada a una sola organización, operada internamente o por un tercero, on-premises o alojada.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54596" y="18288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06" y="20263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híbrida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45936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nube pública y privada, con portabilidad de datos y aplicaciones entre ambos entornos.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150876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61804" y="1828800"/>
            <a:ext cx="822960" cy="822960"/>
          </a:xfrm>
          <a:prstGeom prst="ellipse">
            <a:avLst/>
          </a:prstGeom>
          <a:solidFill>
            <a:srgbClr val="0F3138"/>
          </a:solidFill>
          <a:ln/>
        </p:spPr>
      </p:sp>
      <p:pic>
        <p:nvPicPr>
          <p:cNvPr id="21" name="Image 3" descr="/home/claude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314" y="20263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comunitaria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53144" y="34747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compartida por varias organizaciones con intereses o requisitos comunes (cumplimiento, misión).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servicio: IaaS, PaaS y SaaS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abstracción del servicio, mayor es la porción de seguridad que asume el proveedor — y menor el control directo del cliente.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723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4215384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88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47640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0" y="17647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Cómputo, almacenamiento y red virtualizados. El proveedor asegura la infraestructura física; el cliente gestiona SO, parches, red y datos.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4414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· AWS EC2 · GCE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298094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 gestionado (SO, middleware, runtime). El cliente se enfoca en el código de la aplicación y los datos.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3657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· AWS Lambda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0" y="419709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completamente gestionada. El cliente administra usuarios, accesos y configuración de datos.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4873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· Salesforce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responsabilidad compartida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 las obligaciones de seguridad entre el proveedor cloud (CSP) y el cliente. No es un principio abstracto: es un conjunto de controles operativos concretos que deben mapearse a activos reales.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0E3C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3938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134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la nube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(CSP)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Instalaciones físicas y hardware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Virtualización e hipervisor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 troncal y disponibilidad regional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Continuidad y resiliencia de la plataforma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19659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02809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2240280"/>
            <a:ext cx="640080" cy="64008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16" name="Image 1" descr="/home/claude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39389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3134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22376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Configuración de SO, red y almacenamiento (IaaS)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9224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Seguridad de la aplicación y del código (PaaS/SaaS)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922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Gestión de identidad y accesos (IAM)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9224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Clasificación, cifrado y gobierno del dato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resuelve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CE9E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si una VM en Azure es comprometida por un parche faltante del sistema operativo, ¿de quién es la culpa?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On-premises: todo es responsabilidad tuya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644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313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982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F313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965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231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migrar a la nube, el proveedor asume progresivamente capas de esa pila…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…pero NUNCA todas: siempre queda una porción a cargo del cliente.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840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931920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03720" y="38587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55080" y="440740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498848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03720" y="4425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55080" y="497433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5065776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03720" y="49926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355080" y="5541264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632704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03720" y="5559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(configuración)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matriz On-prem / IaaS / PaaS / SaaS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clave: los datos, las identidades y los endpoints son SIEMPRE responsabilidad del cliente, sin importar el modelo.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508760"/>
            <a:ext cx="188366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5087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1508760"/>
            <a:ext cx="188366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5087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188366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5087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35440" y="1508760"/>
            <a:ext cx="188366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15087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2926080" cy="45720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información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1965960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9659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1965960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9659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1965960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9659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35440" y="1965960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9659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45059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4505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e identidades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2450592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5059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2450592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245059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2450592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245059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2450592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245059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2935224"/>
            <a:ext cx="2926080" cy="45720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29352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(endpoints)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0" y="2935224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9352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2935224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29352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2935224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29352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35440" y="2935224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29352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3419856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4198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0" y="3419856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34198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94960" y="3419856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0" y="34198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0" y="3419856"/>
            <a:ext cx="1883664" cy="457200"/>
          </a:xfrm>
          <a:prstGeom prst="rect">
            <a:avLst/>
          </a:prstGeom>
          <a:solidFill>
            <a:srgbClr val="FCE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34198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35440" y="3419856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35440" y="341985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3904488"/>
            <a:ext cx="2926080" cy="45720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3904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red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74720" y="3904488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39044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394960" y="3904488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39044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15200" y="3904488"/>
            <a:ext cx="1883664" cy="457200"/>
          </a:xfrm>
          <a:prstGeom prst="rect">
            <a:avLst/>
          </a:prstGeom>
          <a:solidFill>
            <a:srgbClr val="FCE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0" y="39044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235440" y="3904488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35440" y="390448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43891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474720" y="4389120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0" y="4389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394960" y="4389120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0" y="4389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315200" y="4389120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0" y="4389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235440" y="4389120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35440" y="43891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48640" y="4873752"/>
            <a:ext cx="2926080" cy="457200"/>
          </a:xfrm>
          <a:prstGeom prst="rect">
            <a:avLst/>
          </a:prstGeom>
          <a:solidFill>
            <a:srgbClr val="F5FAF9"/>
          </a:solidFill>
          <a:ln w="6350">
            <a:solidFill>
              <a:srgbClr val="CFEA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48737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/ red / datacenter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474720" y="4873752"/>
            <a:ext cx="1883664" cy="457200"/>
          </a:xfrm>
          <a:prstGeom prst="rect">
            <a:avLst/>
          </a:prstGeom>
          <a:solidFill>
            <a:srgbClr val="F5FA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0" y="48737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394960" y="4873752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94960" y="48737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315200" y="4873752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15200" y="48737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235440" y="4873752"/>
            <a:ext cx="1883664" cy="457200"/>
          </a:xfrm>
          <a:prstGeom prst="rect">
            <a:avLst/>
          </a:prstGeom>
          <a:solidFill>
            <a:srgbClr val="CF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35440" y="48737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concretos en Azure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92808"/>
            <a:ext cx="3429000" cy="3931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hasta el hipervisor.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parcha el SO invitado, configura NSG/firewall, endurece la aplicación.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5087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15087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892808"/>
            <a:ext cx="3429000" cy="3931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5819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1947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· Azure 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parcha runtime y SO.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0" y="3566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38404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código, cadenas de conexión, reglas de firewall, clasificación de datos.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15087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15087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892808"/>
            <a:ext cx="3429000" cy="3931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5819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0" y="1947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2743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opera la aplicación completa.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3566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38404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políticas de acceso y retención, protección de sus identidades.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440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Microsoft no inspecciona ni monitorea las aplicaciones del cliente — el monitoreo de tus recursos es tuyo.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Implicaciones para SecOps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brechas más comunes no son del proveedor: la mayoría de los incidentes en la nube provienen de malas configuraciones del lado del cliente.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0E3C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3055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alcance de tu programa de seguridad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5146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proveedor no cubre debe entrar a tu gestión de riesgos.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0E3C44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54787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se vuelve el activo crítico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45920" y="393192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responsabilidad del cliente en los tres modelos — por eso el laboratorio empieza ahí.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 →  lo que queda del lado del cliente debe gestionarse como riesgo: Gestión de Riesgos.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EN LA NUBE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Threats to Cloud Computing 2024 (CSA)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más de 500 profesionales de seguridad; ranking por importancia percibida de 28 problemáticas de seguridad cloud.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01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6916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 y control de cambios inadecuado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4871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3774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 y acceso (IAM)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31729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0632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y APIs inseguras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8587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7490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Selección/implementación inadecuada de la estrategia de seguridad cloud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45445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4348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terceros inseguros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2303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230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51206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inseguro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6916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144768" y="18013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01968" y="16916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 accidental de datos en la nube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23774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144768" y="24871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01968" y="23774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sistema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30632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31729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9" name="Text 37"/>
          <p:cNvSpPr/>
          <p:nvPr/>
        </p:nvSpPr>
        <p:spPr>
          <a:xfrm>
            <a:off x="614476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01968" y="30632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Visibilidad/observabilidad limitada en la nube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37490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4768" y="38587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43" name="Text 41"/>
          <p:cNvSpPr/>
          <p:nvPr/>
        </p:nvSpPr>
        <p:spPr>
          <a:xfrm>
            <a:off x="6144768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01968" y="37490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compartido de recursos sin autenticación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35040" y="4434840"/>
            <a:ext cx="5212080" cy="576072"/>
          </a:xfrm>
          <a:prstGeom prst="roundRect">
            <a:avLst>
              <a:gd name="adj" fmla="val 9524"/>
            </a:avLst>
          </a:prstGeom>
          <a:solidFill>
            <a:srgbClr val="F5FAF9"/>
          </a:solidFill>
          <a:ln/>
        </p:spPr>
      </p:sp>
      <p:sp>
        <p:nvSpPr>
          <p:cNvPr id="46" name="Shape 44"/>
          <p:cNvSpPr/>
          <p:nvPr/>
        </p:nvSpPr>
        <p:spPr>
          <a:xfrm>
            <a:off x="6144768" y="4544568"/>
            <a:ext cx="365760" cy="36576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47" name="Text 45"/>
          <p:cNvSpPr/>
          <p:nvPr/>
        </p:nvSpPr>
        <p:spPr>
          <a:xfrm>
            <a:off x="6144768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01968" y="4434840"/>
            <a:ext cx="4526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persistentes avanzadas (APT)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EN LA NUBE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amenazas de mayor impacto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10512"/>
            <a:ext cx="3429000" cy="24688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93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05940" y="2331720"/>
            <a:ext cx="914400" cy="9144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9" name="Image 0" descr="/home/claude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55117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474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de almacenamiento públicos, security groups sobre-permisivos y controles de cambio deficientes. La causa raíz más frecuente de brechas de datos en la nube.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0624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5544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1810512"/>
            <a:ext cx="342900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16093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63540" y="23317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2551176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0" y="3474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 (IAM)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43484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comprometidas, roles sobre-privilegiados y rutas de escalamiento de privilegios que abusan de relaciones de confianza entre cuentas.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863840" y="15544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5FAF9"/>
          </a:solidFill>
          <a:ln/>
        </p:spPr>
      </p:sp>
      <p:sp>
        <p:nvSpPr>
          <p:cNvPr id="21" name="Shape 17"/>
          <p:cNvSpPr/>
          <p:nvPr/>
        </p:nvSpPr>
        <p:spPr>
          <a:xfrm>
            <a:off x="7863840" y="15544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22" name="Shape 18"/>
          <p:cNvSpPr/>
          <p:nvPr/>
        </p:nvSpPr>
        <p:spPr>
          <a:xfrm>
            <a:off x="7863840" y="1810512"/>
            <a:ext cx="342900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8046720" y="16093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121140" y="23317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596" y="2551176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046720" y="3474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y APIs inseguras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092440" y="41148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débil, falta de rate-limiting y exposición de endpoints sin validación adecuada de entrada.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Cloud Security Alliance — Top Threats to Cloud Computing 2024 ("Egregious Eleven").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 SESIÓN 2 · GESTIÓN DE RIESGOS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riesgos: conceptos 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threat modeling conviene fijar el vocabulario común. Estos conceptos se profundizarán con marcos ISO 31000 / NIST RMF en la Sesión 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21652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 valor: datos, servicios, reputación.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8828" y="201168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mage 1" descr="/home/claude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21652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93008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potencial que puede causar daño (actor o accidente).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163056" y="17830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46036" y="2011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icons/shield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55" y="216529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00216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 explotable de un activo o proceso.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8970264" y="17830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53244" y="2011680"/>
            <a:ext cx="640080" cy="640080"/>
          </a:xfrm>
          <a:prstGeom prst="ellipse">
            <a:avLst/>
          </a:prstGeom>
          <a:solidFill>
            <a:srgbClr val="0F3138"/>
          </a:solidFill>
          <a:ln/>
        </p:spPr>
      </p:sp>
      <p:pic>
        <p:nvPicPr>
          <p:cNvPr id="22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863" y="216529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07424" y="2788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07424" y="3154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Impacto: posibilidad de que una amenaza explote una vulnerabilidad.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343400"/>
            <a:ext cx="10698480" cy="1463040"/>
          </a:xfrm>
          <a:prstGeom prst="roundRect">
            <a:avLst>
              <a:gd name="adj" fmla="val 6250"/>
            </a:avLst>
          </a:prstGeom>
          <a:solidFill>
            <a:srgbClr val="0B2027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confundir: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" y="48920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lluvia   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roto   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inundación del datacenter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 SESIÓN 2 · GESTIÓN DE RIESGOS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gestión de riesgos (ISO 31000 / NIST RMF)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0482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301752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activos y amenazas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2377440" y="224028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60904" y="141732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/>
        </p:spPr>
      </p:sp>
      <p:sp>
        <p:nvSpPr>
          <p:cNvPr id="12" name="Text 9"/>
          <p:cNvSpPr/>
          <p:nvPr/>
        </p:nvSpPr>
        <p:spPr>
          <a:xfrm>
            <a:off x="2770632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46704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04825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52344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770632" y="301752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e impacto, cualitativo o cuantitativo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4489704" y="224028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73168" y="141732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/>
        </p:spPr>
      </p:sp>
      <p:sp>
        <p:nvSpPr>
          <p:cNvPr id="19" name="Text 15"/>
          <p:cNvSpPr/>
          <p:nvPr/>
        </p:nvSpPr>
        <p:spPr>
          <a:xfrm>
            <a:off x="4882896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458968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/home/claude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2048256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64608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882896" y="301752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contra el apetito de riesgo</a:t>
            </a:r>
            <a:endParaRPr lang="en-US" sz="930" dirty="0"/>
          </a:p>
        </p:txBody>
      </p:sp>
      <p:sp>
        <p:nvSpPr>
          <p:cNvPr id="24" name="Text 19"/>
          <p:cNvSpPr/>
          <p:nvPr/>
        </p:nvSpPr>
        <p:spPr>
          <a:xfrm>
            <a:off x="6601968" y="224028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885432" y="141732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/>
        </p:spPr>
      </p:sp>
      <p:sp>
        <p:nvSpPr>
          <p:cNvPr id="26" name="Text 21"/>
          <p:cNvSpPr/>
          <p:nvPr/>
        </p:nvSpPr>
        <p:spPr>
          <a:xfrm>
            <a:off x="6995160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7571232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048256"/>
            <a:ext cx="338328" cy="3383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76872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995160" y="301752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tratamiento adecuado</a:t>
            </a:r>
            <a:endParaRPr lang="en-US" sz="930" dirty="0"/>
          </a:p>
        </p:txBody>
      </p:sp>
      <p:sp>
        <p:nvSpPr>
          <p:cNvPr id="31" name="Text 25"/>
          <p:cNvSpPr/>
          <p:nvPr/>
        </p:nvSpPr>
        <p:spPr>
          <a:xfrm>
            <a:off x="8714232" y="224028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8997696" y="1417320"/>
            <a:ext cx="1965960" cy="2606040"/>
          </a:xfrm>
          <a:prstGeom prst="roundRect">
            <a:avLst>
              <a:gd name="adj" fmla="val 4186"/>
            </a:avLst>
          </a:prstGeom>
          <a:solidFill>
            <a:srgbClr val="0E3C44"/>
          </a:solidFill>
          <a:ln/>
        </p:spPr>
      </p:sp>
      <p:sp>
        <p:nvSpPr>
          <p:cNvPr id="33" name="Text 27"/>
          <p:cNvSpPr/>
          <p:nvPr/>
        </p:nvSpPr>
        <p:spPr>
          <a:xfrm>
            <a:off x="9107424" y="1508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9683496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4" descr="/home/claude/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2048256"/>
            <a:ext cx="338328" cy="33832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089136" y="2651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107424" y="301752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 dinámico, más aún en la nube</a:t>
            </a:r>
            <a:endParaRPr lang="en-US" sz="930" dirty="0"/>
          </a:p>
        </p:txBody>
      </p:sp>
      <p:sp>
        <p:nvSpPr>
          <p:cNvPr id="38" name="Text 31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opciones de tratamiento del riesgo: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548640" y="47091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40" name="Text 33"/>
          <p:cNvSpPr/>
          <p:nvPr/>
        </p:nvSpPr>
        <p:spPr>
          <a:xfrm>
            <a:off x="548640" y="4709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3246120" y="47091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42" name="Text 35"/>
          <p:cNvSpPr/>
          <p:nvPr/>
        </p:nvSpPr>
        <p:spPr>
          <a:xfrm>
            <a:off x="3246120" y="4709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5943600" y="47091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44" name="Text 37"/>
          <p:cNvSpPr/>
          <p:nvPr/>
        </p:nvSpPr>
        <p:spPr>
          <a:xfrm>
            <a:off x="5943600" y="4709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8641080" y="47091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46" name="Text 39"/>
          <p:cNvSpPr/>
          <p:nvPr/>
        </p:nvSpPr>
        <p:spPr>
          <a:xfrm>
            <a:off x="8641080" y="4709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54864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 a 3 son exactamente lo que el threat modeling hará de forma estructurada más adelante en esta sesión.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1 DE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(mínimo privilegio)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026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50876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identidad —humana o de servicio— recibe únicamente los permisos estrictamente necesarios para cumplir su función, y nada más.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8" name="Image 1" descr="/home/claude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358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superficie de ataque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339242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permisos activos implican menos rutas explotables por un atacante o un error humano.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12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51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08736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radio de impacto (blast radius)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463040" y="444398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credencial se compromete, el daño potencial queda acotado a lo estrictamente autorizado.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16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035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1389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acceso a la consola cloud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463040" y="549554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muchos proveedores, quien accede a la consola tiene privilegios prácticamente ilimitados por defecto: debe restringirse y auditarse con el mismo rigor que un centro de datos físico.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2 DE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 (defensa en profundidad)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cualquier control de seguridad puede fallar. La defensa en profundidad crea capas de controles superpuestos, de modo que si uno falla, el siguiente contiene el ataque.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011680"/>
            <a:ext cx="3931920" cy="3931920"/>
          </a:xfrm>
          <a:prstGeom prst="ellipse">
            <a:avLst/>
          </a:prstGeom>
          <a:solidFill>
            <a:srgbClr val="CFEA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2468880"/>
            <a:ext cx="3017520" cy="301752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2926080"/>
            <a:ext cx="2103120" cy="21031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3383280"/>
            <a:ext cx="1188720" cy="11887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808" y="372160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49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/ Red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5488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348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26080" y="4270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178308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19385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clave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233172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control de seguridad: “¿Qué pasa si este falla?” Si la respuesta es inaceptable, la defensa en profundidad es insuficiente.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384048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3995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alerta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66560" y="438912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sola falla de inventario o monitoreo puede inutilizar varios controles a la vez, la profundidad de defensa también es insuficiente.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REFERENCIA CRUZADA CON SESIÓN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 en Azure: seis capas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asume que la anterior falló (“asumir la brecha”). Esta vista concreta en Azure se retomará al diseñar arquitecturas de red en la Sesión 4.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8541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299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· MFA · RBAC · PIM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78808" y="182880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7408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1854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20299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07408" y="2788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 · WAF · DDoS Protection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08976" y="182880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37576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18541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69096" y="202996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037576" y="2788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· microsegmentación · private endpoints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8853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1330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4892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del servicio · parcheo · endpoint protection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178808" y="393192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07408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4" descr="/home/claude/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28853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8928" y="41330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07408" y="4892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seguro · managed identities · secretos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808976" y="393192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37576" y="41605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5" descr="/home/claude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288536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69096" y="41330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037576" y="48920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· clasificación · Key Vault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 · 3 DE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(confianza cero)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“Nunca confiar, siempre verificar.” La confianza no se otorga por estar dentro de la red o poseer un dispositivo corporativo: se gana mediante evidencia continua (NIST SP 800-207).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048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3288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se divide en segmentos granulares con políticas propias, limitando el movimiento lateral de un atacante.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0" y="24048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253288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fuerte y continua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1792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autenticación adaptativa y re-verificación periódica o basada en riesgo de la transacción.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37083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49884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por sesión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a cada recurso se concede de forma explícita y por sesión, nunca de forma implícita o permanente.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0" y="411480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0E3C44"/>
          </a:solidFill>
          <a:ln/>
        </p:spPr>
      </p:sp>
      <p:sp>
        <p:nvSpPr>
          <p:cNvPr id="21" name="Shape 16"/>
          <p:cNvSpPr/>
          <p:nvPr/>
        </p:nvSpPr>
        <p:spPr>
          <a:xfrm>
            <a:off x="6172200" y="437083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shield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449884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asume la brecha (“assume breach”)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21792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parte de que la red ya está comprometida, moviendo el perímetro hacia cada recurso protegido.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EN PROFUNDIDAD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perímetro al Zero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5C7A80"/>
          </a:solidFill>
          <a:ln/>
        </p:spPr>
      </p:sp>
      <p:pic>
        <p:nvPicPr>
          <p:cNvPr id="6" name="Image 0" descr="/home/claude/icons/shield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019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tradicional: castillo y foso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Todo lo que está dentro de la red corporativa es confiable.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Ese modelo se rompió: trabajo remoto, nube híbrida, SaaS, dispositivos móviles, APIs.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160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perímetro ya no existe.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554480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13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19824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019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“Never trust, always verify.”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3832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solicitud se verifica como si viniera de una red no controlada, sin importar su origen.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4160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Trust es una estrategia, no un producto que se compra.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EN PROFUNDIDAD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principios de Zero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1965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Verificar explícitamente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y autorizar siempre con base en todos los datos disponibles: identidad, ubicación, salud del dispositivo, clasificación del dato, anomalías.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60020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/>
        </p:spPr>
      </p:sp>
      <p:sp>
        <p:nvSpPr>
          <p:cNvPr id="10" name="Shape 7"/>
          <p:cNvSpPr/>
          <p:nvPr/>
        </p:nvSpPr>
        <p:spPr>
          <a:xfrm>
            <a:off x="5463540" y="1965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21854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Menor privilegio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37947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acceso con Just-In-Time y Just-Enough-Access (JIT/JEA) y políticas adaptativas basadas en riesgo.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0" y="160020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/>
        </p:spPr>
      </p:sp>
      <p:sp>
        <p:nvSpPr>
          <p:cNvPr id="15" name="Shape 11"/>
          <p:cNvSpPr/>
          <p:nvPr/>
        </p:nvSpPr>
        <p:spPr>
          <a:xfrm>
            <a:off x="9121140" y="1965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shield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596" y="218541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Asumir la brecha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92440" y="37947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el radio de impacto (blast radius), segmentar accesos, cifrar extremo a extremo y usar analítica para detectar y mejorar.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EN PROFUNDIDAD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seis pilares de Zero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197510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900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plano de control: MFA, acceso condicional. Toda decisión de acceso empieza aquí.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178808" y="1600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50408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97510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1688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07408" y="29900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cumplimiento del dispositivo como condición de acceso.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808976" y="1600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80576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97510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91856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37576" y="29900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shadow IT, permisos apropiados, monitoreo de anomalías.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20240" y="40233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4169664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184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Clasificar, etiquetar, cifrar: la protección viaja con el dato, no con la red.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178808" y="37947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550408" y="40233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4169664"/>
            <a:ext cx="393192" cy="3931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61688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07408" y="5184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configuración como código, detección de drift, JIT sobre recursos.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7808976" y="379476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180576" y="40233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icons/wif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4169664"/>
            <a:ext cx="393192" cy="3931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91856" y="4846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037576" y="5184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Microsegmentación, cifrado del tráfico, prevención de movimiento lateral.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EN PROFUNDIDAD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el motor de política en el centro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acceso deja de ser “estás en la red corporativa” y pasa a ser una evaluación dinámica por solicitud. Capa transversal: Defender XDR / Defender for Cloud monitorea, detecta y remedia.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· dispositivo · ubicación · riesgo · clasificación del dato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2788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108960" cy="1737360"/>
          </a:xfrm>
          <a:prstGeom prst="roundRect">
            <a:avLst>
              <a:gd name="adj" fmla="val 4737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5737860" y="2331720"/>
            <a:ext cx="594360" cy="59436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11" name="Image 0" descr="/home/claude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5876" y="2459736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6344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política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63440" y="3337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CADA solicitud · Entra ID + Conditional Access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7589520" y="2788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412480" y="23774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E3C44"/>
          </a:solidFill>
          <a:ln/>
        </p:spPr>
      </p:sp>
      <p:sp>
        <p:nvSpPr>
          <p:cNvPr id="16" name="Text 13"/>
          <p:cNvSpPr/>
          <p:nvPr/>
        </p:nvSpPr>
        <p:spPr>
          <a:xfrm>
            <a:off x="8641080" y="2514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4108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· datos · infraestructura · red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10698480" cy="1051560"/>
          </a:xfrm>
          <a:prstGeom prst="roundRect">
            <a:avLst>
              <a:gd name="adj" fmla="val 7826"/>
            </a:avLst>
          </a:prstGeom>
          <a:solidFill>
            <a:srgbClr val="0F3138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4599432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1" descr="/home/claude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4745736"/>
            <a:ext cx="393192" cy="3931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00200" y="45262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transversal: protección contra amenazas e inteligencia (Defender XDR / Defender for Cloud) que monitorea cada señal, detecta anomalías y remedia de forma continua.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SEGURIDAD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boundaries y actores de amenaza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orientado a activos: primero se identifica qué proteger, luego dónde cambia el nivel de confianza y quién podría atacar.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CE9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confiable)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CFEAE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0" y="20116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(máxima protección)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1783080"/>
            <a:ext cx="0" cy="1371600"/>
          </a:xfrm>
          <a:prstGeom prst="line">
            <a:avLst/>
          </a:prstGeom>
          <a:noFill/>
          <a:ln w="22225">
            <a:solidFill>
              <a:srgbClr val="E4572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5146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confianza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78040" y="1783080"/>
            <a:ext cx="0" cy="1371600"/>
          </a:xfrm>
          <a:prstGeom prst="line">
            <a:avLst/>
          </a:prstGeom>
          <a:noFill/>
          <a:ln w="22225">
            <a:solidFill>
              <a:srgbClr val="E4572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6294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confianza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34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donde cambia el nivel de confianza (Internet → App, App → Datos) es una frontera de confianza: allí deben concentrarse los controles de validación y autenticación.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actores de amenaza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Cibercriminales, hacktivistas, APT patrocinados por estados.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o contratistas malintencionados o negligentes.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364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Proveedores, integraciones y cadenas de suministro comprometidas.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15400" y="43434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52560" y="4846320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Bots, malware y explotación masiva y oportunista de configuraciones.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threat modeling?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698480" cy="1188720"/>
          </a:xfrm>
          <a:prstGeom prst="roundRect">
            <a:avLst>
              <a:gd name="adj" fmla="val 6923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estructurado para identificar, enumerar y priorizar amenazas ANTES de que ocurran, idealmente en fase de diseño (shift-left). Es la actividad de seguridad con mejor relación costo/beneficio: corregir en diseño cuesta órdenes de magnitud menos que en producción.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en la fase Plan/Design del pipeline DevSecOps: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50008" y="32461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/>
        </p:spPr>
      </p:sp>
      <p:sp>
        <p:nvSpPr>
          <p:cNvPr id="10" name="Text 8"/>
          <p:cNvSpPr/>
          <p:nvPr/>
        </p:nvSpPr>
        <p:spPr>
          <a:xfrm>
            <a:off x="2350008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51376" y="32461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/>
        </p:spPr>
      </p:sp>
      <p:sp>
        <p:nvSpPr>
          <p:cNvPr id="12" name="Text 10"/>
          <p:cNvSpPr/>
          <p:nvPr/>
        </p:nvSpPr>
        <p:spPr>
          <a:xfrm>
            <a:off x="4151376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52744" y="32461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/>
        </p:spPr>
      </p:sp>
      <p:sp>
        <p:nvSpPr>
          <p:cNvPr id="14" name="Text 12"/>
          <p:cNvSpPr/>
          <p:nvPr/>
        </p:nvSpPr>
        <p:spPr>
          <a:xfrm>
            <a:off x="5952744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54112" y="32461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54112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55480" y="32461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CFEAE6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3246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94460" y="4114800"/>
            <a:ext cx="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48640" y="4709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threat modeling vive aquí — antes de escribir la primera línea de código.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preguntas (Shostack, adoptado por OWASP)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013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800600" y="189280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8616" y="20208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estamos construyendo?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arquitectura y de flujo de datos (DFD).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18013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0195560" y="189280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576" y="202082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220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salir mal?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172200" y="28803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amenazas: aquí entran STRIDE y otras taxonomías.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39959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4800600" y="408736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4215384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" y="45720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 al respecto?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77240" y="5074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y mitigaciones, priorizados como backlog.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943600" y="3886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E3C44"/>
          </a:solidFill>
          <a:ln/>
        </p:spPr>
      </p:sp>
      <p:sp>
        <p:nvSpPr>
          <p:cNvPr id="23" name="Text 18"/>
          <p:cNvSpPr/>
          <p:nvPr/>
        </p:nvSpPr>
        <p:spPr>
          <a:xfrm>
            <a:off x="6126480" y="39959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0195560" y="408736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/home/claude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6" y="4215384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72200" y="45720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hicimos bien?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172200" y="5074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revisión continua del modelo.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insumo: Data Flow Diagram (DFD)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F31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9748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9933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0" y="1755648"/>
            <a:ext cx="2103120" cy="92354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828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0" cy="1325880"/>
          </a:xfrm>
          <a:prstGeom prst="line">
            <a:avLst/>
          </a:prstGeom>
          <a:noFill/>
          <a:ln w="22225">
            <a:solidFill>
              <a:srgbClr val="E457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251960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77340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3593592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4160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externas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450799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sistemas de terceros — todo lo que interactúa desde afuera.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3355848" y="3291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4548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1" descr="/home/claude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3593592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93008" y="4160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520440" y="450799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APIs, microservicios: el código que transforma datos.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6163056" y="3291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91756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3593592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0216" y="4160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de datos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327648" y="450799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datos, colas, blobs.</a:t>
            </a:r>
            <a:endParaRPr lang="en-US" sz="930" dirty="0"/>
          </a:p>
        </p:txBody>
      </p:sp>
      <p:sp>
        <p:nvSpPr>
          <p:cNvPr id="29" name="Shape 24"/>
          <p:cNvSpPr/>
          <p:nvPr/>
        </p:nvSpPr>
        <p:spPr>
          <a:xfrm>
            <a:off x="8970264" y="3291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998964" y="3474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/home/claude/icons/arrow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836" y="3593592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07424" y="4160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datos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9134856" y="4507992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y mensajes entre elementos.</a:t>
            </a:r>
            <a:endParaRPr lang="en-US" sz="930" dirty="0"/>
          </a:p>
        </p:txBody>
      </p:sp>
      <p:sp>
        <p:nvSpPr>
          <p:cNvPr id="34" name="Text 28"/>
          <p:cNvSpPr/>
          <p:nvPr/>
        </p:nvSpPr>
        <p:spPr>
          <a:xfrm>
            <a:off x="548640" y="5486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confianza (trust boundaries): donde cambia el nivel de privilegio. Ahí se concentran las amenazas.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Modeling: la metodología STRIDE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modelado de amenazas identifica, evalúa y prioriza riesgos durante la fase de diseño. Microsoft desarrolló STRIDE como taxonomía para estructurar ese análisis.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de identidad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86584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386584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78024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96312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Alteración no autorizada de datos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24528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315968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34256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haber ejecutado una acción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62472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F3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062472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53912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sensibles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00416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991856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10144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la disponibilidad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38360" y="1783080"/>
            <a:ext cx="1709928" cy="2926080"/>
          </a:xfrm>
          <a:prstGeom prst="roundRect">
            <a:avLst>
              <a:gd name="adj" fmla="val 4278"/>
            </a:avLst>
          </a:prstGeom>
          <a:solidFill>
            <a:srgbClr val="0E3C44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1920240"/>
            <a:ext cx="170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829800" y="2834640"/>
            <a:ext cx="1527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48088" y="338328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mayor acceso del autorizado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general: definir alcance del sistema → diagramar componentes y fronteras de confianza → aplicar STRIDE a cada elemento → priorizar con una matriz de impacto × probabilidad.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STRIDE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categorías, seis propiedades violadas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03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88720" y="1554480"/>
            <a:ext cx="270662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215798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5544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violada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4992624" cy="45720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544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603504" cy="576072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603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2011680"/>
            <a:ext cx="270662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011680"/>
            <a:ext cx="2706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(suplantación)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2011680"/>
            <a:ext cx="215798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011680"/>
            <a:ext cx="2157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011680"/>
            <a:ext cx="499262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011680"/>
            <a:ext cx="4992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robado para hacerse pasar por un usuario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633472"/>
            <a:ext cx="603504" cy="576072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33472"/>
            <a:ext cx="603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2633472"/>
            <a:ext cx="270662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633472"/>
            <a:ext cx="2706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(manipulación)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0" y="2633472"/>
            <a:ext cx="215798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633472"/>
            <a:ext cx="2157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633472"/>
            <a:ext cx="499262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633472"/>
            <a:ext cx="4992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un mensaje en tránsito o un registro en BD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255264"/>
            <a:ext cx="603504" cy="576072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55264"/>
            <a:ext cx="603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88720" y="3255264"/>
            <a:ext cx="270662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255264"/>
            <a:ext cx="2706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 (repudio)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31920" y="3255264"/>
            <a:ext cx="215798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255264"/>
            <a:ext cx="2157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repudio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255264"/>
            <a:ext cx="499262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255264"/>
            <a:ext cx="4992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niega una transacción y no hay logs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877056"/>
            <a:ext cx="603504" cy="576072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77056"/>
            <a:ext cx="603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88720" y="3877056"/>
            <a:ext cx="270662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3877056"/>
            <a:ext cx="2706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3877056"/>
            <a:ext cx="215798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3877056"/>
            <a:ext cx="2157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3877056"/>
            <a:ext cx="499262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877056"/>
            <a:ext cx="4992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de almacenamiento público con datos de clientes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498848"/>
            <a:ext cx="603504" cy="576072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98848"/>
            <a:ext cx="603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88720" y="4498848"/>
            <a:ext cx="270662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8720" y="4498848"/>
            <a:ext cx="2706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931920" y="4498848"/>
            <a:ext cx="215798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4498848"/>
            <a:ext cx="2157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26480" y="4498848"/>
            <a:ext cx="4992624" cy="576072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4498848"/>
            <a:ext cx="4992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Saturar una API sin rate limiting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120640"/>
            <a:ext cx="603504" cy="576072"/>
          </a:xfrm>
          <a:prstGeom prst="rect">
            <a:avLst/>
          </a:prstGeom>
          <a:solidFill>
            <a:srgbClr val="028090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120640"/>
            <a:ext cx="603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88720" y="5120640"/>
            <a:ext cx="270662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88720" y="5120640"/>
            <a:ext cx="2706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931920" y="5120640"/>
            <a:ext cx="215798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5120640"/>
            <a:ext cx="21579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126480" y="5120640"/>
            <a:ext cx="4992624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5120640"/>
            <a:ext cx="4992624" cy="576072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 un contenedor para ganar acceso al nodo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58795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 por Microsoft. Cada letra ataca una propiedad de seguridad distinta.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STRIDE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guiado: aplicación web de pagos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0F31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1800" y="1600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0F313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Service)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1600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0F313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pagos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(AKS)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58200" y="1600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508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 credenciales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MFA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26060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743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Manipular parámetros de la petición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3520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Validación server-side, TLS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63840" y="26060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95360" y="2743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 de transacciones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3520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Logging firmado, auditoría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0F313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de tarjeta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212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Cifrado, tokenización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06240" y="4297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443484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7" name="Text 35"/>
          <p:cNvSpPr/>
          <p:nvPr/>
        </p:nvSpPr>
        <p:spPr>
          <a:xfrm>
            <a:off x="43434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3776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 solicitudes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0" y="5212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WAF, rate limiting, autoscaling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63840" y="42976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443484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sp>
        <p:nvSpPr>
          <p:cNvPr id="42" name="Text 40"/>
          <p:cNvSpPr/>
          <p:nvPr/>
        </p:nvSpPr>
        <p:spPr>
          <a:xfrm>
            <a:off x="80010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59536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SQL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52120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Consultas parametrizadas, least privilege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080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aplicado al flujo completo Usuario → App web → API → Base de datos.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STRIDE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riesgo: impacto × probabilidad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(1–5) × Probabilidad (1–5). Prioriza qué amenazas mitigar primero en el diseño de la pasarela de pagos.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34086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462686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691640"/>
            <a:ext cx="4626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amenaza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1691640"/>
            <a:ext cx="124358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6916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0" y="1691640"/>
            <a:ext cx="124358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0" y="16916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149840" y="1691640"/>
            <a:ext cx="124358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0" y="16916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2340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94560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2194560"/>
            <a:ext cx="4626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194560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Secuestro de token vía phishing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194560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19456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2194560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19456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49840" y="2194560"/>
            <a:ext cx="1243584" cy="521208"/>
          </a:xfrm>
          <a:prstGeom prst="rect">
            <a:avLst/>
          </a:prstGeom>
          <a:solidFill>
            <a:srgbClr val="E4572E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219456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761488"/>
            <a:ext cx="2340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61488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2761488"/>
            <a:ext cx="4626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761488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de solicitudes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2761488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761488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69680" y="2761488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2761488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49840" y="2761488"/>
            <a:ext cx="1243584" cy="521208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2761488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328416"/>
            <a:ext cx="2340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28416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3328416"/>
            <a:ext cx="4626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328416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niega una transacción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89520" y="3328416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328416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69680" y="3328416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3328416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149840" y="3328416"/>
            <a:ext cx="1243584" cy="521208"/>
          </a:xfrm>
          <a:prstGeom prst="rect">
            <a:avLst/>
          </a:prstGeom>
          <a:solidFill>
            <a:srgbClr val="02C39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49840" y="3328416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895344"/>
            <a:ext cx="2340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895344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Info. Disclosure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3895344"/>
            <a:ext cx="4626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3895344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 de datos de pago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89520" y="3895344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3895344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69680" y="3895344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3895344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149840" y="3895344"/>
            <a:ext cx="1243584" cy="521208"/>
          </a:xfrm>
          <a:prstGeom prst="rect">
            <a:avLst/>
          </a:prstGeom>
          <a:solidFill>
            <a:srgbClr val="E4572E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49840" y="3895344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462272"/>
            <a:ext cx="2340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462272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926080" y="4462272"/>
            <a:ext cx="462686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0" y="4462272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del rate-limiting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589520" y="4462272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4462272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69680" y="4462272"/>
            <a:ext cx="1243584" cy="521208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69680" y="4462272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149840" y="4462272"/>
            <a:ext cx="1243584" cy="521208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49840" y="4462272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5029200"/>
            <a:ext cx="2340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5029200"/>
            <a:ext cx="2340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of Privilege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26080" y="5029200"/>
            <a:ext cx="462686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26080" y="5029200"/>
            <a:ext cx="4626864" cy="521208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a rol administrador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589520" y="5029200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0" y="502920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69680" y="5029200"/>
            <a:ext cx="1243584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69680" y="502920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149840" y="5029200"/>
            <a:ext cx="1243584" cy="521208"/>
          </a:xfrm>
          <a:prstGeom prst="rect">
            <a:avLst/>
          </a:prstGeom>
          <a:solidFill>
            <a:srgbClr val="F2A65A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49840" y="5029200"/>
            <a:ext cx="1243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48640" y="57332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Mitigaciones típicas: OAuth 2 + MFA (spoofing) · firmas HMAC (tampering) · logs inmutables (repudiation) · cifrado TLS 1.3 + tokenización (disclosure) · rate limiting + WAF (DoS) · PAM + RBAC/ABAC (elevación).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OWASP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enfoque OWASP de threat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no impone una técnica única: promueve el marco de las 4 preguntas más los principios del Threat Modeling Manifesto — hacerlo temprano, hacerlo continuo, colaborativo, y mejor hecho que perfecto.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/>
        </p:spPr>
      </p:sp>
      <p:sp>
        <p:nvSpPr>
          <p:cNvPr id="6" name="Shape 4"/>
          <p:cNvSpPr/>
          <p:nvPr/>
        </p:nvSpPr>
        <p:spPr>
          <a:xfrm>
            <a:off x="180594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7340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Dragon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open source: diagramas DFD + registro de amenazas con estado.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/>
        </p:spPr>
      </p:sp>
      <p:sp>
        <p:nvSpPr>
          <p:cNvPr id="11" name="Shape 8"/>
          <p:cNvSpPr/>
          <p:nvPr/>
        </p:nvSpPr>
        <p:spPr>
          <a:xfrm>
            <a:off x="546354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2734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3657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las amenazas más frecuentes en aplicaciones web.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E3C44"/>
          </a:solidFill>
          <a:ln/>
        </p:spPr>
      </p:sp>
      <p:sp>
        <p:nvSpPr>
          <p:cNvPr id="16" name="Shape 12"/>
          <p:cNvSpPr/>
          <p:nvPr/>
        </p:nvSpPr>
        <p:spPr>
          <a:xfrm>
            <a:off x="912114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596" y="27340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657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9244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controles de verificación para validar mitigaciones.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OWASP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guiado con Threat Dragon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escenario de pagos, ahora con el proceso OWASP: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80160" y="164592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1645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 Threat Dragon con trust boundaries: Internet ↔ App ↔ backend ↔ datos.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265176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651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06240" y="26517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elemento se registran amenazas — soporta STRIDE, CIA o LINDDUN como taxonomía.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80160" y="365760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0624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alta / media / baja por amenaza.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" y="466344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0" y="4663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amenaza queda con estado (abierta / mitigada / aceptada): trazabilidad directa al backlog del equipo.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SÍNTESIS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vs. OWASP: ¿cuál usar?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0F31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Taxonomía sistemática por elemento del DFD.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Excelente para no olvidar ninguna categoría de amenaza.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+ Threat Dragon + Top 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Proceso ligero, colaborativo y continuo.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3200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Excelente para equipos ágiles / DevSecOps.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combinan: proceso OWASP con taxonomía STRIDE.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· OWASP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Cruce con OWASP Top 10 (2021)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9262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992624" cy="5029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Top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554480"/>
            <a:ext cx="5724144" cy="502920"/>
          </a:xfrm>
          <a:prstGeom prst="rect">
            <a:avLst/>
          </a:prstGeom>
          <a:solidFill>
            <a:srgbClr val="0F3138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0" y="1554480"/>
            <a:ext cx="5724144" cy="5029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ejemplo de pagos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992624" cy="493776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499262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· Broken Access Control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77840" y="2057400"/>
            <a:ext cx="5724144" cy="493776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057400"/>
            <a:ext cx="572414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 de privilegios (la E de STRIDE)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499262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499262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· Cryptographic Failures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2606040"/>
            <a:ext cx="57241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606040"/>
            <a:ext cx="572414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de tarjeta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4992624" cy="493776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54680"/>
            <a:ext cx="499262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· Injection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3154680"/>
            <a:ext cx="5724144" cy="493776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154680"/>
            <a:ext cx="572414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SQL en la API de pagos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499262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499262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· Security Misconfiguration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77840" y="3703320"/>
            <a:ext cx="57241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703320"/>
            <a:ext cx="572414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público, contenedores mal configurados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4992624" cy="493776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51960"/>
            <a:ext cx="499262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· Identification &amp; Auth. Failures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77840" y="4251960"/>
            <a:ext cx="5724144" cy="493776"/>
          </a:xfrm>
          <a:prstGeom prst="rect">
            <a:avLst/>
          </a:prstGeom>
          <a:solidFill>
            <a:srgbClr val="F5FAF9"/>
          </a:solidFill>
          <a:ln w="9525">
            <a:solidFill>
              <a:srgbClr val="CFEA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251960"/>
            <a:ext cx="5724144" cy="493776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de credenciales (la S de STRIDE)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0698480" cy="548640"/>
          </a:xfrm>
          <a:prstGeom prst="roundRect">
            <a:avLst>
              <a:gd name="adj" fmla="val 11667"/>
            </a:avLst>
          </a:prstGeom>
          <a:solidFill>
            <a:srgbClr val="FCE9E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0749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lo veremos aplicado directamente en el laboratorio con herramientas de postura de seguridad.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760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Top 10 funciona como checklist de amenazas conocidas para complementar el modelo.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vista previa del laboratorio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F5FAF9"/>
          </a:solidFill>
          <a:ln w="127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0802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Dragon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código abierto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Diagramación de arquitectura con fronteras de confianza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Aplicación guiada de la taxonomía STRIDE por elemento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8770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Documentación de amenazas, mitigaciones y estado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44398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Formato reutilizable como evidencia de aprendizaje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150876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0B2027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1810512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50" y="2008022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 en Azure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15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en grupos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278892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19" name="Image 2" descr="/home/claude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88950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278892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diagrama de responsabilidad compartida del entorno asignado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374904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22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8496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374904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amenazas del escenario con OWASP Threat Dragon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63640" y="4709160"/>
            <a:ext cx="457200" cy="457200"/>
          </a:xfrm>
          <a:prstGeom prst="ellipse">
            <a:avLst/>
          </a:prstGeom>
          <a:solidFill>
            <a:srgbClr val="0E3C44"/>
          </a:solidFill>
          <a:ln/>
        </p:spPr>
      </p:sp>
      <p:pic>
        <p:nvPicPr>
          <p:cNvPr id="25" name="Image 4" descr="/home/claude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480974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47091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una Managed Identity funcional integrando 2 componentes cloud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teoría a la práctica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57200"/>
          </a:xfrm>
          <a:prstGeom prst="rect">
            <a:avLst/>
          </a:prstGeom>
          <a:solidFill>
            <a:srgbClr val="0E3C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34924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 la teoría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0" y="1417320"/>
            <a:ext cx="53035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el laboratorio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49240" cy="841248"/>
          </a:xfrm>
          <a:prstGeom prst="rect">
            <a:avLst/>
          </a:prstGeom>
          <a:solidFill>
            <a:srgbClr val="0F3138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responsabilidad compartida (Bloque 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874520"/>
            <a:ext cx="5303520" cy="841248"/>
          </a:xfrm>
          <a:prstGeom prst="rect">
            <a:avLst/>
          </a:prstGeom>
          <a:solidFill>
            <a:srgbClr val="0A4A55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87452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responsabilidad compartida del entorno cloud asignado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349240" cy="841248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70632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con STRIDE y enfoque OWASP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770632"/>
            <a:ext cx="5303520" cy="841248"/>
          </a:xfrm>
          <a:prstGeom prst="rect">
            <a:avLst/>
          </a:prstGeom>
          <a:solidFill>
            <a:srgbClr val="0D5A66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770632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amenazas construido en OWASP Threat Dragon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841248"/>
          </a:xfrm>
          <a:prstGeom prst="rect">
            <a:avLst/>
          </a:prstGeom>
          <a:solidFill>
            <a:srgbClr val="0F3138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66744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de cargas de trabajo sin credenciales (Zero Trust)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666744"/>
            <a:ext cx="5303520" cy="841248"/>
          </a:xfrm>
          <a:prstGeom prst="rect">
            <a:avLst/>
          </a:prstGeom>
          <a:solidFill>
            <a:srgbClr val="0A4A55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666744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funcional integrando 2 componentes cloud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62856"/>
            <a:ext cx="5349240" cy="841248"/>
          </a:xfrm>
          <a:prstGeom prst="rect">
            <a:avLst/>
          </a:prstGeom>
          <a:solidFill>
            <a:srgbClr val="0E3C44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62856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 y fronteras de confianza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4562856"/>
            <a:ext cx="5303520" cy="841248"/>
          </a:xfrm>
          <a:prstGeom prst="rect">
            <a:avLst/>
          </a:prstGeom>
          <a:solidFill>
            <a:srgbClr val="0D5A66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4562856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DFD del escenario con límites de confianza marcados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58968"/>
            <a:ext cx="5349240" cy="841248"/>
          </a:xfrm>
          <a:prstGeom prst="rect">
            <a:avLst/>
          </a:prstGeom>
          <a:solidFill>
            <a:srgbClr val="0F3138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458968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aplicado a identidades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5458968"/>
            <a:ext cx="5303520" cy="841248"/>
          </a:xfrm>
          <a:prstGeom prst="rect">
            <a:avLst/>
          </a:prstGeom>
          <a:solidFill>
            <a:srgbClr val="0A4A55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5458968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mínimo necesario asignado a la Managed Identity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E3C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533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16152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servicio elegido (IaaS/PaaS/SaaS) es una decisión de riesgo, no solo técnica.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75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1945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0574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responsabilidad compartida debe mapearse explícitamente a activos reales — datos e identidades siempre son del cliente.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916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3580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898648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incorrecta e IAM lideran el ranking de amenazas cloud del CSA en 2024.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75818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877056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739896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 y Zero Trust son principios complementarios, no excluyentes.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5994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icons/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718304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581144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(taxonomía) y OWASP (proceso + Threat Dragon) se combinan en la práctica.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48640" y="54406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5" descr="/home/claude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559552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25880" y="5422392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riesgos (ISO 31000/NIST RMF) conecta el threat modeling con la priorización — se profundiza en Sesión 2.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Gobernanza, Riesgo, Cumplimiento y Arquitectura Segura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bibliográficas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obligatoria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Edwards, J. Cloud Security Fundamentals.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complementarias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Thompson, G. Certificate of Cloud Security Knowledge (CCSK v5) Official Study Guide.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551176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Dotson, C. Practical Cloud Security: A Guide for Secure Design and Deployment, 2nd Ed. O'Reilly.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Messier, R. Learning Cloud Security: Cloud Computing and Security Architecture Essentials. O'Reilly.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Computing Security: Strategies and Best Practices.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48386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Security Alliance (CSA). Top Threats to Cloud Computing 2024 (Egregious Eleven).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documentación técnica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OWASP Threat Modeling — owasp.org/www-community/Threat_Modeling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608576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OWASP Threat Dragon — owasp.org/www-project-threat-dragon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9194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Threat Modeling Tool — learn.microsoft.com/azure/security/develop/threat-modeling-tool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23036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responsibility in the cloud — learn.microsoft.com/azure/security/fundamentals/shared-responsibility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54126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Zero Trust? — learn.microsoft.com/security/zero-trust/zero-trust-overview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MITRE ATT&amp;CK for Cloud — attack.mitre.org/matrices/enterprise/cloud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 ·  Sesión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2026-08-14T21:20:21Z</dcterms:created>
  <dcterms:modified xsi:type="dcterms:W3CDTF">2026-08-14T21:20:21Z</dcterms:modified>
</cp:coreProperties>
</file>