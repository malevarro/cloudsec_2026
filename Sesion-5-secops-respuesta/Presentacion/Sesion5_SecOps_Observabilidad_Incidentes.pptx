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EJÉRCITO NACIONAL  ·  ESCUELA DE COMUNICACIONES MILITARES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Especialización en Ciberseguridad</a:t>
            </a:r>
            <a:endParaRPr lang="en-US" sz="1200" dirty="0"/>
          </a:p>
        </p:txBody>
      </p:sp>
      <p:pic>
        <p:nvPicPr>
          <p:cNvPr id="4" name="Image 0" descr="/home/claude/work/icons/FiActivity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45720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7889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36118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809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Sesión 5 · Cloud Security Operations, Observabilidad y Respuesta a Incidentes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Manuel Alejandro Vargas Rojas · manuelvargasrojas@cedoc.edu.co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F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5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196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y agenda de la sesión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 finalizar la sesión, el estudiante operará capacidades de monitoreo, detección y respuesta a incidentes de seguridad en entornos cloud.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45738" cy="1737360"/>
          </a:xfrm>
          <a:prstGeom prst="roundRect">
            <a:avLst>
              <a:gd name="adj" fmla="val 3158"/>
            </a:avLst>
          </a:prstGeom>
          <a:solidFill>
            <a:srgbClr val="F2F5F6"/>
          </a:solidFill>
          <a:ln/>
        </p:spPr>
      </p:sp>
      <p:pic>
        <p:nvPicPr>
          <p:cNvPr id="5" name="Image 0" descr="/home/claude/work/icons/FiEye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5623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31343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Visibilidad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2624328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Logging, Monitoring, Telemetría y Observabilidad.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322978" y="1691640"/>
            <a:ext cx="3545738" cy="1737360"/>
          </a:xfrm>
          <a:prstGeom prst="roundRect">
            <a:avLst>
              <a:gd name="adj" fmla="val 3158"/>
            </a:avLst>
          </a:prstGeom>
          <a:solidFill>
            <a:srgbClr val="F2F5F6"/>
          </a:solidFill>
          <a:ln/>
        </p:spPr>
      </p:sp>
      <p:pic>
        <p:nvPicPr>
          <p:cNvPr id="9" name="Image 1" descr="/home/claude/work/icons/FiSearch_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58" y="185623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05858" y="231343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Detección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05858" y="2624328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MITRE ATT&amp;CK Cloud, Threat Hunting, SIEM, XDR, SOAR.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097317" y="1691640"/>
            <a:ext cx="3545738" cy="1737360"/>
          </a:xfrm>
          <a:prstGeom prst="roundRect">
            <a:avLst>
              <a:gd name="adj" fmla="val 3158"/>
            </a:avLst>
          </a:prstGeom>
          <a:solidFill>
            <a:srgbClr val="F2F5F6"/>
          </a:solidFill>
          <a:ln/>
        </p:spPr>
      </p:sp>
      <p:pic>
        <p:nvPicPr>
          <p:cNvPr id="13" name="Image 2" descr="/home/claude/work/icons/FiTool_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197" y="1856232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80197" y="231343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Respuesta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280197" y="2624328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Playbooks, forense cloud, contención, RCA, lecciones aprendidas.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48640" y="3657600"/>
            <a:ext cx="3545738" cy="1737360"/>
          </a:xfrm>
          <a:prstGeom prst="roundRect">
            <a:avLst>
              <a:gd name="adj" fmla="val 3158"/>
            </a:avLst>
          </a:prstGeom>
          <a:solidFill>
            <a:srgbClr val="F2F5F6"/>
          </a:solidFill>
          <a:ln/>
        </p:spPr>
      </p:sp>
      <p:pic>
        <p:nvPicPr>
          <p:cNvPr id="17" name="Image 3" descr="/home/claude/work/icons/FiTrendingUp_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22192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1520" y="427939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Tendencias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731520" y="4590288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CSPM→CNAPP, SASE, IA Security, Post-Quantum, Cloud Native.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322978" y="3657600"/>
            <a:ext cx="3545738" cy="1737360"/>
          </a:xfrm>
          <a:prstGeom prst="roundRect">
            <a:avLst>
              <a:gd name="adj" fmla="val 3158"/>
            </a:avLst>
          </a:prstGeom>
          <a:solidFill>
            <a:srgbClr val="F2F5F6"/>
          </a:solidFill>
          <a:ln/>
        </p:spPr>
      </p:sp>
      <p:pic>
        <p:nvPicPr>
          <p:cNvPr id="21" name="Image 4" descr="/home/claude/work/icons/FiTarget_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5858" y="3822192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505858" y="427939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Síntesis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4505858" y="4590288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 los bloques de hoy a la operación SecOps completa.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8097317" y="3657600"/>
            <a:ext cx="3545738" cy="1737360"/>
          </a:xfrm>
          <a:prstGeom prst="roundRect">
            <a:avLst>
              <a:gd name="adj" fmla="val 3158"/>
            </a:avLst>
          </a:prstGeom>
          <a:solidFill>
            <a:srgbClr val="F2F5F6"/>
          </a:solidFill>
          <a:ln/>
        </p:spPr>
      </p:sp>
      <p:pic>
        <p:nvPicPr>
          <p:cNvPr id="25" name="Image 5" descr="/home/claude/work/icons/FiPlay_circ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0197" y="3822192"/>
            <a:ext cx="384048" cy="38404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280197" y="427939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Laboratorio guiado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8280197" y="4590288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Incidente simulado de compromiso de credenciales IAM.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5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430000" y="65196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la Sesión 4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45738" cy="1920240"/>
          </a:xfrm>
          <a:prstGeom prst="roundRect">
            <a:avLst>
              <a:gd name="adj" fmla="val 2857"/>
            </a:avLst>
          </a:prstGeom>
          <a:solidFill>
            <a:srgbClr val="F2F5F6"/>
          </a:solidFill>
          <a:ln/>
        </p:spPr>
      </p:sp>
      <p:pic>
        <p:nvPicPr>
          <p:cNvPr id="5" name="Image 0" descr="/home/claude/work/icons/FiGrid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8191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03911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 + microsegmentación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2350008"/>
            <a:ext cx="3179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Firewall/IDS-IPS centralizado; NSG y ASG conteniendo el movimiento lateral dentro de cada spoke.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322978" y="1417320"/>
            <a:ext cx="3545738" cy="1920240"/>
          </a:xfrm>
          <a:prstGeom prst="roundRect">
            <a:avLst>
              <a:gd name="adj" fmla="val 2857"/>
            </a:avLst>
          </a:prstGeom>
          <a:solidFill>
            <a:srgbClr val="F2F5F6"/>
          </a:solidFill>
          <a:ln/>
        </p:spPr>
      </p:sp>
      <p:pic>
        <p:nvPicPr>
          <p:cNvPr id="9" name="Image 1" descr="/home/claude/work/icons/FiLock_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58" y="158191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05858" y="203911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Endpoints + TLS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05858" y="2350008"/>
            <a:ext cx="3179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App Service y el storage dejaron de tener superficie pública; el tráfico va cifrado en tránsito.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097317" y="1417320"/>
            <a:ext cx="3545738" cy="1920240"/>
          </a:xfrm>
          <a:prstGeom prst="roundRect">
            <a:avLst>
              <a:gd name="adj" fmla="val 2857"/>
            </a:avLst>
          </a:prstGeom>
          <a:solidFill>
            <a:srgbClr val="F2F5F6"/>
          </a:solidFill>
          <a:ln/>
        </p:spPr>
      </p:sp>
      <p:pic>
        <p:nvPicPr>
          <p:cNvPr id="13" name="Image 2" descr="/home/claude/work/icons/FiShield_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197" y="1581912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80197" y="203911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y Bastion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280197" y="2350008"/>
            <a:ext cx="3179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Perímetro protegido frente a Injection; cero IP pública de administración.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48640" y="3657600"/>
            <a:ext cx="11094415" cy="457200"/>
          </a:xfrm>
          <a:prstGeom prst="roundRect">
            <a:avLst>
              <a:gd name="adj" fmla="val 10000"/>
            </a:avLst>
          </a:prstGeom>
          <a:solidFill>
            <a:srgbClr val="EAF6F4"/>
          </a:solidFill>
          <a:ln/>
        </p:spPr>
      </p:sp>
      <p:sp>
        <p:nvSpPr>
          <p:cNvPr id="17" name="Text 12"/>
          <p:cNvSpPr/>
          <p:nvPr/>
        </p:nvSpPr>
        <p:spPr>
          <a:xfrm>
            <a:off x="777240" y="365760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Identidad, datos y red ya están protegidos — hoy los ponemos bajo observación continua.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5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430000" y="65196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DEL CURSO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camino de la especialización en Seguridad en la Nube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05840" y="2148840"/>
            <a:ext cx="10149840" cy="0"/>
          </a:xfrm>
          <a:prstGeom prst="line">
            <a:avLst/>
          </a:prstGeom>
          <a:noFill/>
          <a:ln w="25400">
            <a:solidFill>
              <a:srgbClr val="D8E0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92808"/>
            <a:ext cx="512064" cy="512064"/>
          </a:xfrm>
          <a:prstGeom prst="ellipse">
            <a:avLst/>
          </a:prstGeom>
          <a:solidFill>
            <a:srgbClr val="028090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92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" y="25603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Fundamentos 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Responsabilidad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Compartida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87268" y="1892808"/>
            <a:ext cx="512064" cy="512064"/>
          </a:xfrm>
          <a:prstGeom prst="ellipse">
            <a:avLst/>
          </a:prstGeom>
          <a:solidFill>
            <a:srgbClr val="028090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87268" y="1892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628900" y="25603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Gobernanza, Riesgo,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Cumplimiento 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Arquitectura Segura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824728" y="1892808"/>
            <a:ext cx="512064" cy="512064"/>
          </a:xfrm>
          <a:prstGeom prst="ellipse">
            <a:avLst/>
          </a:prstGeom>
          <a:solidFill>
            <a:srgbClr val="028090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24728" y="1892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66360" y="25603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Datos e Identidad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 Acceso (IAM)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362188" y="1892808"/>
            <a:ext cx="512064" cy="512064"/>
          </a:xfrm>
          <a:prstGeom prst="ellipse">
            <a:avLst/>
          </a:prstGeom>
          <a:solidFill>
            <a:srgbClr val="028090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2188" y="1892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03820" y="25603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Infraestructura, Redes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 Acceso Privado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899648" y="1892808"/>
            <a:ext cx="512064" cy="51206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899648" y="1892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332720" y="1490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AQUÍ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241280" y="25603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Operations,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Observabilidad 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Incidentes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507492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0B2027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19379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arquitectura segura a la operación continua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550468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Las Sesiones 1-3 sentaron la base conceptual (responsabilidad compartida, riesgo, gobernanza) y la protección de identidad y datos. La Sesión 4 aseguró la red y el acceso privado. La Sesión 5 cierra el ciclo: da visibilidad a todo lo construido, detecta cuando algo falla y responde ante el incidente.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196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 aprendizaje y laboratorio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 la sesión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6309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Diferenciar logging, monitoring, telemetría y observabilidad, y diseñar una estrategia de visibilidad para un entorno cloud.</a:t>
            </a:r>
            <a:endParaRPr lang="en-US" sz="11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Aplicar MITRE ATT&amp;CK for Cloud para mapear técnicas de un ataque real y explicar el rol de SIEM, XDR y SOAR en su detección.</a:t>
            </a:r>
            <a:endParaRPr lang="en-US" sz="11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Ejecutar el ciclo de respuesta a incidentes (contención, erradicación, RCA) ante un escenario de compromiso de credenciales IAM.</a:t>
            </a:r>
            <a:endParaRPr lang="en-US" sz="11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Reconocer las tendencias que están redefiniendo la seguridad cloud: CNAPP, SASE, IA Security y Post-Quantum.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223760" y="1280160"/>
            <a:ext cx="4434840" cy="4434840"/>
          </a:xfrm>
          <a:prstGeom prst="roundRect">
            <a:avLst>
              <a:gd name="adj" fmla="val 1649"/>
            </a:avLst>
          </a:prstGeom>
          <a:solidFill>
            <a:srgbClr val="0B2027"/>
          </a:solidFill>
          <a:ln/>
        </p:spPr>
      </p:sp>
      <p:pic>
        <p:nvPicPr>
          <p:cNvPr id="7" name="Image 0" descr="/home/claude/work/icons/FiTool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15087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GUIADO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52360" y="210312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Simulación de respuesta a un incidente de compromiso de credenciales IAM, sobre la arquitectura de la Sesión 4.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452360" y="2880360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8"/>
          <p:cNvSpPr/>
          <p:nvPr/>
        </p:nvSpPr>
        <p:spPr>
          <a:xfrm>
            <a:off x="7452360" y="2880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09560" y="28529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A — Visibilidad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909560" y="312724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Reactivar la arquitectura de la Sesión 4 y habilitar Log Analytics, Diagnostic Settings y Flow Logs.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452360" y="3721608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2"/>
          <p:cNvSpPr/>
          <p:nvPr/>
        </p:nvSpPr>
        <p:spPr>
          <a:xfrm>
            <a:off x="7452360" y="3721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909560" y="36941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B — Detección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909560" y="396849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Desplegar WAF + DVWA (diferido de la Sesión 4) y detectar el uso anómalo de credenciales con consultas KQL.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452360" y="4562856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6"/>
          <p:cNvSpPr/>
          <p:nvPr/>
        </p:nvSpPr>
        <p:spPr>
          <a:xfrm>
            <a:off x="7452360" y="45628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909560" y="45354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C — Respuesta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909560" y="4809744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Contener el incidente, documentar el RCA y entregar el informe ejecutivo del incidente.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452360" y="52578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2C3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Evaluación: 20 % de la nota final del módulo  ·  Entrega: PDF único vía Google Classroom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5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430000" y="65196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200" dirty="0"/>
          </a:p>
        </p:txBody>
      </p:sp>
      <p:pic>
        <p:nvPicPr>
          <p:cNvPr id="3" name="Image 0" descr="/home/claude/work/icons/FiEye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50292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3774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Visibilidad: Logging, Monitoring y Observabilidad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37947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Sin visibilidad, no hay detección posible. Todo lo demás en esta sesión depende de lo que construyamos aquí.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F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196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Flow Logs de la Sesión 4 a la visibilidad total del stack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 la Sesión 4 vimos que los Virtual Network Flow Logs permiten reconstruir el movimiento lateral ante un incidente. Hoy generalizamos esa idea a todo el entorno cloud.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45738" cy="1920240"/>
          </a:xfrm>
          <a:prstGeom prst="roundRect">
            <a:avLst>
              <a:gd name="adj" fmla="val 2857"/>
            </a:avLst>
          </a:prstGeom>
          <a:solidFill>
            <a:srgbClr val="F2F5F6"/>
          </a:solidFill>
          <a:ln/>
        </p:spPr>
      </p:sp>
      <p:pic>
        <p:nvPicPr>
          <p:cNvPr id="6" name="Image 0" descr="/home/claude/work/icons/FiActivity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9339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5059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lo vimos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761488"/>
            <a:ext cx="3179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Flow Logs + Traffic Analytics registran quién habla con quién a nivel de red (Sesión 4).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2978" y="1828800"/>
            <a:ext cx="3545738" cy="1920240"/>
          </a:xfrm>
          <a:prstGeom prst="roundRect">
            <a:avLst>
              <a:gd name="adj" fmla="val 2857"/>
            </a:avLst>
          </a:prstGeom>
          <a:solidFill>
            <a:srgbClr val="F2F5F6"/>
          </a:solidFill>
          <a:ln/>
        </p:spPr>
      </p:sp>
      <p:pic>
        <p:nvPicPr>
          <p:cNvPr id="10" name="Image 1" descr="/home/claude/work/icons/FiLayers_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58" y="199339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05858" y="245059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generalizamos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05858" y="2761488"/>
            <a:ext cx="3179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 misma lógica aplica a identidad (Sesión 3), control plane (Sesión 2) y cómputo/aplicación.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097317" y="1828800"/>
            <a:ext cx="3545738" cy="1920240"/>
          </a:xfrm>
          <a:prstGeom prst="roundRect">
            <a:avLst>
              <a:gd name="adj" fmla="val 2857"/>
            </a:avLst>
          </a:prstGeom>
          <a:solidFill>
            <a:srgbClr val="F2F5F6"/>
          </a:solidFill>
          <a:ln/>
        </p:spPr>
      </p:sp>
      <p:pic>
        <p:nvPicPr>
          <p:cNvPr id="14" name="Image 2" descr="/home/claude/work/icons/FiEye_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197" y="1993392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80197" y="245059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construimos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280197" y="2761488"/>
            <a:ext cx="3179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Una estrategia de visibilidad única que correlaciona logs de red, identidad y aplicación.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4069080"/>
            <a:ext cx="11094415" cy="457200"/>
          </a:xfrm>
          <a:prstGeom prst="roundRect">
            <a:avLst>
              <a:gd name="adj" fmla="val 10000"/>
            </a:avLst>
          </a:prstGeom>
          <a:solidFill>
            <a:srgbClr val="EAF6F4"/>
          </a:solidFill>
          <a:ln/>
        </p:spPr>
      </p:sp>
      <p:sp>
        <p:nvSpPr>
          <p:cNvPr id="18" name="Text 13"/>
          <p:cNvSpPr/>
          <p:nvPr/>
        </p:nvSpPr>
        <p:spPr>
          <a:xfrm>
            <a:off x="777240" y="406908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puede detectar lo que no se registra, ni responder a lo que no se detecta.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5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430000" y="65196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Logging, Monitoring, Telemetría y Observabilidad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Cuatro términos que se usan como sinónimos y no lo son.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32908" cy="1600200"/>
          </a:xfrm>
          <a:prstGeom prst="roundRect">
            <a:avLst>
              <a:gd name="adj" fmla="val 3429"/>
            </a:avLst>
          </a:prstGeom>
          <a:solidFill>
            <a:srgbClr val="F2F5F6"/>
          </a:solidFill>
          <a:ln/>
        </p:spPr>
      </p:sp>
      <p:pic>
        <p:nvPicPr>
          <p:cNvPr id="6" name="Image 0" descr="/home/claude/work/icons/FiFileText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4767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50671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715768"/>
            <a:ext cx="50671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Registro discreto de eventos: qué pasó, cuándo y quién lo causó. Es la materia prima.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10148" y="1783080"/>
            <a:ext cx="5432908" cy="1600200"/>
          </a:xfrm>
          <a:prstGeom prst="roundRect">
            <a:avLst>
              <a:gd name="adj" fmla="val 3429"/>
            </a:avLst>
          </a:prstGeom>
          <a:solidFill>
            <a:srgbClr val="F2F5F6"/>
          </a:solidFill>
          <a:ln/>
        </p:spPr>
      </p:sp>
      <p:pic>
        <p:nvPicPr>
          <p:cNvPr id="10" name="Image 1" descr="/home/claude/work/icons/FiActivity_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3028" y="194767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93028" y="2404872"/>
            <a:ext cx="50671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393028" y="2715768"/>
            <a:ext cx="50671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Observación continua de métricas predefinidas frente a umbrales conocidos (CPU, latencia, errores 5xx).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3611880"/>
            <a:ext cx="5432908" cy="1600200"/>
          </a:xfrm>
          <a:prstGeom prst="roundRect">
            <a:avLst>
              <a:gd name="adj" fmla="val 3429"/>
            </a:avLst>
          </a:prstGeom>
          <a:solidFill>
            <a:srgbClr val="F2F5F6"/>
          </a:solidFill>
          <a:ln/>
        </p:spPr>
      </p:sp>
      <p:pic>
        <p:nvPicPr>
          <p:cNvPr id="14" name="Image 2" descr="/home/claude/work/icons/FiBarChart2_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776472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1520" y="4233672"/>
            <a:ext cx="50671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Telemetría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731520" y="4544568"/>
            <a:ext cx="50671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transporte: logs, métricas y trazas emitidos automáticamente por sistemas y aplicaciones hacia un destino central.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210148" y="3611880"/>
            <a:ext cx="5432908" cy="1600200"/>
          </a:xfrm>
          <a:prstGeom prst="roundRect">
            <a:avLst>
              <a:gd name="adj" fmla="val 3429"/>
            </a:avLst>
          </a:prstGeom>
          <a:solidFill>
            <a:srgbClr val="F2F5F6"/>
          </a:solidFill>
          <a:ln/>
        </p:spPr>
      </p:sp>
      <p:pic>
        <p:nvPicPr>
          <p:cNvPr id="18" name="Image 3" descr="/home/claude/work/icons/FiEye_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3028" y="3776472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93028" y="4233672"/>
            <a:ext cx="50671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393028" y="4544568"/>
            <a:ext cx="50671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 capacidad de responder preguntas nuevas sobre el sistema sin desplegar código nuevo — inferir el estado interno desde sus salidas.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48640" y="5166360"/>
            <a:ext cx="11094415" cy="457200"/>
          </a:xfrm>
          <a:prstGeom prst="roundRect">
            <a:avLst>
              <a:gd name="adj" fmla="val 10000"/>
            </a:avLst>
          </a:prstGeom>
          <a:solidFill>
            <a:srgbClr val="EAF6F4"/>
          </a:solidFill>
          <a:ln/>
        </p:spPr>
      </p:sp>
      <p:sp>
        <p:nvSpPr>
          <p:cNvPr id="22" name="Text 16"/>
          <p:cNvSpPr/>
          <p:nvPr/>
        </p:nvSpPr>
        <p:spPr>
          <a:xfrm>
            <a:off x="777240" y="516636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monitoring detecta lo que ya sabías que podía fallar; la observabilidad ayuda a diagnosticar lo que nunca imaginaste.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5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430000" y="65196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 vs. Diagnostic Logs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Los logs de control plane y de data plane requieren estrategias de monitoreo diferenciadas (gancho ya visto en la Sesión 2).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4805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Log (control plane)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 Logs (data plane)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Qué registra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Operaciones ARM: crear, modificar, borrar recursos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Operaciones dentro del recurso: consultas, lecturas, ejecuciones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Ejemplo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"Se creó una Storage Account"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"Se leyó el blob X del contenedor Y"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Activación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Automática y gratuita para toda la suscripción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Debe habilitarse por recurso (Diagnostic Settings)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Retención por defecto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90 días en el propio Activity Log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Depende del destino configurado (Log Analytics, Storage, Event Hub)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Para qué sirve en IR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Detectar cambios de configuración no autorizados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Reconstruir qué se hizo con el dato o el servicio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440680"/>
            <a:ext cx="11094415" cy="457200"/>
          </a:xfrm>
          <a:prstGeom prst="roundRect">
            <a:avLst>
              <a:gd name="adj" fmla="val 10000"/>
            </a:avLst>
          </a:prstGeom>
          <a:solidFill>
            <a:srgbClr val="EAF6F4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544068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service principal comprometido deja huella en ambos planos — pero hay que ir a buscarla a destinos distintos.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5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196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 y Log Analytics: el pipeline de telemetría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 la fuente al dashboard, en cuatro pasos.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02154" cy="1737360"/>
          </a:xfrm>
          <a:prstGeom prst="roundRect">
            <a:avLst>
              <a:gd name="adj" fmla="val 3158"/>
            </a:avLst>
          </a:prstGeom>
          <a:solidFill>
            <a:srgbClr val="F2F5F6"/>
          </a:solidFill>
          <a:ln/>
        </p:spPr>
      </p:sp>
      <p:pic>
        <p:nvPicPr>
          <p:cNvPr id="6" name="Image 0" descr="/home/claude/work/icons/FiDatabase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5623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313432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Fuentes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624328"/>
            <a:ext cx="22363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Activity Log, Diagnostic Logs, agentes en VM, métricas de plataforma, App Insights.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79394" y="1691640"/>
            <a:ext cx="2602154" cy="1737360"/>
          </a:xfrm>
          <a:prstGeom prst="roundRect">
            <a:avLst>
              <a:gd name="adj" fmla="val 3158"/>
            </a:avLst>
          </a:prstGeom>
          <a:solidFill>
            <a:srgbClr val="F2F5F6"/>
          </a:solidFill>
          <a:ln/>
        </p:spPr>
      </p:sp>
      <p:pic>
        <p:nvPicPr>
          <p:cNvPr id="10" name="Image 1" descr="/home/claude/work/icons/FiSend_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2274" y="185623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62274" y="2313432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Ingesta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562274" y="2624328"/>
            <a:ext cx="22363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Diagnostic Settings enruta cada fuente hacia un workspace de Log Analytics.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210148" y="1691640"/>
            <a:ext cx="2602154" cy="1737360"/>
          </a:xfrm>
          <a:prstGeom prst="roundRect">
            <a:avLst>
              <a:gd name="adj" fmla="val 3158"/>
            </a:avLst>
          </a:prstGeom>
          <a:solidFill>
            <a:srgbClr val="F2F5F6"/>
          </a:solidFill>
          <a:ln/>
        </p:spPr>
      </p:sp>
      <p:pic>
        <p:nvPicPr>
          <p:cNvPr id="14" name="Image 2" descr="/home/claude/work/icons/FiSearch_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028" y="1856232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93028" y="2313432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Consulta (KQL)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393028" y="2624328"/>
            <a:ext cx="22363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Kusto Query Language filtra, agrega y correlaciona eventos entre tablas distintas.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9040901" y="1691640"/>
            <a:ext cx="2602154" cy="1737360"/>
          </a:xfrm>
          <a:prstGeom prst="roundRect">
            <a:avLst>
              <a:gd name="adj" fmla="val 3158"/>
            </a:avLst>
          </a:prstGeom>
          <a:solidFill>
            <a:srgbClr val="F2F5F6"/>
          </a:solidFill>
          <a:ln/>
        </p:spPr>
      </p:sp>
      <p:pic>
        <p:nvPicPr>
          <p:cNvPr id="18" name="Image 3" descr="/home/claude/work/icons/FiMonitor_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3781" y="1856232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223781" y="2313432"/>
            <a:ext cx="2236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Visualización y alertas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9223781" y="2624328"/>
            <a:ext cx="22363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Workbooks y dashboards para observar; Alert Rules para actuar automáticamente.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48640" y="3703320"/>
            <a:ext cx="11094415" cy="1417320"/>
          </a:xfrm>
          <a:prstGeom prst="roundRect">
            <a:avLst>
              <a:gd name="adj" fmla="val 3871"/>
            </a:avLst>
          </a:prstGeom>
          <a:solidFill>
            <a:srgbClr val="0B2027"/>
          </a:solidFill>
          <a:ln/>
        </p:spPr>
      </p:sp>
      <p:sp>
        <p:nvSpPr>
          <p:cNvPr id="22" name="Text 16"/>
          <p:cNvSpPr/>
          <p:nvPr/>
        </p:nvSpPr>
        <p:spPr>
          <a:xfrm>
            <a:off x="77724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consulta KQL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777240" y="41605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SigninLogs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where ResultType != "0"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where TimeGenerated &gt; ago(1h)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summarize Intentos = count() by UserPrincipalName, IPAddress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where Intentos &gt; 5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8778240" y="41605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FC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Inicios de sesión fallidos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FC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agrupados por usuario e IP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FC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 la última hora.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5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430000" y="65196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diseñando un dashboard de observabilidad mínimo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todo merece un panel — priorizar por lo que realmente indica salud o riesgo.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3108960"/>
                <a:gridCol w="420624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Pregunta que responde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Inicios de sesión fallidos por usuario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SigninLogs (Entra ID)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¿Hay un patrón de fuerza bruta o rociado de contraseñas?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Operaciones de administración por identidad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Activity Log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¿Quién está creando o modificando recursos, y cuándo?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Tráfico denegado por NSG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Virtual Network Flow Logs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¿Hay intentos de conexión hacia puertos o subredes no autorizadas?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Uso de claves y secretos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Diagnostic Logs de Key Vault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¿Alguna aplicación o identidad accede a secretos fuera de su patrón habitual?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12080"/>
            <a:ext cx="11094415" cy="457200"/>
          </a:xfrm>
          <a:prstGeom prst="roundRect">
            <a:avLst>
              <a:gd name="adj" fmla="val 10000"/>
            </a:avLst>
          </a:prstGeom>
          <a:solidFill>
            <a:srgbClr val="EAF6F4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521208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dashboard con 20 métricas que nadie revisa vale menos que uno con 4 que sí se miran cada día.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5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196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200" dirty="0"/>
          </a:p>
        </p:txBody>
      </p:sp>
      <p:pic>
        <p:nvPicPr>
          <p:cNvPr id="3" name="Image 0" descr="/home/claude/work/icons/FiSearch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50292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3774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Detección: de la señal a la alerta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37947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 visibilidad ya instalada, el reto pasa a ser distinguir la señal del ruido — y hacerlo antes de que el atacante termine su trabajo.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F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196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for Cloud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 lenguaje común para describir cómo atacan realmente los adversarios en entornos cloud.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45738" cy="2011680"/>
          </a:xfrm>
          <a:prstGeom prst="roundRect">
            <a:avLst>
              <a:gd name="adj" fmla="val 2727"/>
            </a:avLst>
          </a:prstGeom>
          <a:solidFill>
            <a:srgbClr val="F2F5F6"/>
          </a:solidFill>
          <a:ln/>
        </p:spPr>
      </p:sp>
      <p:pic>
        <p:nvPicPr>
          <p:cNvPr id="6" name="Image 0" descr="/home/claude/work/icons/FiCompass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4767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715768"/>
            <a:ext cx="31799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Una matriz pública y viva de tácticas (el 'por qué') y técnicas (el 'cómo') observadas en ataques reales a la nube.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2978" y="1783080"/>
            <a:ext cx="3545738" cy="2011680"/>
          </a:xfrm>
          <a:prstGeom prst="roundRect">
            <a:avLst>
              <a:gd name="adj" fmla="val 2727"/>
            </a:avLst>
          </a:prstGeom>
          <a:solidFill>
            <a:srgbClr val="F2F5F6"/>
          </a:solidFill>
          <a:ln/>
        </p:spPr>
      </p:sp>
      <p:pic>
        <p:nvPicPr>
          <p:cNvPr id="10" name="Image 1" descr="/home/claude/work/icons/FiTarget_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58" y="194767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05858" y="240487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Tácticas clave en cloud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05858" y="2715768"/>
            <a:ext cx="31799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Initial Access, Persistence, Privilege Escalation, Defense Evasion, Credential Access, Lateral Movement, Exfiltration.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097317" y="1783080"/>
            <a:ext cx="3545738" cy="2011680"/>
          </a:xfrm>
          <a:prstGeom prst="roundRect">
            <a:avLst>
              <a:gd name="adj" fmla="val 2727"/>
            </a:avLst>
          </a:prstGeom>
          <a:solidFill>
            <a:srgbClr val="F2F5F6"/>
          </a:solidFill>
          <a:ln/>
        </p:spPr>
      </p:sp>
      <p:pic>
        <p:nvPicPr>
          <p:cNvPr id="14" name="Image 2" descr="/home/claude/work/icons/FiFileText_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197" y="1947672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80197" y="240487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qué sirve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280197" y="2715768"/>
            <a:ext cx="31799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Mapear detecciones existentes, encontrar huecos de cobertura y estructurar informes de incidente con vocabulario estándar.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4114800"/>
            <a:ext cx="11094415" cy="457200"/>
          </a:xfrm>
          <a:prstGeom prst="roundRect">
            <a:avLst>
              <a:gd name="adj" fmla="val 10000"/>
            </a:avLst>
          </a:prstGeom>
          <a:solidFill>
            <a:srgbClr val="EAF6F4"/>
          </a:solidFill>
          <a:ln/>
        </p:spPr>
      </p:sp>
      <p:sp>
        <p:nvSpPr>
          <p:cNvPr id="18" name="Text 13"/>
          <p:cNvSpPr/>
          <p:nvPr/>
        </p:nvSpPr>
        <p:spPr>
          <a:xfrm>
            <a:off x="777240" y="411480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attack.mitre.org/matrices/enterprise/cloud — referencia obligatoria del syllabus.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5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430000" y="65196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aplicado: mapeando un compromiso de credenciales IAM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mismo escenario que se simula en el laboratorio de hoy, leído en clave ATT&amp;CK.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11480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Táctica ATT&amp;CK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Técnica observada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Evidencia esperada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Credential Access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Uso de credenciales filtradas de un service principal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SigninLogs con IP o user-agent atípicos para esa identidad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Persistence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Creación de una nueva regla de acceso o secreto en Key Vault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Diagnostic Logs de Key Vault; Activity Log con operación de escritura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Privilege Escalation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Asignación de un rol RBAC más amplio a la identidad comprometida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Activity Log: "Create role assignment" fuera de horario habitual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Exfiltration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Descarga masiva desde una Storage Account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Diagnostic Logs de Storage con volumen de lectura anómalo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57800"/>
            <a:ext cx="11094415" cy="457200"/>
          </a:xfrm>
          <a:prstGeom prst="roundRect">
            <a:avLst>
              <a:gd name="adj" fmla="val 10000"/>
            </a:avLst>
          </a:prstGeom>
          <a:solidFill>
            <a:srgbClr val="EAF6F4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525780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fila de esta tabla es una consulta KQL potencial — así se construye una detección real.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5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196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Hunting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 la auditoría reactiva (Sesión 3) a la caza proactiva de amenazas.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45738" cy="2103120"/>
          </a:xfrm>
          <a:prstGeom prst="roundRect">
            <a:avLst>
              <a:gd name="adj" fmla="val 2609"/>
            </a:avLst>
          </a:prstGeom>
          <a:solidFill>
            <a:srgbClr val="F2F5F6"/>
          </a:solidFill>
          <a:ln/>
        </p:spPr>
      </p:sp>
      <p:pic>
        <p:nvPicPr>
          <p:cNvPr id="6" name="Image 0" descr="/home/claude/work/icons/FiFileText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4767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 (ya visto)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715768"/>
            <a:ext cx="31799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"Toda decisión de acceso queda registrada — es la base de la auditoría" (Sesión 3). Esa auditoría es la materia prima del hunting.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2978" y="1783080"/>
            <a:ext cx="3545738" cy="2103120"/>
          </a:xfrm>
          <a:prstGeom prst="roundRect">
            <a:avLst>
              <a:gd name="adj" fmla="val 2609"/>
            </a:avLst>
          </a:prstGeom>
          <a:solidFill>
            <a:srgbClr val="F2F5F6"/>
          </a:solidFill>
          <a:ln/>
        </p:spPr>
      </p:sp>
      <p:pic>
        <p:nvPicPr>
          <p:cNvPr id="10" name="Image 1" descr="/home/claude/work/icons/FiSearch_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58" y="194767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05858" y="240487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threat hunting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05858" y="2715768"/>
            <a:ext cx="31799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Búsqueda activa e hipótesis-guiada de indicios de compromiso que las alertas automáticas no capturaron.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097317" y="1783080"/>
            <a:ext cx="3545738" cy="2103120"/>
          </a:xfrm>
          <a:prstGeom prst="roundRect">
            <a:avLst>
              <a:gd name="adj" fmla="val 2609"/>
            </a:avLst>
          </a:prstGeom>
          <a:solidFill>
            <a:srgbClr val="F2F5F6"/>
          </a:solidFill>
          <a:ln/>
        </p:spPr>
      </p:sp>
      <p:pic>
        <p:nvPicPr>
          <p:cNvPr id="14" name="Image 2" descr="/home/claude/work/icons/FiRefreshCw_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197" y="1947672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80197" y="240487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del hunter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280197" y="2715768"/>
            <a:ext cx="317997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Formular hipótesis → consultar los datos (KQL) → validar o descartar → convertir el hallazgo en una regla de detección permanente.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4206240"/>
            <a:ext cx="11094415" cy="457200"/>
          </a:xfrm>
          <a:prstGeom prst="roundRect">
            <a:avLst>
              <a:gd name="adj" fmla="val 10000"/>
            </a:avLst>
          </a:prstGeom>
          <a:solidFill>
            <a:srgbClr val="EAF6F4"/>
          </a:solidFill>
          <a:ln/>
        </p:spPr>
      </p:sp>
      <p:sp>
        <p:nvSpPr>
          <p:cNvPr id="18" name="Text 13"/>
          <p:cNvSpPr/>
          <p:nvPr/>
        </p:nvSpPr>
        <p:spPr>
          <a:xfrm>
            <a:off x="777240" y="420624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= reactivo, ante una alerta. Hunting = proactivo, ante una sospecha sin alerta todavía.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5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430000" y="65196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— Security Information and Event Management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Cada cifrado, cada acceso, cada flujo de red que vimos hasta ahora converge aquí (gancho ya visto en la Sesión 3).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45738" cy="2011680"/>
          </a:xfrm>
          <a:prstGeom prst="roundRect">
            <a:avLst>
              <a:gd name="adj" fmla="val 2727"/>
            </a:avLst>
          </a:prstGeom>
          <a:solidFill>
            <a:srgbClr val="F2F5F6"/>
          </a:solidFill>
          <a:ln/>
        </p:spPr>
      </p:sp>
      <p:pic>
        <p:nvPicPr>
          <p:cNvPr id="6" name="Image 0" descr="/home/claude/work/icons/FiDatabase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4767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Agregación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715768"/>
            <a:ext cx="31799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Centraliza logs de identidad, red, endpoints y aplicaciones en un único repositorio consultable.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2978" y="1783080"/>
            <a:ext cx="3545738" cy="2011680"/>
          </a:xfrm>
          <a:prstGeom prst="roundRect">
            <a:avLst>
              <a:gd name="adj" fmla="val 2727"/>
            </a:avLst>
          </a:prstGeom>
          <a:solidFill>
            <a:srgbClr val="F2F5F6"/>
          </a:solidFill>
          <a:ln/>
        </p:spPr>
      </p:sp>
      <p:pic>
        <p:nvPicPr>
          <p:cNvPr id="10" name="Image 1" descr="/home/claude/work/icons/FiLayers_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58" y="194767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05858" y="240487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05858" y="2715768"/>
            <a:ext cx="31799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Conecta eventos de fuentes distintas que, aislados, parecen inofensivos pero juntos revelan un ataque.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097317" y="1783080"/>
            <a:ext cx="3545738" cy="2011680"/>
          </a:xfrm>
          <a:prstGeom prst="roundRect">
            <a:avLst>
              <a:gd name="adj" fmla="val 2727"/>
            </a:avLst>
          </a:prstGeom>
          <a:solidFill>
            <a:srgbClr val="F2F5F6"/>
          </a:solidFill>
          <a:ln/>
        </p:spPr>
      </p:sp>
      <p:pic>
        <p:nvPicPr>
          <p:cNvPr id="14" name="Image 2" descr="/home/claude/work/icons/FiAlertTriangle_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197" y="1947672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80197" y="240487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y casos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280197" y="2715768"/>
            <a:ext cx="31799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Convierte reglas de correlación en alertas priorizadas que un analista puede investigar y cerrar.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4114800"/>
            <a:ext cx="11094415" cy="457200"/>
          </a:xfrm>
          <a:prstGeom prst="roundRect">
            <a:avLst>
              <a:gd name="adj" fmla="val 10000"/>
            </a:avLst>
          </a:prstGeom>
          <a:solidFill>
            <a:srgbClr val="EAF6F4"/>
          </a:solidFill>
          <a:ln/>
        </p:spPr>
      </p:sp>
      <p:sp>
        <p:nvSpPr>
          <p:cNvPr id="18" name="Text 13"/>
          <p:cNvSpPr/>
          <p:nvPr/>
        </p:nvSpPr>
        <p:spPr>
          <a:xfrm>
            <a:off x="777240" y="411480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"Cada operación de cifrado queda registrada — insumo directo del SIEM" (Sesión 3). Microsoft Sentinel es el SIEM nativo de Azure.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5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430000" y="65196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XDR — Extended Detection and Response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"Defender XDR / Defender for Cloud monitorea, detecta y remedia" — la capa transversal de Zero Trust que vimos en la Sesión 1.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45738" cy="2011680"/>
          </a:xfrm>
          <a:prstGeom prst="roundRect">
            <a:avLst>
              <a:gd name="adj" fmla="val 2727"/>
            </a:avLst>
          </a:prstGeom>
          <a:solidFill>
            <a:srgbClr val="F2F5F6"/>
          </a:solidFill>
          <a:ln/>
        </p:spPr>
      </p:sp>
      <p:pic>
        <p:nvPicPr>
          <p:cNvPr id="6" name="Image 0" descr="/home/claude/work/icons/FiLayers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4767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Extiende el alcance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715768"/>
            <a:ext cx="31799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Correlaciona señales de endpoints, identidad, red, correo y cargas cloud — más allá de los logs crudos de un SIEM.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2978" y="1783080"/>
            <a:ext cx="3545738" cy="2011680"/>
          </a:xfrm>
          <a:prstGeom prst="roundRect">
            <a:avLst>
              <a:gd name="adj" fmla="val 2727"/>
            </a:avLst>
          </a:prstGeom>
          <a:solidFill>
            <a:srgbClr val="F2F5F6"/>
          </a:solidFill>
          <a:ln/>
        </p:spPr>
      </p:sp>
      <p:pic>
        <p:nvPicPr>
          <p:cNvPr id="10" name="Image 1" descr="/home/claude/work/icons/FiTarget_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58" y="194767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05858" y="240487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con contexto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05858" y="2715768"/>
            <a:ext cx="31799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Agrupa múltiples alertas relacionadas en un único incidente, reduciendo la fatiga de alertas del analista.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097317" y="1783080"/>
            <a:ext cx="3545738" cy="2011680"/>
          </a:xfrm>
          <a:prstGeom prst="roundRect">
            <a:avLst>
              <a:gd name="adj" fmla="val 2727"/>
            </a:avLst>
          </a:prstGeom>
          <a:solidFill>
            <a:srgbClr val="F2F5F6"/>
          </a:solidFill>
          <a:ln/>
        </p:spPr>
      </p:sp>
      <p:pic>
        <p:nvPicPr>
          <p:cNvPr id="14" name="Image 2" descr="/home/claude/work/icons/FiZap_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197" y="1947672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80197" y="240487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integrada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280197" y="2715768"/>
            <a:ext cx="31799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Puede aislar automáticamente un dispositivo o deshabilitar una identidad comprometida, sin esperar acción manual.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4114800"/>
            <a:ext cx="11094415" cy="457200"/>
          </a:xfrm>
          <a:prstGeom prst="roundRect">
            <a:avLst>
              <a:gd name="adj" fmla="val 10000"/>
            </a:avLst>
          </a:prstGeom>
          <a:solidFill>
            <a:srgbClr val="EAF6F4"/>
          </a:solidFill>
          <a:ln/>
        </p:spPr>
      </p:sp>
      <p:sp>
        <p:nvSpPr>
          <p:cNvPr id="18" name="Text 13"/>
          <p:cNvSpPr/>
          <p:nvPr/>
        </p:nvSpPr>
        <p:spPr>
          <a:xfrm>
            <a:off x="777240" y="411480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ve todos los logs; XDR ve además el contexto de identidad, endpoint y aplicación para actuar más rápido.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5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430000" y="65196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SOAR — Security Orchestration, Automation and Response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Cuando la respuesta se vuelve código: playbooks que se ejecutan solos.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45738" cy="2011680"/>
          </a:xfrm>
          <a:prstGeom prst="roundRect">
            <a:avLst>
              <a:gd name="adj" fmla="val 2727"/>
            </a:avLst>
          </a:prstGeom>
          <a:solidFill>
            <a:srgbClr val="F2F5F6"/>
          </a:solidFill>
          <a:ln/>
        </p:spPr>
      </p:sp>
      <p:pic>
        <p:nvPicPr>
          <p:cNvPr id="6" name="Image 0" descr="/home/claude/work/icons/FiGitBranch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4767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715768"/>
            <a:ext cx="31799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Conecta SIEM, XDR, IAM y ticketing en un único flujo de trabajo, sin cambiar de herramienta.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2978" y="1783080"/>
            <a:ext cx="3545738" cy="2011680"/>
          </a:xfrm>
          <a:prstGeom prst="roundRect">
            <a:avLst>
              <a:gd name="adj" fmla="val 2727"/>
            </a:avLst>
          </a:prstGeom>
          <a:solidFill>
            <a:srgbClr val="F2F5F6"/>
          </a:solidFill>
          <a:ln/>
        </p:spPr>
      </p:sp>
      <p:pic>
        <p:nvPicPr>
          <p:cNvPr id="10" name="Image 1" descr="/home/claude/work/icons/FiSettings_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58" y="194767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05858" y="240487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05858" y="2715768"/>
            <a:ext cx="31799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Ejecuta acciones predefinidas ante una alerta: deshabilitar una cuenta, aislar una VM, notificar al equipo.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097317" y="1783080"/>
            <a:ext cx="3545738" cy="2011680"/>
          </a:xfrm>
          <a:prstGeom prst="roundRect">
            <a:avLst>
              <a:gd name="adj" fmla="val 2727"/>
            </a:avLst>
          </a:prstGeom>
          <a:solidFill>
            <a:srgbClr val="F2F5F6"/>
          </a:solidFill>
          <a:ln/>
        </p:spPr>
      </p:sp>
      <p:pic>
        <p:nvPicPr>
          <p:cNvPr id="14" name="Image 2" descr="/home/claude/work/icons/FiClipboard_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197" y="1947672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80197" y="240487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280197" y="2715768"/>
            <a:ext cx="31799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procedimiento de respuesta (Bloque 3) escrito como flujo automatizable, no solo como documento.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4114800"/>
            <a:ext cx="11094415" cy="457200"/>
          </a:xfrm>
          <a:prstGeom prst="roundRect">
            <a:avLst>
              <a:gd name="adj" fmla="val 10000"/>
            </a:avLst>
          </a:prstGeom>
          <a:solidFill>
            <a:srgbClr val="EAF6F4"/>
          </a:solidFill>
          <a:ln/>
        </p:spPr>
      </p:sp>
      <p:sp>
        <p:nvSpPr>
          <p:cNvPr id="18" name="Text 13"/>
          <p:cNvSpPr/>
          <p:nvPr/>
        </p:nvSpPr>
        <p:spPr>
          <a:xfrm>
            <a:off x="777240" y="411480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SOAR no reemplaza al analista: elimina los primeros minutos manuales que hoy definen si un incidente escala o se contiene.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5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430000" y="65196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Síntesis: el pipeline de detección de extremo a extremo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7280" y="2468880"/>
            <a:ext cx="9966960" cy="0"/>
          </a:xfrm>
          <a:prstGeom prst="line">
            <a:avLst/>
          </a:prstGeom>
          <a:noFill/>
          <a:ln w="25400">
            <a:solidFill>
              <a:srgbClr val="D8E0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176272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1762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" y="2926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" y="3246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Activity Log, Diagnostic Logs, Flow Logs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26992" y="2176272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126992" y="21762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68040" y="2926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368040" y="3246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Agregación y correlación (Sentinel)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49312" y="2176272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449312" y="21762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90360" y="2926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ATT&amp;CK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690360" y="3246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Mapeo de la técnica observada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771632" y="2176272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10771632" y="21762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12680" y="2926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XDR / SOAR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012680" y="3246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Contexto, priorización y respuesta automática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5394960"/>
            <a:ext cx="11094415" cy="457200"/>
          </a:xfrm>
          <a:prstGeom prst="roundRect">
            <a:avLst>
              <a:gd name="adj" fmla="val 10000"/>
            </a:avLst>
          </a:prstGeom>
          <a:solidFill>
            <a:srgbClr val="EAF6F4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39496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eslabón depende del anterior: sin logs no hay SIEM; sin SIEM no hay mapeo ATT&amp;CK confiable; sin mapeo no hay respuesta dirigida.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196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200" dirty="0"/>
          </a:p>
        </p:txBody>
      </p:sp>
      <p:pic>
        <p:nvPicPr>
          <p:cNvPr id="3" name="Image 0" descr="/home/claude/work/icons/FiTool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50292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3774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Respuesta: contener, erradicar, aprender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37947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Detectar sin responder no cierra el incidente. Hoy formalizamos el procedimiento que convierte una alerta en una lección aprendida.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F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196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de respuesta a incidentes (NIST SP 800-61)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Seis fases que se repiten en cada incidente, cloud o no.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45738" cy="1508760"/>
          </a:xfrm>
          <a:prstGeom prst="roundRect">
            <a:avLst>
              <a:gd name="adj" fmla="val 3636"/>
            </a:avLst>
          </a:prstGeom>
          <a:solidFill>
            <a:srgbClr val="F2F5F6"/>
          </a:solidFill>
          <a:ln/>
        </p:spPr>
      </p:sp>
      <p:pic>
        <p:nvPicPr>
          <p:cNvPr id="6" name="Image 0" descr="/home/claude/work/icons/FiClipboard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5623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31343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Preparación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624328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Playbooks, roles y accesos de emergencia definidos antes de que ocurra el incidente.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2978" y="1691640"/>
            <a:ext cx="3545738" cy="1508760"/>
          </a:xfrm>
          <a:prstGeom prst="roundRect">
            <a:avLst>
              <a:gd name="adj" fmla="val 3636"/>
            </a:avLst>
          </a:prstGeom>
          <a:solidFill>
            <a:srgbClr val="F2F5F6"/>
          </a:solidFill>
          <a:ln/>
        </p:spPr>
      </p:sp>
      <p:pic>
        <p:nvPicPr>
          <p:cNvPr id="10" name="Image 1" descr="/home/claude/work/icons/FiSearch_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58" y="185623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05858" y="231343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Detección y análisis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05858" y="2624328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Confirmar que lo observado es realmente un incidente y clasificar su severidad.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097317" y="1691640"/>
            <a:ext cx="3545738" cy="1508760"/>
          </a:xfrm>
          <a:prstGeom prst="roundRect">
            <a:avLst>
              <a:gd name="adj" fmla="val 3636"/>
            </a:avLst>
          </a:prstGeom>
          <a:solidFill>
            <a:srgbClr val="F2F5F6"/>
          </a:solidFill>
          <a:ln/>
        </p:spPr>
      </p:sp>
      <p:pic>
        <p:nvPicPr>
          <p:cNvPr id="14" name="Image 2" descr="/home/claude/work/icons/FiLock_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197" y="1856232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80197" y="231343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Contención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280197" y="2624328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Detener la propagación sin destruir evidencia (Bloque 3, siguiente diapositiva).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3429000"/>
            <a:ext cx="3545738" cy="1508760"/>
          </a:xfrm>
          <a:prstGeom prst="roundRect">
            <a:avLst>
              <a:gd name="adj" fmla="val 3636"/>
            </a:avLst>
          </a:prstGeom>
          <a:solidFill>
            <a:srgbClr val="F2F5F6"/>
          </a:solidFill>
          <a:ln/>
        </p:spPr>
      </p:sp>
      <p:pic>
        <p:nvPicPr>
          <p:cNvPr id="18" name="Image 3" descr="/home/claude/work/icons/FiXCircle_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593592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1520" y="405079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Erradicación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731520" y="4361688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Eliminar la causa: rotar credenciales, cerrar la vulnerabilidad explotada.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322978" y="3429000"/>
            <a:ext cx="3545738" cy="1508760"/>
          </a:xfrm>
          <a:prstGeom prst="roundRect">
            <a:avLst>
              <a:gd name="adj" fmla="val 3636"/>
            </a:avLst>
          </a:prstGeom>
          <a:solidFill>
            <a:srgbClr val="F2F5F6"/>
          </a:solidFill>
          <a:ln/>
        </p:spPr>
      </p:sp>
      <p:pic>
        <p:nvPicPr>
          <p:cNvPr id="22" name="Image 4" descr="/home/claude/work/icons/FiRefreshCw_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5858" y="3593592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05858" y="405079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Recuperación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4505858" y="4361688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Restaurar el servicio con monitoreo reforzado para detectar reincidencia.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8097317" y="3429000"/>
            <a:ext cx="3545738" cy="1508760"/>
          </a:xfrm>
          <a:prstGeom prst="roundRect">
            <a:avLst>
              <a:gd name="adj" fmla="val 3636"/>
            </a:avLst>
          </a:prstGeom>
          <a:solidFill>
            <a:srgbClr val="F2F5F6"/>
          </a:solidFill>
          <a:ln/>
        </p:spPr>
      </p:sp>
      <p:pic>
        <p:nvPicPr>
          <p:cNvPr id="26" name="Image 5" descr="/home/claude/work/icons/FiCheckCircle_circ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0197" y="3593592"/>
            <a:ext cx="384048" cy="38404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280197" y="405079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Lecciones aprendidas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8280197" y="4361688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RCA e informe ejecutivo — cierra el ciclo y alimenta la preparación del siguiente.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5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430000" y="65196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Playbooks de respuesta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Anatomía de un playbook, usando el escenario del laboratorio de hoy.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6766560"/>
                <a:gridCol w="36576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 / herramienta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Confirmar la alerta: revisar SigninLogs del service principal señalado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Analista SOC · Log Analytics / Sentinel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2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Deshabilitar temporalmente las credenciales comprometidas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Administrador IAM · Microsoft Entra ID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3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Aislar el recurso afectado con una regla NSG deny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Ingeniero de red · Azure Portal / CLI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4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Revisar Diagnostic Logs para determinar el alcance del acceso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Analista SOC · Log Analytics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5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Rotar todos los secretos accesibles desde la identidad comprometida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Administrador IAM · Key Vault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349240"/>
            <a:ext cx="11094415" cy="457200"/>
          </a:xfrm>
          <a:prstGeom prst="roundRect">
            <a:avLst>
              <a:gd name="adj" fmla="val 10000"/>
            </a:avLst>
          </a:prstGeom>
          <a:solidFill>
            <a:srgbClr val="EAF6F4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534924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playbook escrito con este nivel de detalle es exactamente lo que un SOAR (Bloque 2) automatiza.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5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196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Contención en la nube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Aislar sin apagar el negocio — la contención cloud rara vez significa "apagar la VM".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45738" cy="2011680"/>
          </a:xfrm>
          <a:prstGeom prst="roundRect">
            <a:avLst>
              <a:gd name="adj" fmla="val 2727"/>
            </a:avLst>
          </a:prstGeom>
          <a:solidFill>
            <a:srgbClr val="F2F5F6"/>
          </a:solidFill>
          <a:ln/>
        </p:spPr>
      </p:sp>
      <p:pic>
        <p:nvPicPr>
          <p:cNvPr id="6" name="Image 0" descr="/home/claude/work/icons/FiUnlock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4767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715768"/>
            <a:ext cx="31799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Deshabilitar o revocar tokens de la cuenta/service principal comprometido; forzar re-autenticación con MFA.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2978" y="1783080"/>
            <a:ext cx="3545738" cy="2011680"/>
          </a:xfrm>
          <a:prstGeom prst="roundRect">
            <a:avLst>
              <a:gd name="adj" fmla="val 2727"/>
            </a:avLst>
          </a:prstGeom>
          <a:solidFill>
            <a:srgbClr val="F2F5F6"/>
          </a:solidFill>
          <a:ln/>
        </p:spPr>
      </p:sp>
      <p:pic>
        <p:nvPicPr>
          <p:cNvPr id="10" name="Image 1" descr="/home/claude/work/icons/FiLock_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58" y="194767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05858" y="240487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05858" y="2715768"/>
            <a:ext cx="31799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Regla NSG deny dirigida al recurso afectado — la microsegmentación de la Sesión 4 hace esto quirúrgico, no total.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097317" y="1783080"/>
            <a:ext cx="3545738" cy="2011680"/>
          </a:xfrm>
          <a:prstGeom prst="roundRect">
            <a:avLst>
              <a:gd name="adj" fmla="val 2727"/>
            </a:avLst>
          </a:prstGeom>
          <a:solidFill>
            <a:srgbClr val="F2F5F6"/>
          </a:solidFill>
          <a:ln/>
        </p:spPr>
      </p:sp>
      <p:pic>
        <p:nvPicPr>
          <p:cNvPr id="14" name="Image 2" descr="/home/claude/work/icons/FiDatabase_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197" y="1947672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80197" y="240487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280197" y="2715768"/>
            <a:ext cx="31799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Revocar el Shared Access Signature (SAS) o rotar la clave de acceso a un storage expuesto.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4114800"/>
            <a:ext cx="11094415" cy="457200"/>
          </a:xfrm>
          <a:prstGeom prst="roundRect">
            <a:avLst>
              <a:gd name="adj" fmla="val 10000"/>
            </a:avLst>
          </a:prstGeom>
          <a:solidFill>
            <a:srgbClr val="EAF6F4"/>
          </a:solidFill>
          <a:ln/>
        </p:spPr>
      </p:sp>
      <p:sp>
        <p:nvSpPr>
          <p:cNvPr id="18" name="Text 13"/>
          <p:cNvSpPr/>
          <p:nvPr/>
        </p:nvSpPr>
        <p:spPr>
          <a:xfrm>
            <a:off x="777240" y="411480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Contener el spoke comprometido no debe afectar a los demás — es exactamente lo que la microsegmentación de la Sesión 4 permite hacer.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5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430000" y="65196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Forense cloud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"Ante un incidente, los flow logs permiten reconstruir el movimiento lateral" (Sesión 4) — hoy generalizamos esa evidencia a todo el stack.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11480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Diferencia clave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Forense on-premise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Forense cloud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Evidencia física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Disco, memoria RAM del servidor físico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Snapshots de disco, dumps de memoria bajo API del proveedor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Volatilidad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El servidor puede quedarse encendido para análisis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Los recursos son efímeros; hay que capturar evidencia antes de eliminarlos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Cadena de custodia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Control físico total del equipo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Depende de logs del proveedor (Activity Log) como prueba de integridad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Alcance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Limitado al perímetro propio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Puede requerir coordinación con el proveedor cloud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196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— Root Cause Analysis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basta con saber qué pasó; hay que entender por qué pudo pasar.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45738" cy="2011680"/>
          </a:xfrm>
          <a:prstGeom prst="roundRect">
            <a:avLst>
              <a:gd name="adj" fmla="val 2727"/>
            </a:avLst>
          </a:prstGeom>
          <a:solidFill>
            <a:srgbClr val="F2F5F6"/>
          </a:solidFill>
          <a:ln/>
        </p:spPr>
      </p:sp>
      <p:pic>
        <p:nvPicPr>
          <p:cNvPr id="6" name="Image 0" descr="/home/claude/work/icons/FiClock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4767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de tiempo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715768"/>
            <a:ext cx="31799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Reconstruir, con timestamps de los logs, el orden exacto de eventos desde el acceso inicial hasta la contención.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2978" y="1783080"/>
            <a:ext cx="3545738" cy="2011680"/>
          </a:xfrm>
          <a:prstGeom prst="roundRect">
            <a:avLst>
              <a:gd name="adj" fmla="val 2727"/>
            </a:avLst>
          </a:prstGeom>
          <a:solidFill>
            <a:srgbClr val="F2F5F6"/>
          </a:solidFill>
          <a:ln/>
        </p:spPr>
      </p:sp>
      <p:pic>
        <p:nvPicPr>
          <p:cNvPr id="10" name="Image 1" descr="/home/claude/work/icons/FiSearch_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58" y="194767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05858" y="240487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porqués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05858" y="2715768"/>
            <a:ext cx="31799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Preguntar "¿por qué?" repetidamente hasta llegar a la causa raíz, no solo al síntoma inmediato.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097317" y="1783080"/>
            <a:ext cx="3545738" cy="2011680"/>
          </a:xfrm>
          <a:prstGeom prst="roundRect">
            <a:avLst>
              <a:gd name="adj" fmla="val 2727"/>
            </a:avLst>
          </a:prstGeom>
          <a:solidFill>
            <a:srgbClr val="F2F5F6"/>
          </a:solidFill>
          <a:ln/>
        </p:spPr>
      </p:sp>
      <p:pic>
        <p:nvPicPr>
          <p:cNvPr id="14" name="Image 2" descr="/home/claude/work/icons/FiFlag_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197" y="1947672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80197" y="240487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 raíz vs. causa inmediata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280197" y="2715768"/>
            <a:ext cx="31799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"Credencial filtrada" es el síntoma; "secreto embebido en un repositorio público" suele ser la causa raíz.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4114800"/>
            <a:ext cx="11094415" cy="457200"/>
          </a:xfrm>
          <a:prstGeom prst="roundRect">
            <a:avLst>
              <a:gd name="adj" fmla="val 10000"/>
            </a:avLst>
          </a:prstGeom>
          <a:solidFill>
            <a:srgbClr val="EAF6F4"/>
          </a:solidFill>
          <a:ln/>
        </p:spPr>
      </p:sp>
      <p:sp>
        <p:nvSpPr>
          <p:cNvPr id="18" name="Text 13"/>
          <p:cNvSpPr/>
          <p:nvPr/>
        </p:nvSpPr>
        <p:spPr>
          <a:xfrm>
            <a:off x="777240" y="411480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la causa inmediata fue una credencial filtrada; la causa raíz fue la ausencia de Managed Identity y rotación automática (Sesión 3).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5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430000" y="65196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 e informe ejecutivo del incidente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entregable del laboratorio de hoy — y la entrega evaluada de la sesión.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32908" cy="1600200"/>
          </a:xfrm>
          <a:prstGeom prst="roundRect">
            <a:avLst>
              <a:gd name="adj" fmla="val 3429"/>
            </a:avLst>
          </a:prstGeom>
          <a:solidFill>
            <a:srgbClr val="F2F5F6"/>
          </a:solidFill>
          <a:ln/>
        </p:spPr>
      </p:sp>
      <p:pic>
        <p:nvPicPr>
          <p:cNvPr id="6" name="Image 0" descr="/home/claude/work/icons/FiFileText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4767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50671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logs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715768"/>
            <a:ext cx="50671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Evidencia técnica: qué tablas se consultaron y qué mostraron (SigninLogs, Activity Log, Flow Logs).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10148" y="1783080"/>
            <a:ext cx="5432908" cy="1600200"/>
          </a:xfrm>
          <a:prstGeom prst="roundRect">
            <a:avLst>
              <a:gd name="adj" fmla="val 3429"/>
            </a:avLst>
          </a:prstGeom>
          <a:solidFill>
            <a:srgbClr val="F2F5F6"/>
          </a:solidFill>
          <a:ln/>
        </p:spPr>
      </p:sp>
      <p:pic>
        <p:nvPicPr>
          <p:cNvPr id="10" name="Image 1" descr="/home/claude/work/icons/FiTarget_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3028" y="194767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93028" y="2404872"/>
            <a:ext cx="50671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del ataque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393028" y="2715768"/>
            <a:ext cx="50671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Técnicas ATT&amp;CK observadas y cronología del incidente.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3611880"/>
            <a:ext cx="5432908" cy="1600200"/>
          </a:xfrm>
          <a:prstGeom prst="roundRect">
            <a:avLst>
              <a:gd name="adj" fmla="val 3429"/>
            </a:avLst>
          </a:prstGeom>
          <a:solidFill>
            <a:srgbClr val="F2F5F6"/>
          </a:solidFill>
          <a:ln/>
        </p:spPr>
      </p:sp>
      <p:pic>
        <p:nvPicPr>
          <p:cNvPr id="14" name="Image 2" descr="/home/claude/work/icons/FiLock_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776472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1520" y="4233672"/>
            <a:ext cx="50671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Contención y erradicación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731520" y="4544568"/>
            <a:ext cx="50671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Acciones tomadas y su justificación técnica.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210148" y="3611880"/>
            <a:ext cx="5432908" cy="1600200"/>
          </a:xfrm>
          <a:prstGeom prst="roundRect">
            <a:avLst>
              <a:gd name="adj" fmla="val 3429"/>
            </a:avLst>
          </a:prstGeom>
          <a:solidFill>
            <a:srgbClr val="F2F5F6"/>
          </a:solidFill>
          <a:ln/>
        </p:spPr>
      </p:sp>
      <p:pic>
        <p:nvPicPr>
          <p:cNvPr id="18" name="Image 3" descr="/home/claude/work/icons/FiCheckCircle_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3028" y="3776472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93028" y="4233672"/>
            <a:ext cx="50671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 aprendidas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393028" y="4544568"/>
            <a:ext cx="50671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Qué control hubiera evitado o acortado el incidente, y cómo se implementa.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48640" y="5166360"/>
            <a:ext cx="11094415" cy="457200"/>
          </a:xfrm>
          <a:prstGeom prst="roundRect">
            <a:avLst>
              <a:gd name="adj" fmla="val 10000"/>
            </a:avLst>
          </a:prstGeom>
          <a:solidFill>
            <a:srgbClr val="EAF6F4"/>
          </a:solidFill>
          <a:ln/>
        </p:spPr>
      </p:sp>
      <p:sp>
        <p:nvSpPr>
          <p:cNvPr id="22" name="Text 16"/>
          <p:cNvSpPr/>
          <p:nvPr/>
        </p:nvSpPr>
        <p:spPr>
          <a:xfrm>
            <a:off x="777240" y="516636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informe ejecutivo se lee de arriba hacia abajo por alguien que no vio los logs — la claridad importa tanto como la precisión técnica.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5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430000" y="65196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200" dirty="0"/>
          </a:p>
        </p:txBody>
      </p:sp>
      <p:pic>
        <p:nvPicPr>
          <p:cNvPr id="3" name="Image 0" descr="/home/claude/work/icons/FiTrendingUp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50292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3774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Tendencias: hacia dónde va la seguridad cloud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37947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 panorama de lo que ya está redefiniendo el trabajo del especialista en seguridad cloud — para que lo reconozcan cuando lo encuentren.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F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196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CSPM a CNAPP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"CSPM evalúa de forma continua la infraestructura cloud contra buenas prácticas" (Sesión 2, con Prowler y CloudSploit) — el mercado ya fue más allá.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45738" cy="2011680"/>
          </a:xfrm>
          <a:prstGeom prst="roundRect">
            <a:avLst>
              <a:gd name="adj" fmla="val 2727"/>
            </a:avLst>
          </a:prstGeom>
          <a:solidFill>
            <a:srgbClr val="F2F5F6"/>
          </a:solidFill>
          <a:ln/>
        </p:spPr>
      </p:sp>
      <p:pic>
        <p:nvPicPr>
          <p:cNvPr id="6" name="Image 0" descr="/home/claude/work/icons/FiSearch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4767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CSPM (lo que ya vimos)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715768"/>
            <a:ext cx="31799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Evalúa la configuración de recursos en reposo: buckets públicos, roles excesivos, cifrado deshabilitado.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2978" y="1783080"/>
            <a:ext cx="3545738" cy="2011680"/>
          </a:xfrm>
          <a:prstGeom prst="roundRect">
            <a:avLst>
              <a:gd name="adj" fmla="val 2727"/>
            </a:avLst>
          </a:prstGeom>
          <a:solidFill>
            <a:srgbClr val="F2F5F6"/>
          </a:solidFill>
          <a:ln/>
        </p:spPr>
      </p:sp>
      <p:pic>
        <p:nvPicPr>
          <p:cNvPr id="10" name="Image 1" descr="/home/claude/work/icons/FiShield_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58" y="194767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05858" y="240487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limitación de CSPM solo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05858" y="2715768"/>
            <a:ext cx="31799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ve qué corre dentro de una carga de trabajo, ni el comportamiento en tiempo real de una identidad.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097317" y="1783080"/>
            <a:ext cx="3545738" cy="2011680"/>
          </a:xfrm>
          <a:prstGeom prst="roundRect">
            <a:avLst>
              <a:gd name="adj" fmla="val 2727"/>
            </a:avLst>
          </a:prstGeom>
          <a:solidFill>
            <a:srgbClr val="F2F5F6"/>
          </a:solidFill>
          <a:ln/>
        </p:spPr>
      </p:sp>
      <p:pic>
        <p:nvPicPr>
          <p:cNvPr id="14" name="Image 2" descr="/home/claude/work/icons/FiLayers_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197" y="1947672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80197" y="240487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respuesta del mercado: CNAPP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280197" y="2715768"/>
            <a:ext cx="31799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Cloud-Native Application Protection Platform: une postura, runtime e identidad en una sola plataforma.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5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430000" y="65196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CNAPP en profundidad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Cuatro siglas que convergen en una sola plataforma.</a:t>
            </a:r>
            <a:endParaRPr lang="en-US" sz="13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120640"/>
                <a:gridCol w="411480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cubre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Pregunta que responde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CSPM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Postura de configuración de la infraestructura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¿Está mal configurado algún recurso?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CWPP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Cloud Workload Protection Platform — VM, contenedores, funciones en ejecución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¿Hay un proceso malicioso corriendo ahora mismo?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CIEM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Cloud Infrastructure Entitlement Management — permisos efectivos de cada identidad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¿Quién tiene, en la práctica, más permisos de los que usa?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DSPM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Data Security Posture Management — dónde vive el dato sensible y quién puede llegar a él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¿Dónde está mi dato crítico y qué tan expuesto está?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57800"/>
            <a:ext cx="11094415" cy="457200"/>
          </a:xfrm>
          <a:prstGeom prst="roundRect">
            <a:avLst>
              <a:gd name="adj" fmla="val 10000"/>
            </a:avLst>
          </a:prstGeom>
          <a:solidFill>
            <a:srgbClr val="EAF6F4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525780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CIEM extiende directamente el RBAC/ABAC de la Sesión 3: en vez de mirar el rol asignado, mira el permiso realmente usado.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5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196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SASE — Secure Access Service Edge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Cuando el perímetro de red de la Sesión 4 se disuelve hacia la nube.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45738" cy="2011680"/>
          </a:xfrm>
          <a:prstGeom prst="roundRect">
            <a:avLst>
              <a:gd name="adj" fmla="val 2727"/>
            </a:avLst>
          </a:prstGeom>
          <a:solidFill>
            <a:srgbClr val="F2F5F6"/>
          </a:solidFill>
          <a:ln/>
        </p:spPr>
      </p:sp>
      <p:pic>
        <p:nvPicPr>
          <p:cNvPr id="6" name="Image 0" descr="/home/claude/work/icons/FiWifi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4767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que resuelve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715768"/>
            <a:ext cx="31799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 usuarios y aplicaciones fuera del datacenter, enrutar todo el tráfico hacia un firewall central ya no escala.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2978" y="1783080"/>
            <a:ext cx="3545738" cy="2011680"/>
          </a:xfrm>
          <a:prstGeom prst="roundRect">
            <a:avLst>
              <a:gd name="adj" fmla="val 2727"/>
            </a:avLst>
          </a:prstGeom>
          <a:solidFill>
            <a:srgbClr val="F2F5F6"/>
          </a:solidFill>
          <a:ln/>
        </p:spPr>
      </p:sp>
      <p:pic>
        <p:nvPicPr>
          <p:cNvPr id="10" name="Image 1" descr="/home/claude/work/icons/FiGlobe_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58" y="194767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05858" y="240487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convergen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05858" y="2715768"/>
            <a:ext cx="31799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SD-WAN + Firewall-as-a-Service + Secure Web Gateway + CASB + Zero Trust Network Access, entregados desde la nube.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097317" y="1783080"/>
            <a:ext cx="3545738" cy="2011680"/>
          </a:xfrm>
          <a:prstGeom prst="roundRect">
            <a:avLst>
              <a:gd name="adj" fmla="val 2727"/>
            </a:avLst>
          </a:prstGeom>
          <a:solidFill>
            <a:srgbClr val="F2F5F6"/>
          </a:solidFill>
          <a:ln/>
        </p:spPr>
      </p:sp>
      <p:pic>
        <p:nvPicPr>
          <p:cNvPr id="14" name="Image 2" descr="/home/claude/work/icons/FiTarget_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197" y="1947672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80197" y="240487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hilo con la Sesión 1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280197" y="2715768"/>
            <a:ext cx="31799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Aplica Zero Trust ("nunca confiar, siempre verificar") al tráfico de red, no solo a la identidad.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5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430000" y="65196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Security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 misma disciplina de seguridad cloud, aplicada a un nuevo tipo de carga de trabajo.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45738" cy="2011680"/>
          </a:xfrm>
          <a:prstGeom prst="roundRect">
            <a:avLst>
              <a:gd name="adj" fmla="val 2727"/>
            </a:avLst>
          </a:prstGeom>
          <a:solidFill>
            <a:srgbClr val="F2F5F6"/>
          </a:solidFill>
          <a:ln/>
        </p:spPr>
      </p:sp>
      <p:pic>
        <p:nvPicPr>
          <p:cNvPr id="6" name="Image 0" descr="/home/claude/work/icons/FiCpu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4767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Superficie de ataque nueva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715768"/>
            <a:ext cx="31799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Prompt injection, envenenamiento de datos de entrenamiento, extracción del modelo, fuga de datos vía respuestas del modelo.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2978" y="1783080"/>
            <a:ext cx="3545738" cy="2011680"/>
          </a:xfrm>
          <a:prstGeom prst="roundRect">
            <a:avLst>
              <a:gd name="adj" fmla="val 2727"/>
            </a:avLst>
          </a:prstGeom>
          <a:solidFill>
            <a:srgbClr val="F2F5F6"/>
          </a:solidFill>
          <a:ln/>
        </p:spPr>
      </p:sp>
      <p:pic>
        <p:nvPicPr>
          <p:cNvPr id="10" name="Image 1" descr="/home/claude/work/icons/FiKey_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58" y="194767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05858" y="240487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cambia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05858" y="2715768"/>
            <a:ext cx="31799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 endpoint de un modelo de IA sigue siendo un recurso cloud: necesita IAM, cifrado, logging y monitoreo como cualquier otro.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097317" y="1783080"/>
            <a:ext cx="3545738" cy="2011680"/>
          </a:xfrm>
          <a:prstGeom prst="roundRect">
            <a:avLst>
              <a:gd name="adj" fmla="val 2727"/>
            </a:avLst>
          </a:prstGeom>
          <a:solidFill>
            <a:srgbClr val="F2F5F6"/>
          </a:solidFill>
          <a:ln/>
        </p:spPr>
      </p:sp>
      <p:pic>
        <p:nvPicPr>
          <p:cNvPr id="14" name="Image 2" descr="/home/claude/work/icons/FiEye_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197" y="1947672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80197" y="240487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específica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280197" y="2715768"/>
            <a:ext cx="31799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Registrar prompts y respuestas para detectar abuso, sin violar la privacidad del dato que procesan.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5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430000" y="65196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Post-Quantum Security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 criptografía asimétrica que protege TLS y las llaves de la Sesión 3 tiene fecha de caducidad.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45738" cy="2011680"/>
          </a:xfrm>
          <a:prstGeom prst="roundRect">
            <a:avLst>
              <a:gd name="adj" fmla="val 2727"/>
            </a:avLst>
          </a:prstGeom>
          <a:solidFill>
            <a:srgbClr val="F2F5F6"/>
          </a:solidFill>
          <a:ln/>
        </p:spPr>
      </p:sp>
      <p:pic>
        <p:nvPicPr>
          <p:cNvPr id="6" name="Image 0" descr="/home/claude/work/icons/FiShieldOff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4767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riesgo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715768"/>
            <a:ext cx="31799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 computador cuántico suficientemente potente podría romper RSA y ECC — los algoritmos detrás del TLS y el cifrado de llave pública actuales.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2978" y="1783080"/>
            <a:ext cx="3545738" cy="2011680"/>
          </a:xfrm>
          <a:prstGeom prst="roundRect">
            <a:avLst>
              <a:gd name="adj" fmla="val 2727"/>
            </a:avLst>
          </a:prstGeom>
          <a:solidFill>
            <a:srgbClr val="F2F5F6"/>
          </a:solidFill>
          <a:ln/>
        </p:spPr>
      </p:sp>
      <p:pic>
        <p:nvPicPr>
          <p:cNvPr id="10" name="Image 1" descr="/home/claude/work/icons/FiClock_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58" y="194767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05858" y="240487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"Cosechar ahora, descifrar después"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05858" y="2715768"/>
            <a:ext cx="31799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Datos cifrados hoy pueden ser interceptados y almacenados para descifrarse cuando esa capacidad exista.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097317" y="1783080"/>
            <a:ext cx="3545738" cy="2011680"/>
          </a:xfrm>
          <a:prstGeom prst="roundRect">
            <a:avLst>
              <a:gd name="adj" fmla="val 2727"/>
            </a:avLst>
          </a:prstGeom>
          <a:solidFill>
            <a:srgbClr val="F2F5F6"/>
          </a:solidFill>
          <a:ln/>
        </p:spPr>
      </p:sp>
      <p:pic>
        <p:nvPicPr>
          <p:cNvPr id="14" name="Image 2" descr="/home/claude/work/icons/FiRefreshCw_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197" y="1947672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80197" y="240487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respuesta: criptografía post-cuántica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280197" y="2715768"/>
            <a:ext cx="31799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Algoritmos ya estandarizados por NIST (ML-KEM, ML-DSA) diseñados para resistir ataques cuánticos.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4114800"/>
            <a:ext cx="11094415" cy="457200"/>
          </a:xfrm>
          <a:prstGeom prst="roundRect">
            <a:avLst>
              <a:gd name="adj" fmla="val 10000"/>
            </a:avLst>
          </a:prstGeom>
          <a:solidFill>
            <a:srgbClr val="EAF6F4"/>
          </a:solidFill>
          <a:ln/>
        </p:spPr>
      </p:sp>
      <p:sp>
        <p:nvSpPr>
          <p:cNvPr id="18" name="Text 13"/>
          <p:cNvSpPr/>
          <p:nvPr/>
        </p:nvSpPr>
        <p:spPr>
          <a:xfrm>
            <a:off x="777240" y="411480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dato clasificado como Restringido (Sesión 3) con vida útil larga es el primero en priorizarse en cualquier plan de migración.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5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430000" y="65196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Native Security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Contenedores, Kubernetes y la cadena de suministro del software.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45738" cy="2011680"/>
          </a:xfrm>
          <a:prstGeom prst="roundRect">
            <a:avLst>
              <a:gd name="adj" fmla="val 2727"/>
            </a:avLst>
          </a:prstGeom>
          <a:solidFill>
            <a:srgbClr val="F2F5F6"/>
          </a:solidFill>
          <a:ln/>
        </p:spPr>
      </p:sp>
      <p:pic>
        <p:nvPicPr>
          <p:cNvPr id="6" name="Image 0" descr="/home/claude/work/icons/FiBox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4767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715768"/>
            <a:ext cx="31799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Escaneo de imágenes por vulnerabilidades antes del despliegue; políticas de admisión que bloquean imágenes no confiables.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2978" y="1783080"/>
            <a:ext cx="3545738" cy="2011680"/>
          </a:xfrm>
          <a:prstGeom prst="roundRect">
            <a:avLst>
              <a:gd name="adj" fmla="val 2727"/>
            </a:avLst>
          </a:prstGeom>
          <a:solidFill>
            <a:srgbClr val="F2F5F6"/>
          </a:solidFill>
          <a:ln/>
        </p:spPr>
      </p:sp>
      <p:pic>
        <p:nvPicPr>
          <p:cNvPr id="10" name="Image 1" descr="/home/claude/work/icons/FiGrid_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58" y="194767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05858" y="240487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05858" y="2715768"/>
            <a:ext cx="31799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RBAC de Kubernetes (distinto del RBAC de Azure), Network Policies para microsegmentar pods, y hardening del control plane.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097317" y="1783080"/>
            <a:ext cx="3545738" cy="2011680"/>
          </a:xfrm>
          <a:prstGeom prst="roundRect">
            <a:avLst>
              <a:gd name="adj" fmla="val 2727"/>
            </a:avLst>
          </a:prstGeom>
          <a:solidFill>
            <a:srgbClr val="F2F5F6"/>
          </a:solidFill>
          <a:ln/>
        </p:spPr>
      </p:sp>
      <p:pic>
        <p:nvPicPr>
          <p:cNvPr id="14" name="Image 2" descr="/home/claude/work/icons/FiPackage_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197" y="1947672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80197" y="240487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de suministro (SBOM)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280197" y="2715768"/>
            <a:ext cx="31799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Software Bill of Materials: inventario verificable de cada dependencia, para responder rápido cuando aparece una vulnerabilidad como Log4Shell.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5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430000" y="65196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bloques de hoy a la operación SecOps completa</a:t>
            </a:r>
            <a:endParaRPr lang="en-US" sz="24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8138160"/>
              </a:tblGrid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 de hoy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Elemento en la operación SecOps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Visibilidad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Log Analytics como fuente única de verdad: Activity Log, Diagnostic Logs, Flow Logs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Detección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MITRE ATT&amp;CK como marco de referencia; SIEM (Sentinel) correlacionando; XDR y SOAR acelerando la respuesta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Respuesta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Playbook ejecutado sobre el escenario de credenciales IAM comprometidas: contención, RCA e informe ejecutivo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Tendencias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CNAPP, SASE, IA Security y Post-Quantum como la evolución natural de todo lo visto en las Sesiones 1-4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430000" y="65196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PUENTE AL LABORATORIO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laboratorio en tres partes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Reactivamos la arquitectura de la Sesión 4, simulamos un incidente real y respondemos con el ciclo visto hoy.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45738" cy="2194560"/>
          </a:xfrm>
          <a:prstGeom prst="roundRect">
            <a:avLst>
              <a:gd name="adj" fmla="val 2500"/>
            </a:avLst>
          </a:prstGeom>
          <a:solidFill>
            <a:srgbClr val="F2F5F6"/>
          </a:solidFill>
          <a:ln/>
        </p:spPr>
      </p:sp>
      <p:pic>
        <p:nvPicPr>
          <p:cNvPr id="6" name="Image 0" descr="/home/claude/work/icons/FiEye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4767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A — Visibilidad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715768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Reactivar las VM de la Sesión 4 (deallocadas al cierre) y habilitar Log Analytics, Diagnostic Settings y Flow Logs sobre toda la arquitectura.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2978" y="1783080"/>
            <a:ext cx="3545738" cy="2194560"/>
          </a:xfrm>
          <a:prstGeom prst="roundRect">
            <a:avLst>
              <a:gd name="adj" fmla="val 2500"/>
            </a:avLst>
          </a:prstGeom>
          <a:solidFill>
            <a:srgbClr val="F2F5F6"/>
          </a:solidFill>
          <a:ln/>
        </p:spPr>
      </p:sp>
      <p:pic>
        <p:nvPicPr>
          <p:cNvPr id="10" name="Image 1" descr="/home/claude/work/icons/FiShield_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858" y="194767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05858" y="240487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B — Detección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05858" y="2715768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Desplegar el WAF + DVWA diferido de la Sesión 4 y detectar, con consultas KQL, el uso anómalo de una credencial de service principal.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097317" y="1783080"/>
            <a:ext cx="3545738" cy="2194560"/>
          </a:xfrm>
          <a:prstGeom prst="roundRect">
            <a:avLst>
              <a:gd name="adj" fmla="val 2500"/>
            </a:avLst>
          </a:prstGeom>
          <a:solidFill>
            <a:srgbClr val="F2F5F6"/>
          </a:solidFill>
          <a:ln/>
        </p:spPr>
      </p:sp>
      <p:pic>
        <p:nvPicPr>
          <p:cNvPr id="14" name="Image 2" descr="/home/claude/work/icons/FiTool_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197" y="1947672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80197" y="2404872"/>
            <a:ext cx="31799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C — Respuesta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280197" y="2715768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Contener el incidente (revocar credenciales, aislar el recurso), documentar el RCA y producir el informe ejecutivo del incidente.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4343400"/>
            <a:ext cx="11094415" cy="457200"/>
          </a:xfrm>
          <a:prstGeom prst="roundRect">
            <a:avLst>
              <a:gd name="adj" fmla="val 10000"/>
            </a:avLst>
          </a:prstGeom>
          <a:solidFill>
            <a:srgbClr val="EAF6F4"/>
          </a:solidFill>
          <a:ln/>
        </p:spPr>
      </p:sp>
      <p:sp>
        <p:nvSpPr>
          <p:cNvPr id="18" name="Text 13"/>
          <p:cNvSpPr/>
          <p:nvPr/>
        </p:nvSpPr>
        <p:spPr>
          <a:xfrm>
            <a:off x="777240" y="434340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completa en el repositorio del curso (GitHub) · Entrega: PDF único vía Google Classroom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5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430000" y="65196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PUENTE AL LABORATORIO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teoría a la práctica</a:t>
            </a:r>
            <a:endParaRPr lang="en-US" sz="24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6126480"/>
              </a:tblGrid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 de la teoría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Práctica en el laboratorio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Logging, Monitoring, Observabilidad (Bloque 1)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Log Analytics workspace + Diagnostic Settings sobre la arquitectura de la Sesión 4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MITRE ATT&amp;CK, SIEM (Bloque 2)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Consultas KQL que mapean el compromiso de credenciales a técnicas ATT&amp;CK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Ciclo de IR, contención (Bloque 3)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Revocación de credenciales, regla NSG de aislamiento y RCA documentado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Informe ejecutivo (Bloque 3)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Entregable final: PDF con análisis, contención y lecciones aprendidas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430000" y="65196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la sesión y cierre del curso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6070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 visibilidad (logging, monitoring, telemetría, observabilidad) es la base sin la cual ninguna detección es posible.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MITRE ATT&amp;CK da vocabulario común; SIEM correlaciona; XDR y SOAR aceleran la respuesta.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Responder a un incidente en la nube es un ciclo: contener sin destruir evidencia, erradicar la causa raíz y documentar lecciones aprendidas.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Las tendencias (CNAPP, SASE, IA Security, Post-Quantum) son la extensión natural de todo lo construido en las Sesiones 1 a 4.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 esta sesión se cierra el recorrido de la especialización: de la responsabilidad compartida a una operación de seguridad cloud completa, de extremo a extremo.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F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5196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 bibliográficas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Lecturas obligatorias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Edwards, J. Cloud Security Fundamentals.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Thompson, G. Certificate of Cloud Security Knowledge (CCSK v5) Official Study Guide.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Lecturas complementarias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Messier, R. Learning Cloud Security: Cloud Computing and Security Architecture Essentials.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Dotson, C. Practical Cloud Security: A Guide for Secure Design and Deployment, 2nd Edition.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Cloud Security Alliance. Top Threats to Cloud Computing 2024.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y documentación técnica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89204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MITRE ATT&amp;CK for Cloud — attack.mitre.org/matrices/enterprise/cloud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Documentación de Azure Monitor, Log Analytics y Microsoft Sentinel — learn.microsoft.com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NIST SP 800-61 — Computer Security Incident Handling Guide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6519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Manuel Alejandro Vargas Rojas · manuelvargasrojas@cedoc.edu.co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96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2026-09-11T20:17:22Z</dcterms:created>
  <dcterms:modified xsi:type="dcterms:W3CDTF">2026-09-11T20:17:22Z</dcterms:modified>
</cp:coreProperties>
</file>