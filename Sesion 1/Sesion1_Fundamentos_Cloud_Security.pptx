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desplazar la </a:t>
            </a: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diapositiva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</a:t>
            </a: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2456EB-70EB-443F-B22B-DC7191D74317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C59BB-FAAE-45FE-9C8D-B4793E4850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FEC82-9756-45C9-A6DF-4D22EFA70B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14E20B-42D4-44D4-B2AE-F9EE0A502C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5BF1F4-7A18-447E-AACF-F102BD8160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C70CC-F67F-4069-9E66-3F803B9946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D981D8-E2B4-4877-BA41-91A3E5E7B4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61F84E-0795-4C94-A18D-4705F24C78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113096-7C27-4741-9B09-B111F7EE1D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92B02-B338-493D-B526-91FD84B97E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A57701-A012-4900-B7A7-844A36FE9F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D4AEF9-1603-4471-89F6-A5FFE44EB5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2FE5FC-DF2B-4342-9E58-34D698E706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E0D7C0-B524-4475-AD28-993F5DB73D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08DEBD-7FF1-4F14-A615-596A7F84C7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51041E-DD72-4634-866D-6057693FD2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75F542-6CAE-429A-92CA-CDB3A23F15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0C4E4B-644B-486F-BAE0-F128D1FB1C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0A725-89DF-43B1-8219-95ED789B56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A5563-E25B-420A-90E6-9D264D2062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325270-5E56-42DB-9443-7C4FACDB24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2C104-40C3-4AC9-B534-3E66CF3512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6CB377-55CD-4E8A-91C8-ED0C1E1ABC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6D9AF-74C0-4C19-A4FB-4860E92818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18976C-E7B6-4DA2-8013-F46FA2A0BD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2E2EA0-BF18-4B3A-85AB-06A7181D86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769558-C35E-4D92-92A3-317594D665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A367D-52FF-4663-83CF-46BD2737B0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23F25F-3FE1-4D82-B105-69BC78D4DE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3797AF-2F1B-4C42-95BB-14B421814C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A7764D-CC53-4F65-B004-D780604C0C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336BA4-09F4-4D21-9267-40E0D5AF04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5218E3-1173-4AF5-B42F-251C1EB1BB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31E239-096B-4457-9833-35225F5D53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7C2A0-A2A4-4A6B-B7FC-01CA9D1116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4F7B83-6A8D-4A8E-8DFB-60F602E9EF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C126B5-6465-4D46-B0B6-A3BB3E82D0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21D38-03DB-4030-BC63-0B33E37DC4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FD0CDD-953E-412D-8895-78A71A5B3C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77EE6B-99F3-4E36-AE61-25BFE79254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del </a:t>
            </a: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de </a:t>
            </a: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2.png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1280160"/>
            <a:ext cx="4754520" cy="475452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424160" y="4206240"/>
            <a:ext cx="2925720" cy="292572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9646920" y="502920"/>
            <a:ext cx="1554120" cy="15541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icons/cloud.png"/>
          <p:cNvPicPr/>
          <p:nvPr/>
        </p:nvPicPr>
        <p:blipFill>
          <a:blip r:embed="rId1"/>
          <a:stretch/>
        </p:blipFill>
        <p:spPr>
          <a:xfrm>
            <a:off x="10019880" y="875880"/>
            <a:ext cx="807840" cy="80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640080" y="6400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EJÉRCITO </a:t>
            </a:r>
            <a:r>
              <a:rPr lang="en-US" sz="1200" b="1" u="none" spc="9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NACIONAL · </a:t>
            </a:r>
            <a:r>
              <a:rPr lang="en-US" sz="1200" b="1" u="none" spc="9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ESCUELA DE </a:t>
            </a:r>
            <a:r>
              <a:rPr lang="en-US" sz="1200" b="1" u="none" spc="9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COMUNICACION</a:t>
            </a:r>
            <a:r>
              <a:rPr lang="en-US" sz="1200" b="1" u="none" spc="9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ES MILITARES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9601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Especialización en Ciberseguridad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40080" y="2286000"/>
            <a:ext cx="8686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Segurid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 en la 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Nube</a:t>
            </a:r>
            <a:endParaRPr lang="es-CO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40080" y="3200400"/>
            <a:ext cx="8869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Sesión 1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·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Fundam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entos de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Cloud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Computi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ng,</a:t>
            </a:r>
            <a:endParaRPr lang="es-CO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Respons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abilidad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Compart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ida y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Principi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os de 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Segurida</a:t>
            </a:r>
            <a:r>
              <a:rPr lang="en-US" sz="2200" b="0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d</a:t>
            </a:r>
            <a:endParaRPr lang="es-CO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658080" y="4434840"/>
            <a:ext cx="2926080" cy="360"/>
          </a:xfrm>
          <a:prstGeom prst="line">
            <a:avLst/>
          </a:prstGeom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640080" y="46634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Instructor: </a:t>
            </a:r>
            <a:r>
              <a:rPr lang="en-US" sz="13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Manuel Alejandro Vargas Rojas - </a:t>
            </a: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manuelvargasrojas@cedoc.edu.co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640080" y="50292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Bloque teórico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8412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Objetivos y agenda de la </a:t>
            </a: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sesión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93276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Al finalizar la sesión, el </a:t>
            </a: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estudiante aplicará el modelo de </a:t>
            </a: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responsabilidad compartida y los </a:t>
            </a: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principios Zero Trust, Least </a:t>
            </a: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Privilege y Defense in Depth en </a:t>
            </a: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el diseño de una arquitectura </a:t>
            </a: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cloud.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48640" y="1600200"/>
            <a:ext cx="521172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731520" y="17283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417320" y="171900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Fundamentos de Cloud Computing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417320" y="205740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Definición, características, modelos de despliegue y de servicio (IaaS/PaaS/SaaS).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6035040" y="1600200"/>
            <a:ext cx="521172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6217920" y="17283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6903720" y="171900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Responsabilidad compartida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903720" y="205740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Concepto, matriz de 7 capas, ejemplos en Azure e implicaciones para SecOps.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48640" y="2953440"/>
            <a:ext cx="521172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731520" y="30816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1417320" y="307224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Amenazas y gestión de riesgos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417320" y="341064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Top Threats CSA 2024 y conceptos base de gestión de riesgos (puente a Sesión 2).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6035040" y="2953440"/>
            <a:ext cx="521172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6217920" y="30816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6903720" y="307224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Principios de seguridad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6903720" y="341064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Least Privilege, Defense in Depth y Zero Trust (principios, pilares y arquitectura).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548640" y="4306680"/>
            <a:ext cx="521172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731520" y="44348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417320" y="442584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417320" y="476388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Fundamentos, DFD, metodología STRIDE y enfoque OWASP con Threat Dragon.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6035040" y="4306680"/>
            <a:ext cx="5211720" cy="1206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6217920" y="44348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6903720" y="442584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Laboratorio guiado en Azure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6903720" y="4763880"/>
            <a:ext cx="416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Diagrama de responsabilidad compartida, modelo de amenazas y Managed Identity.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APERTURA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Objetivos de aprendizaje y laboratorio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48640" y="1371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Objetivos de la sesión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548640" y="1783080"/>
            <a:ext cx="383760" cy="383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548640" y="1783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1097280" y="173736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Delimitar responsabilidades de seguridad entre proveedor y cliente según el modelo de servicio (IaaS/PaaS/SaaS).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548640" y="2441520"/>
            <a:ext cx="383760" cy="383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54864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1097280" y="239580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Reconocer el panorama de amenazas actuales en la nube (CSA Top Threats 2024).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548640" y="3099960"/>
            <a:ext cx="383760" cy="383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548640" y="3099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1097280" y="305424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Aplicar los principios de Least Privilege, Defense in Depth y Zero Trust en el diseño de una arquitectura cloud.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548640" y="3758040"/>
            <a:ext cx="383760" cy="383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548640" y="3758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1097280" y="371232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Ejecutar un ejercicio de threat modeling usando la metodología STRIDE y el enfoque OWASP.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548640" y="4416480"/>
            <a:ext cx="383760" cy="3837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548640" y="4416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1097280" y="437076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Diagramar el modelo de responsabilidad compartida y configurar una Managed Identity funcional.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6720840" y="1371600"/>
            <a:ext cx="4891680" cy="4708800"/>
          </a:xfrm>
          <a:prstGeom prst="roundRect">
            <a:avLst>
              <a:gd name="adj" fmla="val 1942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6995160" y="1645920"/>
            <a:ext cx="776880" cy="7768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/home/claude/icons/server.png"/>
          <p:cNvPicPr/>
          <p:nvPr/>
        </p:nvPicPr>
        <p:blipFill>
          <a:blip r:embed="rId1"/>
          <a:stretch/>
        </p:blipFill>
        <p:spPr>
          <a:xfrm>
            <a:off x="7181640" y="1832400"/>
            <a:ext cx="403920" cy="4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20"/>
          <p:cNvSpPr/>
          <p:nvPr/>
        </p:nvSpPr>
        <p:spPr>
          <a:xfrm>
            <a:off x="7955280" y="17006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Laboratorio guiado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7955280" y="19933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Trabajo colaborativo en Azure</a:t>
            </a:r>
            <a:endParaRPr lang="es-CO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6995160" y="269748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1" descr="/home/claude/icons/layers.png"/>
          <p:cNvPicPr/>
          <p:nvPr/>
        </p:nvPicPr>
        <p:blipFill>
          <a:blip r:embed="rId2"/>
          <a:stretch/>
        </p:blipFill>
        <p:spPr>
          <a:xfrm>
            <a:off x="7113960" y="28162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3"/>
          <p:cNvSpPr/>
          <p:nvPr/>
        </p:nvSpPr>
        <p:spPr>
          <a:xfrm>
            <a:off x="7680960" y="267912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Diagrama de responsabilidad compartida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7680960" y="300852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Construido para el entorno cloud asignado.</a:t>
            </a:r>
            <a:endParaRPr lang="es-CO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6995160" y="374904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2" descr="/home/claude/icons/branch.png"/>
          <p:cNvPicPr/>
          <p:nvPr/>
        </p:nvPicPr>
        <p:blipFill>
          <a:blip r:embed="rId3"/>
          <a:stretch/>
        </p:blipFill>
        <p:spPr>
          <a:xfrm>
            <a:off x="7113960" y="38678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6"/>
          <p:cNvSpPr/>
          <p:nvPr/>
        </p:nvSpPr>
        <p:spPr>
          <a:xfrm>
            <a:off x="7680960" y="373068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Modelo de amenazas con OWASP Threat Dragon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7680960" y="406008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Aplicando STRIDE al flujo de la aplicación del laboratorio.</a:t>
            </a:r>
            <a:endParaRPr lang="es-CO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8"/>
          <p:cNvSpPr/>
          <p:nvPr/>
        </p:nvSpPr>
        <p:spPr>
          <a:xfrm>
            <a:off x="6995160" y="480060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3" descr="/home/claude/icons/key.png"/>
          <p:cNvPicPr/>
          <p:nvPr/>
        </p:nvPicPr>
        <p:blipFill>
          <a:blip r:embed="rId4"/>
          <a:stretch/>
        </p:blipFill>
        <p:spPr>
          <a:xfrm>
            <a:off x="7113960" y="491940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9"/>
          <p:cNvSpPr/>
          <p:nvPr/>
        </p:nvSpPr>
        <p:spPr>
          <a:xfrm>
            <a:off x="7680960" y="478224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Managed Identity funcional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7680960" y="511164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Integrando 2 componentes cloud sin credenciales embebidas.</a:t>
            </a:r>
            <a:endParaRPr lang="es-CO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6995160" y="571500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Evaluación: 20 % de la nota final del módulo</a:t>
            </a:r>
            <a:endParaRPr lang="es-CO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3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FUNDAMENTOS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¿Qué es la computación en la nube?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548640" y="1371600"/>
            <a:ext cx="4845960" cy="4754520"/>
          </a:xfrm>
          <a:prstGeom prst="roundRect">
            <a:avLst>
              <a:gd name="adj" fmla="val 1923"/>
            </a:avLst>
          </a:prstGeom>
          <a:solidFill>
            <a:srgbClr val="0B20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868680" y="1691640"/>
            <a:ext cx="822600" cy="8226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/home/claude/icons/cloud.png"/>
          <p:cNvPicPr/>
          <p:nvPr/>
        </p:nvPicPr>
        <p:blipFill>
          <a:blip r:embed="rId1"/>
          <a:stretch/>
        </p:blipFill>
        <p:spPr>
          <a:xfrm>
            <a:off x="1066320" y="188928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1874520" y="173736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Definición (NIST SP 800-145)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868680" y="2697480"/>
            <a:ext cx="42058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Modelo que permite acceso ubicuo, conveniente y bajo demanda a un conjunto compartido de recursos informáticos configurables (redes, servidores, almacenamiento, aplicaciones y servicios), que pueden aprovisionarse y liberarse rápidamente con mínimo esfuerzo de gestión o interacción del proveedor.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5669280" y="1371600"/>
            <a:ext cx="502560" cy="5025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1" descr="/home/claude/icons/grid.png"/>
          <p:cNvPicPr/>
          <p:nvPr/>
        </p:nvPicPr>
        <p:blipFill>
          <a:blip r:embed="rId2"/>
          <a:stretch/>
        </p:blipFill>
        <p:spPr>
          <a:xfrm>
            <a:off x="5779080" y="148140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7"/>
          <p:cNvSpPr/>
          <p:nvPr/>
        </p:nvSpPr>
        <p:spPr>
          <a:xfrm>
            <a:off x="6355080" y="135324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Autoservicio bajo demanda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6355080" y="16459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El usuario aprovisiona recursos sin intervención humana del proveedor.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5669280" y="2304360"/>
            <a:ext cx="502560" cy="5025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2" descr="/home/claude/icons/layers.png"/>
          <p:cNvPicPr/>
          <p:nvPr/>
        </p:nvPicPr>
        <p:blipFill>
          <a:blip r:embed="rId3"/>
          <a:stretch/>
        </p:blipFill>
        <p:spPr>
          <a:xfrm>
            <a:off x="5779080" y="241416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0"/>
          <p:cNvSpPr/>
          <p:nvPr/>
        </p:nvSpPr>
        <p:spPr>
          <a:xfrm>
            <a:off x="6355080" y="22860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Amplio acceso a la red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6355080" y="25786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Disponible a través de la red mediante mecanismos estándar.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5669280" y="3237120"/>
            <a:ext cx="502560" cy="5025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3" descr="/home/claude/icons/database.png"/>
          <p:cNvPicPr/>
          <p:nvPr/>
        </p:nvPicPr>
        <p:blipFill>
          <a:blip r:embed="rId4"/>
          <a:stretch/>
        </p:blipFill>
        <p:spPr>
          <a:xfrm>
            <a:off x="5779080" y="334656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3"/>
          <p:cNvSpPr/>
          <p:nvPr/>
        </p:nvSpPr>
        <p:spPr>
          <a:xfrm>
            <a:off x="6355080" y="321876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Agrupación de recursos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355080" y="351144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Recursos compartidos dinámicamente entre múltiples consumidores (multi-tenant).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5669280" y="4169520"/>
            <a:ext cx="502560" cy="5025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4" descr="/home/claude/icons/target.png"/>
          <p:cNvPicPr/>
          <p:nvPr/>
        </p:nvPicPr>
        <p:blipFill>
          <a:blip r:embed="rId5"/>
          <a:stretch/>
        </p:blipFill>
        <p:spPr>
          <a:xfrm>
            <a:off x="5779080" y="427932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6"/>
          <p:cNvSpPr/>
          <p:nvPr/>
        </p:nvSpPr>
        <p:spPr>
          <a:xfrm>
            <a:off x="6355080" y="415152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Elasticidad rápida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6355080" y="444384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Los recursos escalan hacia arriba o abajo según la demanda.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5669280" y="5102280"/>
            <a:ext cx="502560" cy="5025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5" descr="/home/claude/icons/eye.png"/>
          <p:cNvPicPr/>
          <p:nvPr/>
        </p:nvPicPr>
        <p:blipFill>
          <a:blip r:embed="rId6"/>
          <a:stretch/>
        </p:blipFill>
        <p:spPr>
          <a:xfrm>
            <a:off x="5779080" y="521208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9"/>
          <p:cNvSpPr/>
          <p:nvPr/>
        </p:nvSpPr>
        <p:spPr>
          <a:xfrm>
            <a:off x="6355080" y="508392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Servicio medido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6355080" y="537660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Uso monitoreado, controlado y reportado con transparencia.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FUNDAMENTOS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Modelos de despliegue en la nube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548640" y="1508760"/>
            <a:ext cx="2605680" cy="429732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1440360" y="1828800"/>
            <a:ext cx="822600" cy="8226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/home/claude/icons/cloud.png"/>
          <p:cNvPicPr/>
          <p:nvPr/>
        </p:nvPicPr>
        <p:blipFill>
          <a:blip r:embed="rId1"/>
          <a:stretch/>
        </p:blipFill>
        <p:spPr>
          <a:xfrm>
            <a:off x="1637640" y="202644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4"/>
          <p:cNvSpPr/>
          <p:nvPr/>
        </p:nvSpPr>
        <p:spPr>
          <a:xfrm>
            <a:off x="685800" y="2880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Nube pública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731520" y="3474720"/>
            <a:ext cx="22399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Infraestructura de propiedad y operación de un proveedor externo (AWS, Azure, GCP), compartida entre múltiples organizaciones.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3355920" y="1508760"/>
            <a:ext cx="2605680" cy="429732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4247280" y="1828800"/>
            <a:ext cx="822600" cy="8226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1" descr="/home/claude/icons/lock.png"/>
          <p:cNvPicPr/>
          <p:nvPr/>
        </p:nvPicPr>
        <p:blipFill>
          <a:blip r:embed="rId2"/>
          <a:stretch/>
        </p:blipFill>
        <p:spPr>
          <a:xfrm>
            <a:off x="4444920" y="202644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8"/>
          <p:cNvSpPr/>
          <p:nvPr/>
        </p:nvSpPr>
        <p:spPr>
          <a:xfrm>
            <a:off x="3493080" y="2880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Nube privada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3538800" y="3474720"/>
            <a:ext cx="22399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Infraestructura dedicada a una sola organización, operada internamente o por un tercero, on-premises o alojada.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6163200" y="1508760"/>
            <a:ext cx="2605680" cy="429732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7054560" y="1828800"/>
            <a:ext cx="822600" cy="8226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2" descr="/home/claude/icons/layers.png"/>
          <p:cNvPicPr/>
          <p:nvPr/>
        </p:nvPicPr>
        <p:blipFill>
          <a:blip r:embed="rId3"/>
          <a:stretch/>
        </p:blipFill>
        <p:spPr>
          <a:xfrm>
            <a:off x="7252200" y="202644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2"/>
          <p:cNvSpPr/>
          <p:nvPr/>
        </p:nvSpPr>
        <p:spPr>
          <a:xfrm>
            <a:off x="6300360" y="2880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Nube híbrida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6346080" y="3474720"/>
            <a:ext cx="22399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Combina nube pública y privada, con portabilidad de datos y aplicaciones entre ambos entornos.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4"/>
          <p:cNvSpPr/>
          <p:nvPr/>
        </p:nvSpPr>
        <p:spPr>
          <a:xfrm>
            <a:off x="8970120" y="1508760"/>
            <a:ext cx="2605680" cy="429732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5"/>
          <p:cNvSpPr/>
          <p:nvPr/>
        </p:nvSpPr>
        <p:spPr>
          <a:xfrm>
            <a:off x="9861840" y="1828800"/>
            <a:ext cx="822600" cy="8226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3" descr="/home/claude/icons/users.png"/>
          <p:cNvPicPr/>
          <p:nvPr/>
        </p:nvPicPr>
        <p:blipFill>
          <a:blip r:embed="rId4"/>
          <a:stretch/>
        </p:blipFill>
        <p:spPr>
          <a:xfrm>
            <a:off x="10059480" y="202644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6"/>
          <p:cNvSpPr/>
          <p:nvPr/>
        </p:nvSpPr>
        <p:spPr>
          <a:xfrm>
            <a:off x="9107280" y="2880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Nube comunitaria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9153000" y="3474720"/>
            <a:ext cx="22399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Infraestructura compartida por varias organizaciones con intereses o requisitos comunes (cumplimiento, misión).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FUNDAMENTOS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Modelos de servicio: IaaS, PaaS y SaaS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48640" y="10972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 mayor abstracción del servicio, mayor es la porción de seguridad que asume el proveedor — y menor el control directo del cliente.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548640" y="1783080"/>
            <a:ext cx="3291480" cy="105120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777240" y="18561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IaaS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777240" y="23317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 as a Service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548640" y="2999160"/>
            <a:ext cx="4937400" cy="105120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777240" y="307224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PaaS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777240" y="35478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Platform as a Service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548640" y="4215240"/>
            <a:ext cx="6583320" cy="105120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777240" y="42886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SaaS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777240" y="476388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Software as a Service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7315200" y="176472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Cómputo, almacenamiento y red virtualizados. El proveedor asegura la infraestructura física; el cliente gestiona SO, parches, red y datos.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7315200" y="24415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Azure VM · AWS EC2 · GCE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7315200" y="298080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Entorno de ejecución gestionado (SO, middleware, runtime). El cliente se enfoca en el código de la aplicación y los datos.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7315200" y="36576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Azure App Service · AWS Lambda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7315200" y="419724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Aplicación completamente gestionada. El cliente administra usuarios, accesos y configuración de datos.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7315200" y="48736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Microsoft 365 · Salesforce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RESPONSABILIDAD COMPARTIDA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El modelo de responsabilidad compartida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48640" y="1188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Delimita las obligaciones de seguridad entre el proveedor cloud (CSP) y el cliente. No es un principio abstracto: es un conjunto de controles operativos concretos que deben mapearse a activos reales.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548640" y="1965960"/>
            <a:ext cx="5120280" cy="4114440"/>
          </a:xfrm>
          <a:prstGeom prst="roundRect">
            <a:avLst>
              <a:gd name="adj" fmla="val 2222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822960" y="2240280"/>
            <a:ext cx="639720" cy="639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/home/claude/icons/server.png"/>
          <p:cNvPicPr/>
          <p:nvPr/>
        </p:nvPicPr>
        <p:blipFill>
          <a:blip r:embed="rId1"/>
          <a:stretch/>
        </p:blipFill>
        <p:spPr>
          <a:xfrm>
            <a:off x="976680" y="23940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5"/>
          <p:cNvSpPr/>
          <p:nvPr/>
        </p:nvSpPr>
        <p:spPr>
          <a:xfrm>
            <a:off x="1600200" y="23133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Seguridad DE la nube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1600200" y="26517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Proveedor (CSP)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868680" y="3200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•  Instalaciones físicas y hardware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868680" y="3703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•  Virtualización e hipervisor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868680" y="4206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•  Red troncal y disponibilidad regional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868680" y="4709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•  Continuidad y resiliencia de la plataforma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6172200" y="1965960"/>
            <a:ext cx="5120280" cy="4114440"/>
          </a:xfrm>
          <a:prstGeom prst="roundRect">
            <a:avLst>
              <a:gd name="adj" fmla="val 2222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6446520" y="2240280"/>
            <a:ext cx="639720" cy="639720"/>
          </a:xfrm>
          <a:prstGeom prst="ellipse">
            <a:avLst/>
          </a:prstGeom>
          <a:solidFill>
            <a:srgbClr val="0B20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1" descr="/home/claude/icons/usercheck.png"/>
          <p:cNvPicPr/>
          <p:nvPr/>
        </p:nvPicPr>
        <p:blipFill>
          <a:blip r:embed="rId2"/>
          <a:stretch/>
        </p:blipFill>
        <p:spPr>
          <a:xfrm>
            <a:off x="6600240" y="23940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3"/>
          <p:cNvSpPr/>
          <p:nvPr/>
        </p:nvSpPr>
        <p:spPr>
          <a:xfrm>
            <a:off x="7223760" y="231336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Seguridad EN la nube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4"/>
          <p:cNvSpPr/>
          <p:nvPr/>
        </p:nvSpPr>
        <p:spPr>
          <a:xfrm>
            <a:off x="7223760" y="26517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0B2027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6492240" y="3200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Configuración de SO, red y almacenamiento (IaaS)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6492240" y="3703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Seguridad de la aplicación y del código (PaaS/SaaS)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6492240" y="4206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Gestión de identidad y accesos (IAM)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6492240" y="4709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Clasificación, cifrado y gobierno del dato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RESPONSABILIDAD COMPARTIDA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El problema que resuelve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548640" y="1234440"/>
            <a:ext cx="10698120" cy="776880"/>
          </a:xfrm>
          <a:prstGeom prst="roundRect">
            <a:avLst>
              <a:gd name="adj" fmla="val 9412"/>
            </a:avLst>
          </a:prstGeom>
          <a:solidFill>
            <a:srgbClr val="FCE9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822960" y="123444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i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Pregunta: si una VM en Azure es comprometida por un parche faltante del sistema operativo, ¿de quién es la culpa?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548640" y="2240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On-premises: todo es responsabilidad tuya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548640" y="2697480"/>
            <a:ext cx="5120280" cy="45684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548640" y="26974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548640" y="3264480"/>
            <a:ext cx="5120280" cy="45684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548640" y="32644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Aplicación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548640" y="3831480"/>
            <a:ext cx="5120280" cy="45684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548640" y="38314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operativo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548640" y="4398120"/>
            <a:ext cx="5120280" cy="45684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548640" y="43981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Hipervisor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548640" y="4965120"/>
            <a:ext cx="5120280" cy="45684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548640" y="49651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Hardware físico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6126480" y="2240280"/>
            <a:ext cx="5486040" cy="3977280"/>
          </a:xfrm>
          <a:prstGeom prst="roundRect">
            <a:avLst>
              <a:gd name="adj" fmla="val 2299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6355080" y="242316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Al migrar a la nube, el proveedor asume progresivamente capas de esa pila…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6355080" y="310896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…pero NUNCA todas: siempre queda una porción a cargo del cliente.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6355080" y="3840480"/>
            <a:ext cx="411120" cy="4111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/home/claude/icons/shield.png"/>
          <p:cNvPicPr/>
          <p:nvPr/>
        </p:nvPicPr>
        <p:blipFill>
          <a:blip r:embed="rId1"/>
          <a:stretch/>
        </p:blipFill>
        <p:spPr>
          <a:xfrm>
            <a:off x="6446520" y="39319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19"/>
          <p:cNvSpPr/>
          <p:nvPr/>
        </p:nvSpPr>
        <p:spPr>
          <a:xfrm>
            <a:off x="6903720" y="38588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>
            <a:off x="6355080" y="4407480"/>
            <a:ext cx="411120" cy="4111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1" descr="/home/claude/icons/shield.png"/>
          <p:cNvPicPr/>
          <p:nvPr/>
        </p:nvPicPr>
        <p:blipFill>
          <a:blip r:embed="rId2"/>
          <a:stretch/>
        </p:blipFill>
        <p:spPr>
          <a:xfrm>
            <a:off x="6446520" y="44989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21"/>
          <p:cNvSpPr/>
          <p:nvPr/>
        </p:nvSpPr>
        <p:spPr>
          <a:xfrm>
            <a:off x="6903720" y="44258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Identidades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6355080" y="4974480"/>
            <a:ext cx="411120" cy="4111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2" descr="/home/claude/icons/shield.png"/>
          <p:cNvPicPr/>
          <p:nvPr/>
        </p:nvPicPr>
        <p:blipFill>
          <a:blip r:embed="rId3"/>
          <a:stretch/>
        </p:blipFill>
        <p:spPr>
          <a:xfrm>
            <a:off x="6446520" y="50659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23"/>
          <p:cNvSpPr/>
          <p:nvPr/>
        </p:nvSpPr>
        <p:spPr>
          <a:xfrm>
            <a:off x="6903720" y="49924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Aplicación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4"/>
          <p:cNvSpPr/>
          <p:nvPr/>
        </p:nvSpPr>
        <p:spPr>
          <a:xfrm>
            <a:off x="6355080" y="5541120"/>
            <a:ext cx="411120" cy="4111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3" descr="/home/claude/icons/shield.png"/>
          <p:cNvPicPr/>
          <p:nvPr/>
        </p:nvPicPr>
        <p:blipFill>
          <a:blip r:embed="rId4"/>
          <a:stretch/>
        </p:blipFill>
        <p:spPr>
          <a:xfrm>
            <a:off x="6446520" y="56325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5"/>
          <p:cNvSpPr/>
          <p:nvPr/>
        </p:nvSpPr>
        <p:spPr>
          <a:xfrm>
            <a:off x="6903720" y="55594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Red (configuración)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RESPONSABILIDAD COMPARTIDA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48640" y="50292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La matriz On-prem / IaaS / PaaS / SaaS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548640" y="107892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Mensaje clave: los datos, las identidades y los endpoints son SIEMPRE responsabilidad del cliente, sin importar el modelo.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548640" y="1508760"/>
            <a:ext cx="292572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3474720" y="1508760"/>
            <a:ext cx="188316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3474720" y="15087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On-prem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5394960" y="1508760"/>
            <a:ext cx="188316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5394960" y="15087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IaaS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7315200" y="1508760"/>
            <a:ext cx="188316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7315200" y="15087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PaaS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9235440" y="1508760"/>
            <a:ext cx="188316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9235440" y="15087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SaaS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548640" y="1965960"/>
            <a:ext cx="2925720" cy="45684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68580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Datos e información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3474720" y="196596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3474720" y="19659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5394960" y="196596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7"/>
          <p:cNvSpPr/>
          <p:nvPr/>
        </p:nvSpPr>
        <p:spPr>
          <a:xfrm>
            <a:off x="5394960" y="19659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8"/>
          <p:cNvSpPr/>
          <p:nvPr/>
        </p:nvSpPr>
        <p:spPr>
          <a:xfrm>
            <a:off x="7315200" y="196596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7315200" y="19659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0"/>
          <p:cNvSpPr/>
          <p:nvPr/>
        </p:nvSpPr>
        <p:spPr>
          <a:xfrm>
            <a:off x="9235440" y="196596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9235440" y="19659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2"/>
          <p:cNvSpPr/>
          <p:nvPr/>
        </p:nvSpPr>
        <p:spPr>
          <a:xfrm>
            <a:off x="548640" y="2450520"/>
            <a:ext cx="292572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3"/>
          <p:cNvSpPr/>
          <p:nvPr/>
        </p:nvSpPr>
        <p:spPr>
          <a:xfrm>
            <a:off x="685800" y="2450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Cuentas e identidades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4"/>
          <p:cNvSpPr/>
          <p:nvPr/>
        </p:nvSpPr>
        <p:spPr>
          <a:xfrm>
            <a:off x="3474720" y="245052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5"/>
          <p:cNvSpPr/>
          <p:nvPr/>
        </p:nvSpPr>
        <p:spPr>
          <a:xfrm>
            <a:off x="3474720" y="24505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6"/>
          <p:cNvSpPr/>
          <p:nvPr/>
        </p:nvSpPr>
        <p:spPr>
          <a:xfrm>
            <a:off x="5394960" y="245052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7"/>
          <p:cNvSpPr/>
          <p:nvPr/>
        </p:nvSpPr>
        <p:spPr>
          <a:xfrm>
            <a:off x="5394960" y="24505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8"/>
          <p:cNvSpPr/>
          <p:nvPr/>
        </p:nvSpPr>
        <p:spPr>
          <a:xfrm>
            <a:off x="7315200" y="245052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9"/>
          <p:cNvSpPr/>
          <p:nvPr/>
        </p:nvSpPr>
        <p:spPr>
          <a:xfrm>
            <a:off x="7315200" y="24505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9235440" y="245052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1"/>
          <p:cNvSpPr/>
          <p:nvPr/>
        </p:nvSpPr>
        <p:spPr>
          <a:xfrm>
            <a:off x="9235440" y="24505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2"/>
          <p:cNvSpPr/>
          <p:nvPr/>
        </p:nvSpPr>
        <p:spPr>
          <a:xfrm>
            <a:off x="548640" y="2935080"/>
            <a:ext cx="2925720" cy="45684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3"/>
          <p:cNvSpPr/>
          <p:nvPr/>
        </p:nvSpPr>
        <p:spPr>
          <a:xfrm>
            <a:off x="685800" y="2935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Dispositivos (endpoints)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4"/>
          <p:cNvSpPr/>
          <p:nvPr/>
        </p:nvSpPr>
        <p:spPr>
          <a:xfrm>
            <a:off x="3474720" y="293508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5"/>
          <p:cNvSpPr/>
          <p:nvPr/>
        </p:nvSpPr>
        <p:spPr>
          <a:xfrm>
            <a:off x="3474720" y="29350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6"/>
          <p:cNvSpPr/>
          <p:nvPr/>
        </p:nvSpPr>
        <p:spPr>
          <a:xfrm>
            <a:off x="5394960" y="293508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7"/>
          <p:cNvSpPr/>
          <p:nvPr/>
        </p:nvSpPr>
        <p:spPr>
          <a:xfrm>
            <a:off x="5394960" y="29350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8"/>
          <p:cNvSpPr/>
          <p:nvPr/>
        </p:nvSpPr>
        <p:spPr>
          <a:xfrm>
            <a:off x="7315200" y="293508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9"/>
          <p:cNvSpPr/>
          <p:nvPr/>
        </p:nvSpPr>
        <p:spPr>
          <a:xfrm>
            <a:off x="7315200" y="29350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0"/>
          <p:cNvSpPr/>
          <p:nvPr/>
        </p:nvSpPr>
        <p:spPr>
          <a:xfrm>
            <a:off x="9235440" y="293508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1"/>
          <p:cNvSpPr/>
          <p:nvPr/>
        </p:nvSpPr>
        <p:spPr>
          <a:xfrm>
            <a:off x="9235440" y="29350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2"/>
          <p:cNvSpPr/>
          <p:nvPr/>
        </p:nvSpPr>
        <p:spPr>
          <a:xfrm>
            <a:off x="548640" y="3420000"/>
            <a:ext cx="292572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3"/>
          <p:cNvSpPr/>
          <p:nvPr/>
        </p:nvSpPr>
        <p:spPr>
          <a:xfrm>
            <a:off x="685800" y="34200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Aplicación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4"/>
          <p:cNvSpPr/>
          <p:nvPr/>
        </p:nvSpPr>
        <p:spPr>
          <a:xfrm>
            <a:off x="3474720" y="342000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5"/>
          <p:cNvSpPr/>
          <p:nvPr/>
        </p:nvSpPr>
        <p:spPr>
          <a:xfrm>
            <a:off x="3474720" y="342000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6"/>
          <p:cNvSpPr/>
          <p:nvPr/>
        </p:nvSpPr>
        <p:spPr>
          <a:xfrm>
            <a:off x="5394960" y="342000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7"/>
          <p:cNvSpPr/>
          <p:nvPr/>
        </p:nvSpPr>
        <p:spPr>
          <a:xfrm>
            <a:off x="5394960" y="342000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8"/>
          <p:cNvSpPr/>
          <p:nvPr/>
        </p:nvSpPr>
        <p:spPr>
          <a:xfrm>
            <a:off x="7315200" y="3420000"/>
            <a:ext cx="1883160" cy="456840"/>
          </a:xfrm>
          <a:prstGeom prst="rect">
            <a:avLst/>
          </a:prstGeom>
          <a:solidFill>
            <a:srgbClr val="FCEF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9"/>
          <p:cNvSpPr/>
          <p:nvPr/>
        </p:nvSpPr>
        <p:spPr>
          <a:xfrm>
            <a:off x="7315200" y="342000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8722A"/>
                </a:solidFill>
                <a:effectLst/>
                <a:uFillTx/>
                <a:latin typeface="Calibri"/>
                <a:ea typeface="Calibri"/>
              </a:rPr>
              <a:t>Compartida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0"/>
          <p:cNvSpPr/>
          <p:nvPr/>
        </p:nvSpPr>
        <p:spPr>
          <a:xfrm>
            <a:off x="9235440" y="342000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1"/>
          <p:cNvSpPr/>
          <p:nvPr/>
        </p:nvSpPr>
        <p:spPr>
          <a:xfrm>
            <a:off x="9235440" y="342000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2"/>
          <p:cNvSpPr/>
          <p:nvPr/>
        </p:nvSpPr>
        <p:spPr>
          <a:xfrm>
            <a:off x="548640" y="3904560"/>
            <a:ext cx="2925720" cy="45684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3"/>
          <p:cNvSpPr/>
          <p:nvPr/>
        </p:nvSpPr>
        <p:spPr>
          <a:xfrm>
            <a:off x="685800" y="39045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Controles de red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4"/>
          <p:cNvSpPr/>
          <p:nvPr/>
        </p:nvSpPr>
        <p:spPr>
          <a:xfrm>
            <a:off x="3474720" y="390456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55"/>
          <p:cNvSpPr/>
          <p:nvPr/>
        </p:nvSpPr>
        <p:spPr>
          <a:xfrm>
            <a:off x="3474720" y="39045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56"/>
          <p:cNvSpPr/>
          <p:nvPr/>
        </p:nvSpPr>
        <p:spPr>
          <a:xfrm>
            <a:off x="5394960" y="390456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7"/>
          <p:cNvSpPr/>
          <p:nvPr/>
        </p:nvSpPr>
        <p:spPr>
          <a:xfrm>
            <a:off x="5394960" y="39045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58"/>
          <p:cNvSpPr/>
          <p:nvPr/>
        </p:nvSpPr>
        <p:spPr>
          <a:xfrm>
            <a:off x="7315200" y="3904560"/>
            <a:ext cx="1883160" cy="456840"/>
          </a:xfrm>
          <a:prstGeom prst="rect">
            <a:avLst/>
          </a:prstGeom>
          <a:solidFill>
            <a:srgbClr val="FCEFD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9"/>
          <p:cNvSpPr/>
          <p:nvPr/>
        </p:nvSpPr>
        <p:spPr>
          <a:xfrm>
            <a:off x="7315200" y="39045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8722A"/>
                </a:solidFill>
                <a:effectLst/>
                <a:uFillTx/>
                <a:latin typeface="Calibri"/>
                <a:ea typeface="Calibri"/>
              </a:rPr>
              <a:t>Compartida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60"/>
          <p:cNvSpPr/>
          <p:nvPr/>
        </p:nvSpPr>
        <p:spPr>
          <a:xfrm>
            <a:off x="9235440" y="390456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1"/>
          <p:cNvSpPr/>
          <p:nvPr/>
        </p:nvSpPr>
        <p:spPr>
          <a:xfrm>
            <a:off x="9235440" y="390456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2"/>
          <p:cNvSpPr/>
          <p:nvPr/>
        </p:nvSpPr>
        <p:spPr>
          <a:xfrm>
            <a:off x="548640" y="4389120"/>
            <a:ext cx="292572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3"/>
          <p:cNvSpPr/>
          <p:nvPr/>
        </p:nvSpPr>
        <p:spPr>
          <a:xfrm>
            <a:off x="685800" y="43891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Sistema operativo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4"/>
          <p:cNvSpPr/>
          <p:nvPr/>
        </p:nvSpPr>
        <p:spPr>
          <a:xfrm>
            <a:off x="3474720" y="438912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65"/>
          <p:cNvSpPr/>
          <p:nvPr/>
        </p:nvSpPr>
        <p:spPr>
          <a:xfrm>
            <a:off x="3474720" y="43891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6"/>
          <p:cNvSpPr/>
          <p:nvPr/>
        </p:nvSpPr>
        <p:spPr>
          <a:xfrm>
            <a:off x="5394960" y="438912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7"/>
          <p:cNvSpPr/>
          <p:nvPr/>
        </p:nvSpPr>
        <p:spPr>
          <a:xfrm>
            <a:off x="5394960" y="43891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8"/>
          <p:cNvSpPr/>
          <p:nvPr/>
        </p:nvSpPr>
        <p:spPr>
          <a:xfrm>
            <a:off x="7315200" y="438912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9"/>
          <p:cNvSpPr/>
          <p:nvPr/>
        </p:nvSpPr>
        <p:spPr>
          <a:xfrm>
            <a:off x="7315200" y="43891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70"/>
          <p:cNvSpPr/>
          <p:nvPr/>
        </p:nvSpPr>
        <p:spPr>
          <a:xfrm>
            <a:off x="9235440" y="438912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1"/>
          <p:cNvSpPr/>
          <p:nvPr/>
        </p:nvSpPr>
        <p:spPr>
          <a:xfrm>
            <a:off x="9235440" y="438912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72"/>
          <p:cNvSpPr/>
          <p:nvPr/>
        </p:nvSpPr>
        <p:spPr>
          <a:xfrm>
            <a:off x="548640" y="4873680"/>
            <a:ext cx="2925720" cy="45684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3"/>
          <p:cNvSpPr/>
          <p:nvPr/>
        </p:nvSpPr>
        <p:spPr>
          <a:xfrm>
            <a:off x="685800" y="48736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Hosts / red / datacenter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74"/>
          <p:cNvSpPr/>
          <p:nvPr/>
        </p:nvSpPr>
        <p:spPr>
          <a:xfrm>
            <a:off x="3474720" y="4873680"/>
            <a:ext cx="1883160" cy="45684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5"/>
          <p:cNvSpPr/>
          <p:nvPr/>
        </p:nvSpPr>
        <p:spPr>
          <a:xfrm>
            <a:off x="3474720" y="48736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6"/>
          <p:cNvSpPr/>
          <p:nvPr/>
        </p:nvSpPr>
        <p:spPr>
          <a:xfrm>
            <a:off x="5394960" y="487368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77"/>
          <p:cNvSpPr/>
          <p:nvPr/>
        </p:nvSpPr>
        <p:spPr>
          <a:xfrm>
            <a:off x="5394960" y="48736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78"/>
          <p:cNvSpPr/>
          <p:nvPr/>
        </p:nvSpPr>
        <p:spPr>
          <a:xfrm>
            <a:off x="7315200" y="487368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9"/>
          <p:cNvSpPr/>
          <p:nvPr/>
        </p:nvSpPr>
        <p:spPr>
          <a:xfrm>
            <a:off x="7315200" y="48736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80"/>
          <p:cNvSpPr/>
          <p:nvPr/>
        </p:nvSpPr>
        <p:spPr>
          <a:xfrm>
            <a:off x="9235440" y="4873680"/>
            <a:ext cx="1883160" cy="45684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1"/>
          <p:cNvSpPr/>
          <p:nvPr/>
        </p:nvSpPr>
        <p:spPr>
          <a:xfrm>
            <a:off x="9235440" y="4873680"/>
            <a:ext cx="188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Proveedor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2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83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RESPONSABILIDAD COMPARTIDA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Ejemplos concretos en Azure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548640" y="1508760"/>
            <a:ext cx="3428640" cy="3748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548640" y="1508760"/>
            <a:ext cx="3428640" cy="77688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548640" y="1892880"/>
            <a:ext cx="3428640" cy="3927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731520" y="15818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IaaS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731520" y="19476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VM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731520" y="24688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MICROSOFT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731520" y="27432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Microsoft: hasta el hipervisor.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731520" y="35661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731520" y="384048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Cliente: parcha el SO invitado, configura NSG/firewall, endurece la aplicación.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1"/>
          <p:cNvSpPr/>
          <p:nvPr/>
        </p:nvSpPr>
        <p:spPr>
          <a:xfrm>
            <a:off x="4206240" y="1508760"/>
            <a:ext cx="3428640" cy="3748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2"/>
          <p:cNvSpPr/>
          <p:nvPr/>
        </p:nvSpPr>
        <p:spPr>
          <a:xfrm>
            <a:off x="4206240" y="1508760"/>
            <a:ext cx="3428640" cy="77688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4206240" y="1892880"/>
            <a:ext cx="3428640" cy="3927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4389120" y="15818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PaaS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4389120" y="19476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Service · Azure SQL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4389120" y="24688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MICROSOFT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4389120" y="27432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Microsoft: parcha runtime y SO.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4389120" y="35661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9"/>
          <p:cNvSpPr/>
          <p:nvPr/>
        </p:nvSpPr>
        <p:spPr>
          <a:xfrm>
            <a:off x="4389120" y="384048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Cliente: código, cadenas de conexión, reglas de firewall, clasificación de datos.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0"/>
          <p:cNvSpPr/>
          <p:nvPr/>
        </p:nvSpPr>
        <p:spPr>
          <a:xfrm>
            <a:off x="7863840" y="1508760"/>
            <a:ext cx="3428640" cy="3748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1"/>
          <p:cNvSpPr/>
          <p:nvPr/>
        </p:nvSpPr>
        <p:spPr>
          <a:xfrm>
            <a:off x="7863840" y="1508760"/>
            <a:ext cx="3428640" cy="77688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2"/>
          <p:cNvSpPr/>
          <p:nvPr/>
        </p:nvSpPr>
        <p:spPr>
          <a:xfrm>
            <a:off x="7863840" y="1892880"/>
            <a:ext cx="3428640" cy="3927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3"/>
          <p:cNvSpPr/>
          <p:nvPr/>
        </p:nvSpPr>
        <p:spPr>
          <a:xfrm>
            <a:off x="8046720" y="15818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SaaS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4"/>
          <p:cNvSpPr/>
          <p:nvPr/>
        </p:nvSpPr>
        <p:spPr>
          <a:xfrm>
            <a:off x="8046720" y="19476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365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5"/>
          <p:cNvSpPr/>
          <p:nvPr/>
        </p:nvSpPr>
        <p:spPr>
          <a:xfrm>
            <a:off x="8046720" y="24688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MICROSOFT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6"/>
          <p:cNvSpPr/>
          <p:nvPr/>
        </p:nvSpPr>
        <p:spPr>
          <a:xfrm>
            <a:off x="8046720" y="27432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Microsoft: opera la aplicación completa.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7"/>
          <p:cNvSpPr/>
          <p:nvPr/>
        </p:nvSpPr>
        <p:spPr>
          <a:xfrm>
            <a:off x="8046720" y="35661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8"/>
          <p:cNvSpPr/>
          <p:nvPr/>
        </p:nvSpPr>
        <p:spPr>
          <a:xfrm>
            <a:off x="8046720" y="384048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Cliente: políticas de acceso y retención, protección de sus identidades.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9"/>
          <p:cNvSpPr/>
          <p:nvPr/>
        </p:nvSpPr>
        <p:spPr>
          <a:xfrm>
            <a:off x="548640" y="54406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Nota: Microsoft no inspecciona ni monitorea las aplicaciones del cliente — el monitoreo de tus recursos es tuyo.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0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1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RESPONSABILIDAD COMPARTIDA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Implicaciones para SecOps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548640" y="11887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Las brechas más comunes no son del proveedor: la mayoría de los incidentes en la nube provienen de malas configuraciones del lado del cliente.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"/>
          <p:cNvSpPr/>
          <p:nvPr/>
        </p:nvSpPr>
        <p:spPr>
          <a:xfrm>
            <a:off x="548640" y="1965960"/>
            <a:ext cx="10698120" cy="1188360"/>
          </a:xfrm>
          <a:prstGeom prst="roundRect">
            <a:avLst>
              <a:gd name="adj" fmla="val 7692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4"/>
          <p:cNvSpPr/>
          <p:nvPr/>
        </p:nvSpPr>
        <p:spPr>
          <a:xfrm>
            <a:off x="822960" y="2240280"/>
            <a:ext cx="639720" cy="639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0" descr="/home/claude/icons/target.png"/>
          <p:cNvPicPr/>
          <p:nvPr/>
        </p:nvPicPr>
        <p:blipFill>
          <a:blip r:embed="rId1"/>
          <a:stretch/>
        </p:blipFill>
        <p:spPr>
          <a:xfrm>
            <a:off x="960120" y="23774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5"/>
          <p:cNvSpPr/>
          <p:nvPr/>
        </p:nvSpPr>
        <p:spPr>
          <a:xfrm>
            <a:off x="1645920" y="2130480"/>
            <a:ext cx="932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Define el alcance de tu programa de seguridad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645920" y="251460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Todo lo que el proveedor no cubre debe entrar a tu gestión de riesgos.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"/>
          <p:cNvSpPr/>
          <p:nvPr/>
        </p:nvSpPr>
        <p:spPr>
          <a:xfrm>
            <a:off x="548640" y="3383280"/>
            <a:ext cx="10698120" cy="1188360"/>
          </a:xfrm>
          <a:prstGeom prst="roundRect">
            <a:avLst>
              <a:gd name="adj" fmla="val 7692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822960" y="3657600"/>
            <a:ext cx="639720" cy="639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1" descr="/home/claude/icons/key.png"/>
          <p:cNvPicPr/>
          <p:nvPr/>
        </p:nvPicPr>
        <p:blipFill>
          <a:blip r:embed="rId2"/>
          <a:stretch/>
        </p:blipFill>
        <p:spPr>
          <a:xfrm>
            <a:off x="960120" y="3794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 9"/>
          <p:cNvSpPr/>
          <p:nvPr/>
        </p:nvSpPr>
        <p:spPr>
          <a:xfrm>
            <a:off x="1645920" y="3547800"/>
            <a:ext cx="932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La identidad se vuelve el activo crítico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0"/>
          <p:cNvSpPr/>
          <p:nvPr/>
        </p:nvSpPr>
        <p:spPr>
          <a:xfrm>
            <a:off x="1645920" y="393192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Es responsabilidad del cliente en los tres modelos — por eso el laboratorio empieza ahí.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1"/>
          <p:cNvSpPr/>
          <p:nvPr/>
        </p:nvSpPr>
        <p:spPr>
          <a:xfrm>
            <a:off x="548640" y="507492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Siguiente paso  →  lo que queda del lado del cliente debe gestionarse como riesgo: Gestión de Riesgos.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3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AMENAZAS EN LA NUBE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Top Threats to Cloud Computing 2024 (CSA)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548640" y="10972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Encuesta a más de 500 profesionales de seguridad; ranking por importancia percibida de 28 problemáticas de seguridad cloud.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548640" y="16916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"/>
          <p:cNvSpPr/>
          <p:nvPr/>
        </p:nvSpPr>
        <p:spPr>
          <a:xfrm>
            <a:off x="658440" y="1801440"/>
            <a:ext cx="365400" cy="36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658440" y="1801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6"/>
          <p:cNvSpPr/>
          <p:nvPr/>
        </p:nvSpPr>
        <p:spPr>
          <a:xfrm>
            <a:off x="1115640" y="16916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Configuración incorrecta y control de cambios inadecuado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7"/>
          <p:cNvSpPr/>
          <p:nvPr/>
        </p:nvSpPr>
        <p:spPr>
          <a:xfrm>
            <a:off x="548640" y="23774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8"/>
          <p:cNvSpPr/>
          <p:nvPr/>
        </p:nvSpPr>
        <p:spPr>
          <a:xfrm>
            <a:off x="658440" y="2487240"/>
            <a:ext cx="365400" cy="36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9"/>
          <p:cNvSpPr/>
          <p:nvPr/>
        </p:nvSpPr>
        <p:spPr>
          <a:xfrm>
            <a:off x="658440" y="24872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0"/>
          <p:cNvSpPr/>
          <p:nvPr/>
        </p:nvSpPr>
        <p:spPr>
          <a:xfrm>
            <a:off x="1115640" y="23774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Gestión de identidad y acceso (IAM)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1"/>
          <p:cNvSpPr/>
          <p:nvPr/>
        </p:nvSpPr>
        <p:spPr>
          <a:xfrm>
            <a:off x="548640" y="30632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2"/>
          <p:cNvSpPr/>
          <p:nvPr/>
        </p:nvSpPr>
        <p:spPr>
          <a:xfrm>
            <a:off x="658440" y="3173040"/>
            <a:ext cx="365400" cy="36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658440" y="3173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1115640" y="30632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Interfaces y APIs inseguras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548640" y="37490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658440" y="38588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658440" y="3858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8"/>
          <p:cNvSpPr/>
          <p:nvPr/>
        </p:nvSpPr>
        <p:spPr>
          <a:xfrm>
            <a:off x="1115640" y="37490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Selección/implementación inadecuada de la estrategia de seguridad cloud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9"/>
          <p:cNvSpPr/>
          <p:nvPr/>
        </p:nvSpPr>
        <p:spPr>
          <a:xfrm>
            <a:off x="548640" y="44348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0"/>
          <p:cNvSpPr/>
          <p:nvPr/>
        </p:nvSpPr>
        <p:spPr>
          <a:xfrm>
            <a:off x="658440" y="45446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1"/>
          <p:cNvSpPr/>
          <p:nvPr/>
        </p:nvSpPr>
        <p:spPr>
          <a:xfrm>
            <a:off x="658440" y="4544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2"/>
          <p:cNvSpPr/>
          <p:nvPr/>
        </p:nvSpPr>
        <p:spPr>
          <a:xfrm>
            <a:off x="1115640" y="44348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Recursos de terceros inseguros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3"/>
          <p:cNvSpPr/>
          <p:nvPr/>
        </p:nvSpPr>
        <p:spPr>
          <a:xfrm>
            <a:off x="548640" y="51206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4"/>
          <p:cNvSpPr/>
          <p:nvPr/>
        </p:nvSpPr>
        <p:spPr>
          <a:xfrm>
            <a:off x="658440" y="52304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5"/>
          <p:cNvSpPr/>
          <p:nvPr/>
        </p:nvSpPr>
        <p:spPr>
          <a:xfrm>
            <a:off x="658440" y="5230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6"/>
          <p:cNvSpPr/>
          <p:nvPr/>
        </p:nvSpPr>
        <p:spPr>
          <a:xfrm>
            <a:off x="1115640" y="51206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Desarrollo de software inseguro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7"/>
          <p:cNvSpPr/>
          <p:nvPr/>
        </p:nvSpPr>
        <p:spPr>
          <a:xfrm>
            <a:off x="6035040" y="16916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28"/>
          <p:cNvSpPr/>
          <p:nvPr/>
        </p:nvSpPr>
        <p:spPr>
          <a:xfrm>
            <a:off x="6144840" y="18014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9"/>
          <p:cNvSpPr/>
          <p:nvPr/>
        </p:nvSpPr>
        <p:spPr>
          <a:xfrm>
            <a:off x="6144840" y="1801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0"/>
          <p:cNvSpPr/>
          <p:nvPr/>
        </p:nvSpPr>
        <p:spPr>
          <a:xfrm>
            <a:off x="6602040" y="16916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Divulgación accidental de datos en la nube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1"/>
          <p:cNvSpPr/>
          <p:nvPr/>
        </p:nvSpPr>
        <p:spPr>
          <a:xfrm>
            <a:off x="6035040" y="23774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2"/>
          <p:cNvSpPr/>
          <p:nvPr/>
        </p:nvSpPr>
        <p:spPr>
          <a:xfrm>
            <a:off x="6144840" y="24872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3"/>
          <p:cNvSpPr/>
          <p:nvPr/>
        </p:nvSpPr>
        <p:spPr>
          <a:xfrm>
            <a:off x="6144840" y="24872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4"/>
          <p:cNvSpPr/>
          <p:nvPr/>
        </p:nvSpPr>
        <p:spPr>
          <a:xfrm>
            <a:off x="6602040" y="23774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Vulnerabilidades de sistema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5"/>
          <p:cNvSpPr/>
          <p:nvPr/>
        </p:nvSpPr>
        <p:spPr>
          <a:xfrm>
            <a:off x="6035040" y="30632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6"/>
          <p:cNvSpPr/>
          <p:nvPr/>
        </p:nvSpPr>
        <p:spPr>
          <a:xfrm>
            <a:off x="6144840" y="31730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7"/>
          <p:cNvSpPr/>
          <p:nvPr/>
        </p:nvSpPr>
        <p:spPr>
          <a:xfrm>
            <a:off x="6144840" y="3173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9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8"/>
          <p:cNvSpPr/>
          <p:nvPr/>
        </p:nvSpPr>
        <p:spPr>
          <a:xfrm>
            <a:off x="6602040" y="30632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Visibilidad/observabilidad limitada en la nube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9"/>
          <p:cNvSpPr/>
          <p:nvPr/>
        </p:nvSpPr>
        <p:spPr>
          <a:xfrm>
            <a:off x="6035040" y="37490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40"/>
          <p:cNvSpPr/>
          <p:nvPr/>
        </p:nvSpPr>
        <p:spPr>
          <a:xfrm>
            <a:off x="6144840" y="38588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41"/>
          <p:cNvSpPr/>
          <p:nvPr/>
        </p:nvSpPr>
        <p:spPr>
          <a:xfrm>
            <a:off x="6144840" y="3858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42"/>
          <p:cNvSpPr/>
          <p:nvPr/>
        </p:nvSpPr>
        <p:spPr>
          <a:xfrm>
            <a:off x="6602040" y="37490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Uso compartido de recursos sin autenticación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3"/>
          <p:cNvSpPr/>
          <p:nvPr/>
        </p:nvSpPr>
        <p:spPr>
          <a:xfrm>
            <a:off x="6035040" y="4434840"/>
            <a:ext cx="5211720" cy="575640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44"/>
          <p:cNvSpPr/>
          <p:nvPr/>
        </p:nvSpPr>
        <p:spPr>
          <a:xfrm>
            <a:off x="6144840" y="4544640"/>
            <a:ext cx="365400" cy="36540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45"/>
          <p:cNvSpPr/>
          <p:nvPr/>
        </p:nvSpPr>
        <p:spPr>
          <a:xfrm>
            <a:off x="6144840" y="4544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11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46"/>
          <p:cNvSpPr/>
          <p:nvPr/>
        </p:nvSpPr>
        <p:spPr>
          <a:xfrm>
            <a:off x="6602040" y="4434840"/>
            <a:ext cx="45259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Amenazas persistentes avanzadas (APT)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47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48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AMENAZAS EN LA NUBE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Las tres amenazas de mayor impacto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548640" y="1554480"/>
            <a:ext cx="3428640" cy="429732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548640" y="1554480"/>
            <a:ext cx="3428640" cy="502560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"/>
          <p:cNvSpPr/>
          <p:nvPr/>
        </p:nvSpPr>
        <p:spPr>
          <a:xfrm>
            <a:off x="548640" y="1810440"/>
            <a:ext cx="3428640" cy="246600"/>
          </a:xfrm>
          <a:prstGeom prst="rect">
            <a:avLst/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"/>
          <p:cNvSpPr/>
          <p:nvPr/>
        </p:nvSpPr>
        <p:spPr>
          <a:xfrm>
            <a:off x="731520" y="160920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#1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1806120" y="2331720"/>
            <a:ext cx="914040" cy="914040"/>
          </a:xfrm>
          <a:prstGeom prst="ellipse">
            <a:avLst/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/home/claude/icons/alert.png"/>
          <p:cNvPicPr/>
          <p:nvPr/>
        </p:nvPicPr>
        <p:blipFill>
          <a:blip r:embed="rId1"/>
          <a:stretch/>
        </p:blipFill>
        <p:spPr>
          <a:xfrm>
            <a:off x="2025360" y="255132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7"/>
          <p:cNvSpPr/>
          <p:nvPr/>
        </p:nvSpPr>
        <p:spPr>
          <a:xfrm>
            <a:off x="731520" y="34747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Configuración incorrecta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8"/>
          <p:cNvSpPr/>
          <p:nvPr/>
        </p:nvSpPr>
        <p:spPr>
          <a:xfrm>
            <a:off x="777240" y="4114800"/>
            <a:ext cx="2971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Buckets de almacenamiento públicos, security groups sobre-permisivos y controles de cambio deficientes. La causa raíz más frecuente de brechas de datos en la nube.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9"/>
          <p:cNvSpPr/>
          <p:nvPr/>
        </p:nvSpPr>
        <p:spPr>
          <a:xfrm>
            <a:off x="4206240" y="1554480"/>
            <a:ext cx="3428640" cy="429732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4206240" y="1554480"/>
            <a:ext cx="3428640" cy="50256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4206240" y="1810440"/>
            <a:ext cx="3428640" cy="2466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2"/>
          <p:cNvSpPr/>
          <p:nvPr/>
        </p:nvSpPr>
        <p:spPr>
          <a:xfrm>
            <a:off x="4389120" y="160920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#2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5463720" y="233172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/home/claude/icons/key.png"/>
          <p:cNvPicPr/>
          <p:nvPr/>
        </p:nvPicPr>
        <p:blipFill>
          <a:blip r:embed="rId2"/>
          <a:stretch/>
        </p:blipFill>
        <p:spPr>
          <a:xfrm>
            <a:off x="5682960" y="255132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4"/>
          <p:cNvSpPr/>
          <p:nvPr/>
        </p:nvSpPr>
        <p:spPr>
          <a:xfrm>
            <a:off x="4389120" y="34747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Identidad y acceso (IAM)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4434840" y="4114800"/>
            <a:ext cx="2971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Credenciales comprometidas, roles sobre-privilegiados y rutas de escalamiento de privilegios que abusan de relaciones de confianza entre cuentas.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6"/>
          <p:cNvSpPr/>
          <p:nvPr/>
        </p:nvSpPr>
        <p:spPr>
          <a:xfrm>
            <a:off x="7863840" y="1554480"/>
            <a:ext cx="3428640" cy="429732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7"/>
          <p:cNvSpPr/>
          <p:nvPr/>
        </p:nvSpPr>
        <p:spPr>
          <a:xfrm>
            <a:off x="7863840" y="1554480"/>
            <a:ext cx="3428640" cy="50256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8"/>
          <p:cNvSpPr/>
          <p:nvPr/>
        </p:nvSpPr>
        <p:spPr>
          <a:xfrm>
            <a:off x="7863840" y="1810440"/>
            <a:ext cx="3428640" cy="2466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9"/>
          <p:cNvSpPr/>
          <p:nvPr/>
        </p:nvSpPr>
        <p:spPr>
          <a:xfrm>
            <a:off x="8046720" y="160920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#3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0"/>
          <p:cNvSpPr/>
          <p:nvPr/>
        </p:nvSpPr>
        <p:spPr>
          <a:xfrm>
            <a:off x="9121320" y="2331720"/>
            <a:ext cx="914040" cy="91404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9" name="Image 2" descr="/home/claude/icons/layers.png"/>
          <p:cNvPicPr/>
          <p:nvPr/>
        </p:nvPicPr>
        <p:blipFill>
          <a:blip r:embed="rId3"/>
          <a:stretch/>
        </p:blipFill>
        <p:spPr>
          <a:xfrm>
            <a:off x="9340560" y="255132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 21"/>
          <p:cNvSpPr/>
          <p:nvPr/>
        </p:nvSpPr>
        <p:spPr>
          <a:xfrm>
            <a:off x="8046720" y="34747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Interfaces y APIs inseguras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2"/>
          <p:cNvSpPr/>
          <p:nvPr/>
        </p:nvSpPr>
        <p:spPr>
          <a:xfrm>
            <a:off x="8092440" y="4114800"/>
            <a:ext cx="2971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Autenticación débil, falta de rate-limiting y exposición de endpoints sin validación adecuada de entrada.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3"/>
          <p:cNvSpPr/>
          <p:nvPr/>
        </p:nvSpPr>
        <p:spPr>
          <a:xfrm>
            <a:off x="548640" y="60350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Fuente: Cloud Security Alliance — Top Threats to Cloud Computing 2024 ("Egregious Eleven").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5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PUENTE A SESIÓN 2 · GESTIÓN DE RIESGOS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Gestión de riesgos: conceptos base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548640" y="10972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Antes del threat modeling conviene fijar el vocabulario común. Estos conceptos se profundizarán con marcos ISO 31000 / NIST RMF en la Sesión 2.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3"/>
          <p:cNvSpPr/>
          <p:nvPr/>
        </p:nvSpPr>
        <p:spPr>
          <a:xfrm>
            <a:off x="548640" y="1783080"/>
            <a:ext cx="2605680" cy="228564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"/>
          <p:cNvSpPr/>
          <p:nvPr/>
        </p:nvSpPr>
        <p:spPr>
          <a:xfrm>
            <a:off x="1531800" y="2011680"/>
            <a:ext cx="639720" cy="63972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0" name="Image 0" descr="/home/claude/icons/database.png"/>
          <p:cNvPicPr/>
          <p:nvPr/>
        </p:nvPicPr>
        <p:blipFill>
          <a:blip r:embed="rId1"/>
          <a:stretch/>
        </p:blipFill>
        <p:spPr>
          <a:xfrm>
            <a:off x="1685160" y="2165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 5"/>
          <p:cNvSpPr/>
          <p:nvPr/>
        </p:nvSpPr>
        <p:spPr>
          <a:xfrm>
            <a:off x="685800" y="27889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Activo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6"/>
          <p:cNvSpPr/>
          <p:nvPr/>
        </p:nvSpPr>
        <p:spPr>
          <a:xfrm>
            <a:off x="685800" y="315468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Lo que tiene valor: datos, servicios, reputación.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3355920" y="1783080"/>
            <a:ext cx="2605680" cy="228564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8"/>
          <p:cNvSpPr/>
          <p:nvPr/>
        </p:nvSpPr>
        <p:spPr>
          <a:xfrm>
            <a:off x="4338720" y="2011680"/>
            <a:ext cx="639720" cy="639720"/>
          </a:xfrm>
          <a:prstGeom prst="ellipse">
            <a:avLst/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5" name="Image 1" descr="/home/claude/icons/alert.png"/>
          <p:cNvPicPr/>
          <p:nvPr/>
        </p:nvPicPr>
        <p:blipFill>
          <a:blip r:embed="rId2"/>
          <a:stretch/>
        </p:blipFill>
        <p:spPr>
          <a:xfrm>
            <a:off x="4492440" y="2165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 9"/>
          <p:cNvSpPr/>
          <p:nvPr/>
        </p:nvSpPr>
        <p:spPr>
          <a:xfrm>
            <a:off x="3493080" y="27889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Amenaza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0"/>
          <p:cNvSpPr/>
          <p:nvPr/>
        </p:nvSpPr>
        <p:spPr>
          <a:xfrm>
            <a:off x="3493080" y="315468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Evento potencial que puede causar daño (actor o accidente).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1"/>
          <p:cNvSpPr/>
          <p:nvPr/>
        </p:nvSpPr>
        <p:spPr>
          <a:xfrm>
            <a:off x="6163200" y="1783080"/>
            <a:ext cx="2605680" cy="228564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2"/>
          <p:cNvSpPr/>
          <p:nvPr/>
        </p:nvSpPr>
        <p:spPr>
          <a:xfrm>
            <a:off x="7146000" y="2011680"/>
            <a:ext cx="639720" cy="63972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0" name="Image 2" descr="/home/claude/icons/shieldoff.png"/>
          <p:cNvPicPr/>
          <p:nvPr/>
        </p:nvPicPr>
        <p:blipFill>
          <a:blip r:embed="rId3"/>
          <a:stretch/>
        </p:blipFill>
        <p:spPr>
          <a:xfrm>
            <a:off x="7299720" y="2165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13"/>
          <p:cNvSpPr/>
          <p:nvPr/>
        </p:nvSpPr>
        <p:spPr>
          <a:xfrm>
            <a:off x="6300360" y="27889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Vulnerabilidad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4"/>
          <p:cNvSpPr/>
          <p:nvPr/>
        </p:nvSpPr>
        <p:spPr>
          <a:xfrm>
            <a:off x="6300360" y="315468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Debilidad explotable de un activo o proceso.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5"/>
          <p:cNvSpPr/>
          <p:nvPr/>
        </p:nvSpPr>
        <p:spPr>
          <a:xfrm>
            <a:off x="8970120" y="1783080"/>
            <a:ext cx="2605680" cy="228564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6"/>
          <p:cNvSpPr/>
          <p:nvPr/>
        </p:nvSpPr>
        <p:spPr>
          <a:xfrm>
            <a:off x="9953280" y="2011680"/>
            <a:ext cx="639720" cy="63972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3" descr="/home/claude/icons/target.png"/>
          <p:cNvPicPr/>
          <p:nvPr/>
        </p:nvPicPr>
        <p:blipFill>
          <a:blip r:embed="rId4"/>
          <a:stretch/>
        </p:blipFill>
        <p:spPr>
          <a:xfrm>
            <a:off x="10107000" y="2165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17"/>
          <p:cNvSpPr/>
          <p:nvPr/>
        </p:nvSpPr>
        <p:spPr>
          <a:xfrm>
            <a:off x="9107280" y="27889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Riesgo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8"/>
          <p:cNvSpPr/>
          <p:nvPr/>
        </p:nvSpPr>
        <p:spPr>
          <a:xfrm>
            <a:off x="9107280" y="315468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Probabilidad × Impacto: posibilidad de que una amenaza explote una vulnerabilidad.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9"/>
          <p:cNvSpPr/>
          <p:nvPr/>
        </p:nvSpPr>
        <p:spPr>
          <a:xfrm>
            <a:off x="548640" y="4343400"/>
            <a:ext cx="10698120" cy="1462680"/>
          </a:xfrm>
          <a:prstGeom prst="roundRect">
            <a:avLst>
              <a:gd name="adj" fmla="val 6250"/>
            </a:avLst>
          </a:prstGeom>
          <a:solidFill>
            <a:srgbClr val="0B20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0"/>
          <p:cNvSpPr/>
          <p:nvPr/>
        </p:nvSpPr>
        <p:spPr>
          <a:xfrm>
            <a:off x="822960" y="4526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No confundir: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1"/>
          <p:cNvSpPr/>
          <p:nvPr/>
        </p:nvSpPr>
        <p:spPr>
          <a:xfrm>
            <a:off x="822960" y="48920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Amenaza: </a:t>
            </a:r>
            <a:r>
              <a:rPr lang="en-US" sz="13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la lluvia     </a:t>
            </a: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Vulnerabilidad: </a:t>
            </a:r>
            <a:r>
              <a:rPr lang="en-US" sz="13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el techo roto     </a:t>
            </a: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Riesgo: </a:t>
            </a:r>
            <a:r>
              <a:rPr lang="en-US" sz="13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inundación del datacenter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2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3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PUENTE A SESIÓN 2 · GESTIÓN DE RIESGOS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El ciclo de gestión de riesgos (ISO 31000 / NIST RMF)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548640" y="1417320"/>
            <a:ext cx="1965600" cy="260568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"/>
          <p:cNvSpPr/>
          <p:nvPr/>
        </p:nvSpPr>
        <p:spPr>
          <a:xfrm>
            <a:off x="658440" y="1508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1234440" y="19202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0" descr="/home/claude/icons/search.png"/>
          <p:cNvPicPr/>
          <p:nvPr/>
        </p:nvPicPr>
        <p:blipFill>
          <a:blip r:embed="rId1"/>
          <a:stretch/>
        </p:blipFill>
        <p:spPr>
          <a:xfrm>
            <a:off x="1362600" y="20484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5"/>
          <p:cNvSpPr/>
          <p:nvPr/>
        </p:nvSpPr>
        <p:spPr>
          <a:xfrm>
            <a:off x="640080" y="265176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Identificar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6"/>
          <p:cNvSpPr/>
          <p:nvPr/>
        </p:nvSpPr>
        <p:spPr>
          <a:xfrm>
            <a:off x="658440" y="3017520"/>
            <a:ext cx="1746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Inventario de activos y amenazas</a:t>
            </a:r>
            <a:endParaRPr lang="es-CO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7"/>
          <p:cNvSpPr/>
          <p:nvPr/>
        </p:nvSpPr>
        <p:spPr>
          <a:xfrm>
            <a:off x="2377440" y="224028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8"/>
          <p:cNvSpPr/>
          <p:nvPr/>
        </p:nvSpPr>
        <p:spPr>
          <a:xfrm>
            <a:off x="2660760" y="1417320"/>
            <a:ext cx="1965600" cy="260568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9"/>
          <p:cNvSpPr/>
          <p:nvPr/>
        </p:nvSpPr>
        <p:spPr>
          <a:xfrm>
            <a:off x="2770560" y="1508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0"/>
          <p:cNvSpPr/>
          <p:nvPr/>
        </p:nvSpPr>
        <p:spPr>
          <a:xfrm>
            <a:off x="3346560" y="19202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1" descr="/home/claude/icons/eye.png"/>
          <p:cNvPicPr/>
          <p:nvPr/>
        </p:nvPicPr>
        <p:blipFill>
          <a:blip r:embed="rId2"/>
          <a:stretch/>
        </p:blipFill>
        <p:spPr>
          <a:xfrm>
            <a:off x="3474720" y="20484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11"/>
          <p:cNvSpPr/>
          <p:nvPr/>
        </p:nvSpPr>
        <p:spPr>
          <a:xfrm>
            <a:off x="2752200" y="265176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Analizar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2"/>
          <p:cNvSpPr/>
          <p:nvPr/>
        </p:nvSpPr>
        <p:spPr>
          <a:xfrm>
            <a:off x="2770560" y="3017520"/>
            <a:ext cx="1746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Probabilidad e impacto, cualitativo o cuantitativo</a:t>
            </a:r>
            <a:endParaRPr lang="es-CO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3"/>
          <p:cNvSpPr/>
          <p:nvPr/>
        </p:nvSpPr>
        <p:spPr>
          <a:xfrm>
            <a:off x="4489560" y="224028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4"/>
          <p:cNvSpPr/>
          <p:nvPr/>
        </p:nvSpPr>
        <p:spPr>
          <a:xfrm>
            <a:off x="4773240" y="1417320"/>
            <a:ext cx="1965600" cy="260568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4883040" y="1508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6"/>
          <p:cNvSpPr/>
          <p:nvPr/>
        </p:nvSpPr>
        <p:spPr>
          <a:xfrm>
            <a:off x="5459040" y="19202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2" name="Image 2" descr="/home/claude/icons/checkcircle.png"/>
          <p:cNvPicPr/>
          <p:nvPr/>
        </p:nvPicPr>
        <p:blipFill>
          <a:blip r:embed="rId3"/>
          <a:stretch/>
        </p:blipFill>
        <p:spPr>
          <a:xfrm>
            <a:off x="5586840" y="20484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Text 17"/>
          <p:cNvSpPr/>
          <p:nvPr/>
        </p:nvSpPr>
        <p:spPr>
          <a:xfrm>
            <a:off x="4864680" y="265176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Evaluar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8"/>
          <p:cNvSpPr/>
          <p:nvPr/>
        </p:nvSpPr>
        <p:spPr>
          <a:xfrm>
            <a:off x="4883040" y="3017520"/>
            <a:ext cx="1746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Priorizar contra el apetito de riesgo</a:t>
            </a:r>
            <a:endParaRPr lang="es-CO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9"/>
          <p:cNvSpPr/>
          <p:nvPr/>
        </p:nvSpPr>
        <p:spPr>
          <a:xfrm>
            <a:off x="6602040" y="224028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0"/>
          <p:cNvSpPr/>
          <p:nvPr/>
        </p:nvSpPr>
        <p:spPr>
          <a:xfrm>
            <a:off x="6885360" y="1417320"/>
            <a:ext cx="1965600" cy="260568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1"/>
          <p:cNvSpPr/>
          <p:nvPr/>
        </p:nvSpPr>
        <p:spPr>
          <a:xfrm>
            <a:off x="6995160" y="1508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2"/>
          <p:cNvSpPr/>
          <p:nvPr/>
        </p:nvSpPr>
        <p:spPr>
          <a:xfrm>
            <a:off x="7571160" y="19202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3" descr="/home/claude/icons/shield.png"/>
          <p:cNvPicPr/>
          <p:nvPr/>
        </p:nvPicPr>
        <p:blipFill>
          <a:blip r:embed="rId4"/>
          <a:stretch/>
        </p:blipFill>
        <p:spPr>
          <a:xfrm>
            <a:off x="7699320" y="20484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23"/>
          <p:cNvSpPr/>
          <p:nvPr/>
        </p:nvSpPr>
        <p:spPr>
          <a:xfrm>
            <a:off x="6976800" y="265176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Tratar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4"/>
          <p:cNvSpPr/>
          <p:nvPr/>
        </p:nvSpPr>
        <p:spPr>
          <a:xfrm>
            <a:off x="6995160" y="3017520"/>
            <a:ext cx="1746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Elegir el tratamiento adecuado</a:t>
            </a:r>
            <a:endParaRPr lang="es-CO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5"/>
          <p:cNvSpPr/>
          <p:nvPr/>
        </p:nvSpPr>
        <p:spPr>
          <a:xfrm>
            <a:off x="8714160" y="2240280"/>
            <a:ext cx="42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6"/>
          <p:cNvSpPr/>
          <p:nvPr/>
        </p:nvSpPr>
        <p:spPr>
          <a:xfrm>
            <a:off x="8997840" y="1417320"/>
            <a:ext cx="1965600" cy="260568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7"/>
          <p:cNvSpPr/>
          <p:nvPr/>
        </p:nvSpPr>
        <p:spPr>
          <a:xfrm>
            <a:off x="9107280" y="1508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8"/>
          <p:cNvSpPr/>
          <p:nvPr/>
        </p:nvSpPr>
        <p:spPr>
          <a:xfrm>
            <a:off x="9683640" y="19202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6" name="Image 4" descr="/home/claude/icons/refresh.png"/>
          <p:cNvPicPr/>
          <p:nvPr/>
        </p:nvPicPr>
        <p:blipFill>
          <a:blip r:embed="rId5"/>
          <a:stretch/>
        </p:blipFill>
        <p:spPr>
          <a:xfrm>
            <a:off x="9811440" y="204840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Text 29"/>
          <p:cNvSpPr/>
          <p:nvPr/>
        </p:nvSpPr>
        <p:spPr>
          <a:xfrm>
            <a:off x="9089280" y="265176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Monitorear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0"/>
          <p:cNvSpPr/>
          <p:nvPr/>
        </p:nvSpPr>
        <p:spPr>
          <a:xfrm>
            <a:off x="9107280" y="3017520"/>
            <a:ext cx="1746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El riesgo es dinámico, más aún en la nube</a:t>
            </a:r>
            <a:endParaRPr lang="es-CO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31"/>
          <p:cNvSpPr/>
          <p:nvPr/>
        </p:nvSpPr>
        <p:spPr>
          <a:xfrm>
            <a:off x="548640" y="43434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Cuatro opciones de tratamiento del riesgo: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2"/>
          <p:cNvSpPr/>
          <p:nvPr/>
        </p:nvSpPr>
        <p:spPr>
          <a:xfrm>
            <a:off x="548640" y="4709160"/>
            <a:ext cx="2514240" cy="5025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3"/>
          <p:cNvSpPr/>
          <p:nvPr/>
        </p:nvSpPr>
        <p:spPr>
          <a:xfrm>
            <a:off x="548640" y="470916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Mitigar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4"/>
          <p:cNvSpPr/>
          <p:nvPr/>
        </p:nvSpPr>
        <p:spPr>
          <a:xfrm>
            <a:off x="3246120" y="4709160"/>
            <a:ext cx="2514240" cy="5025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5"/>
          <p:cNvSpPr/>
          <p:nvPr/>
        </p:nvSpPr>
        <p:spPr>
          <a:xfrm>
            <a:off x="3246120" y="470916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Transferir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36"/>
          <p:cNvSpPr/>
          <p:nvPr/>
        </p:nvSpPr>
        <p:spPr>
          <a:xfrm>
            <a:off x="5943600" y="4709160"/>
            <a:ext cx="2514240" cy="5025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7"/>
          <p:cNvSpPr/>
          <p:nvPr/>
        </p:nvSpPr>
        <p:spPr>
          <a:xfrm>
            <a:off x="5943600" y="470916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Aceptar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38"/>
          <p:cNvSpPr/>
          <p:nvPr/>
        </p:nvSpPr>
        <p:spPr>
          <a:xfrm>
            <a:off x="8641080" y="4709160"/>
            <a:ext cx="2514240" cy="5025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9"/>
          <p:cNvSpPr/>
          <p:nvPr/>
        </p:nvSpPr>
        <p:spPr>
          <a:xfrm>
            <a:off x="8641080" y="470916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Evitar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40"/>
          <p:cNvSpPr/>
          <p:nvPr/>
        </p:nvSpPr>
        <p:spPr>
          <a:xfrm>
            <a:off x="548640" y="54406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Los pasos 1 a 3 son exactamente lo que el threat modeling hará de forma estructurada más adelante en esta sesión.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1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2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PRINCIPIOS DE SEGURIDAD · 1 DE 3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Least Privilege (mínimo privilegio)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"/>
          <p:cNvSpPr/>
          <p:nvPr/>
        </p:nvSpPr>
        <p:spPr>
          <a:xfrm>
            <a:off x="640080" y="1417320"/>
            <a:ext cx="1188360" cy="1188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Image 0" descr="/home/claude/icons/lock.png"/>
          <p:cNvPicPr/>
          <p:nvPr/>
        </p:nvPicPr>
        <p:blipFill>
          <a:blip r:embed="rId1"/>
          <a:stretch/>
        </p:blipFill>
        <p:spPr>
          <a:xfrm>
            <a:off x="925200" y="1702440"/>
            <a:ext cx="617760" cy="61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Text 3"/>
          <p:cNvSpPr/>
          <p:nvPr/>
        </p:nvSpPr>
        <p:spPr>
          <a:xfrm>
            <a:off x="2148840" y="1508760"/>
            <a:ext cx="8777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Cada identidad —humana o de servicio— recibe únicamente los permisos estrictamente necesarios para cumplir su función, y nada más.</a:t>
            </a:r>
            <a:endParaRPr lang="es-CO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4"/>
          <p:cNvSpPr/>
          <p:nvPr/>
        </p:nvSpPr>
        <p:spPr>
          <a:xfrm>
            <a:off x="640080" y="3063240"/>
            <a:ext cx="639720" cy="63972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7" name="Image 1" descr="/home/claude/icons/usercheck.png"/>
          <p:cNvPicPr/>
          <p:nvPr/>
        </p:nvPicPr>
        <p:blipFill>
          <a:blip r:embed="rId2"/>
          <a:stretch/>
        </p:blipFill>
        <p:spPr>
          <a:xfrm>
            <a:off x="777240" y="3200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Text 5"/>
          <p:cNvSpPr/>
          <p:nvPr/>
        </p:nvSpPr>
        <p:spPr>
          <a:xfrm>
            <a:off x="1463040" y="303588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Reduce la superficie de ataque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1463040" y="339228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Menos permisos activos implican menos rutas explotables por un atacante o un error humano.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640080" y="4114800"/>
            <a:ext cx="639720" cy="63972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2" descr="/home/claude/icons/shield.png"/>
          <p:cNvPicPr/>
          <p:nvPr/>
        </p:nvPicPr>
        <p:blipFill>
          <a:blip r:embed="rId3"/>
          <a:stretch/>
        </p:blipFill>
        <p:spPr>
          <a:xfrm>
            <a:off x="777240" y="42519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Text 8"/>
          <p:cNvSpPr/>
          <p:nvPr/>
        </p:nvSpPr>
        <p:spPr>
          <a:xfrm>
            <a:off x="1463040" y="408744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Limita el radio de impacto (blast radius)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9"/>
          <p:cNvSpPr/>
          <p:nvPr/>
        </p:nvSpPr>
        <p:spPr>
          <a:xfrm>
            <a:off x="1463040" y="444384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Si una credencial se compromete, el daño potencial queda acotado a lo estrictamente autorizado.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0"/>
          <p:cNvSpPr/>
          <p:nvPr/>
        </p:nvSpPr>
        <p:spPr>
          <a:xfrm>
            <a:off x="640080" y="5166360"/>
            <a:ext cx="639720" cy="63972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5" name="Image 3" descr="/home/claude/icons/target.png"/>
          <p:cNvPicPr/>
          <p:nvPr/>
        </p:nvPicPr>
        <p:blipFill>
          <a:blip r:embed="rId4"/>
          <a:stretch/>
        </p:blipFill>
        <p:spPr>
          <a:xfrm>
            <a:off x="777240" y="53035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Text 11"/>
          <p:cNvSpPr/>
          <p:nvPr/>
        </p:nvSpPr>
        <p:spPr>
          <a:xfrm>
            <a:off x="1463040" y="513900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Control del acceso a la consola cloud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2"/>
          <p:cNvSpPr/>
          <p:nvPr/>
        </p:nvSpPr>
        <p:spPr>
          <a:xfrm>
            <a:off x="1463040" y="549540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En muchos proveedores, quien accede a la consola tiene privilegios prácticamente ilimitados por defecto: debe restringirse y auditarse con el mismo rigor que un centro de datos físico.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3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4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PRINCIPIOS DE SEGURIDAD · 2 DE 3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Defense in Depth (defensa en profundidad)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"/>
          <p:cNvSpPr/>
          <p:nvPr/>
        </p:nvSpPr>
        <p:spPr>
          <a:xfrm>
            <a:off x="548640" y="11430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Casi cualquier control de seguridad puede fallar. La defensa en profundidad crea capas de controles superpuestos, de modo que si uno falla, el siguiente contiene el ataque.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"/>
          <p:cNvSpPr/>
          <p:nvPr/>
        </p:nvSpPr>
        <p:spPr>
          <a:xfrm>
            <a:off x="1325880" y="2011680"/>
            <a:ext cx="3931560" cy="3931560"/>
          </a:xfrm>
          <a:prstGeom prst="ellipse">
            <a:avLst/>
          </a:prstGeom>
          <a:solidFill>
            <a:srgbClr val="CFEAE6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"/>
          <p:cNvSpPr/>
          <p:nvPr/>
        </p:nvSpPr>
        <p:spPr>
          <a:xfrm>
            <a:off x="1783080" y="2468880"/>
            <a:ext cx="3017160" cy="30171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5"/>
          <p:cNvSpPr/>
          <p:nvPr/>
        </p:nvSpPr>
        <p:spPr>
          <a:xfrm>
            <a:off x="2240280" y="2926080"/>
            <a:ext cx="2102760" cy="210276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6"/>
          <p:cNvSpPr/>
          <p:nvPr/>
        </p:nvSpPr>
        <p:spPr>
          <a:xfrm>
            <a:off x="2697480" y="3383280"/>
            <a:ext cx="1188360" cy="11883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7" name="Image 0" descr="/home/claude/icons/database.png"/>
          <p:cNvPicPr/>
          <p:nvPr/>
        </p:nvPicPr>
        <p:blipFill>
          <a:blip r:embed="rId1"/>
          <a:stretch/>
        </p:blipFill>
        <p:spPr>
          <a:xfrm>
            <a:off x="3035880" y="372168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Text 7"/>
          <p:cNvSpPr/>
          <p:nvPr/>
        </p:nvSpPr>
        <p:spPr>
          <a:xfrm>
            <a:off x="5074920" y="19659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Perímetro / Red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8"/>
          <p:cNvSpPr/>
          <p:nvPr/>
        </p:nvSpPr>
        <p:spPr>
          <a:xfrm>
            <a:off x="4754880" y="251460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Identidad y acceso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9"/>
          <p:cNvSpPr/>
          <p:nvPr/>
        </p:nvSpPr>
        <p:spPr>
          <a:xfrm>
            <a:off x="4434840" y="30632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Aplicación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0"/>
          <p:cNvSpPr/>
          <p:nvPr/>
        </p:nvSpPr>
        <p:spPr>
          <a:xfrm>
            <a:off x="292608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1"/>
          <p:cNvSpPr/>
          <p:nvPr/>
        </p:nvSpPr>
        <p:spPr>
          <a:xfrm>
            <a:off x="6492240" y="1783080"/>
            <a:ext cx="4754520" cy="1874160"/>
          </a:xfrm>
          <a:prstGeom prst="roundRect">
            <a:avLst>
              <a:gd name="adj" fmla="val 487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2"/>
          <p:cNvSpPr/>
          <p:nvPr/>
        </p:nvSpPr>
        <p:spPr>
          <a:xfrm>
            <a:off x="6766560" y="19386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La pregunta clave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3"/>
          <p:cNvSpPr/>
          <p:nvPr/>
        </p:nvSpPr>
        <p:spPr>
          <a:xfrm>
            <a:off x="6766560" y="2331720"/>
            <a:ext cx="4205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Para cada control de seguridad: “¿Qué pasa si este falla?” Si la respuesta es inaceptable, la defensa en profundidad es insuficiente.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4"/>
          <p:cNvSpPr/>
          <p:nvPr/>
        </p:nvSpPr>
        <p:spPr>
          <a:xfrm>
            <a:off x="6492240" y="3840480"/>
            <a:ext cx="4754520" cy="1874160"/>
          </a:xfrm>
          <a:prstGeom prst="roundRect">
            <a:avLst>
              <a:gd name="adj" fmla="val 487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5"/>
          <p:cNvSpPr/>
          <p:nvPr/>
        </p:nvSpPr>
        <p:spPr>
          <a:xfrm>
            <a:off x="6766560" y="39960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Señal de alerta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6"/>
          <p:cNvSpPr/>
          <p:nvPr/>
        </p:nvSpPr>
        <p:spPr>
          <a:xfrm>
            <a:off x="6766560" y="4389120"/>
            <a:ext cx="4205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Si una sola falla de inventario o monitoreo puede inutilizar varios controles a la vez, la profundidad de defensa también es insuficiente.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7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8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PRINCIPIOS DE SEGURIDAD · REFERENCIA CRUZADA CON SESIÓN 4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Defense in Depth en Azure: seis capas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2"/>
          <p:cNvSpPr/>
          <p:nvPr/>
        </p:nvSpPr>
        <p:spPr>
          <a:xfrm>
            <a:off x="548640" y="111564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Cada capa asume que la anterior falló (“asumir la brecha”). Esta vista concreta en Azure se retomará al diseñar arquitecturas de red en la Sesión 4.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"/>
          <p:cNvSpPr/>
          <p:nvPr/>
        </p:nvSpPr>
        <p:spPr>
          <a:xfrm>
            <a:off x="548640" y="1828800"/>
            <a:ext cx="3428640" cy="187416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"/>
          <p:cNvSpPr/>
          <p:nvPr/>
        </p:nvSpPr>
        <p:spPr>
          <a:xfrm>
            <a:off x="777240" y="205740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5" name="Image 0" descr="/home/claude/icons/usercheck.png"/>
          <p:cNvPicPr/>
          <p:nvPr/>
        </p:nvPicPr>
        <p:blipFill>
          <a:blip r:embed="rId1"/>
          <a:stretch/>
        </p:blipFill>
        <p:spPr>
          <a:xfrm>
            <a:off x="905400" y="2185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Text 5"/>
          <p:cNvSpPr/>
          <p:nvPr/>
        </p:nvSpPr>
        <p:spPr>
          <a:xfrm>
            <a:off x="1508760" y="20300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Identidad y acceso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6"/>
          <p:cNvSpPr/>
          <p:nvPr/>
        </p:nvSpPr>
        <p:spPr>
          <a:xfrm>
            <a:off x="777240" y="278892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Entra ID · MFA · RBAC · PIM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7"/>
          <p:cNvSpPr/>
          <p:nvPr/>
        </p:nvSpPr>
        <p:spPr>
          <a:xfrm>
            <a:off x="4178880" y="1828800"/>
            <a:ext cx="3428640" cy="187416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8"/>
          <p:cNvSpPr/>
          <p:nvPr/>
        </p:nvSpPr>
        <p:spPr>
          <a:xfrm>
            <a:off x="4407480" y="205740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1" descr="/home/claude/icons/shield.png"/>
          <p:cNvPicPr/>
          <p:nvPr/>
        </p:nvPicPr>
        <p:blipFill>
          <a:blip r:embed="rId2"/>
          <a:stretch/>
        </p:blipFill>
        <p:spPr>
          <a:xfrm>
            <a:off x="4535280" y="2185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9"/>
          <p:cNvSpPr/>
          <p:nvPr/>
        </p:nvSpPr>
        <p:spPr>
          <a:xfrm>
            <a:off x="5139000" y="20300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Perímetro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0"/>
          <p:cNvSpPr/>
          <p:nvPr/>
        </p:nvSpPr>
        <p:spPr>
          <a:xfrm>
            <a:off x="4407480" y="278892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Azure Firewall · WAF · DDoS Protection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1"/>
          <p:cNvSpPr/>
          <p:nvPr/>
        </p:nvSpPr>
        <p:spPr>
          <a:xfrm>
            <a:off x="7809120" y="1828800"/>
            <a:ext cx="3428640" cy="187416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2"/>
          <p:cNvSpPr/>
          <p:nvPr/>
        </p:nvSpPr>
        <p:spPr>
          <a:xfrm>
            <a:off x="8037720" y="205740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5" name="Image 2" descr="/home/claude/icons/wifi.png"/>
          <p:cNvPicPr/>
          <p:nvPr/>
        </p:nvPicPr>
        <p:blipFill>
          <a:blip r:embed="rId3"/>
          <a:stretch/>
        </p:blipFill>
        <p:spPr>
          <a:xfrm>
            <a:off x="8165520" y="21855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Text 13"/>
          <p:cNvSpPr/>
          <p:nvPr/>
        </p:nvSpPr>
        <p:spPr>
          <a:xfrm>
            <a:off x="8769240" y="20300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Red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4"/>
          <p:cNvSpPr/>
          <p:nvPr/>
        </p:nvSpPr>
        <p:spPr>
          <a:xfrm>
            <a:off x="8037720" y="278892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NSG · microsegmentación · private endpoints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15"/>
          <p:cNvSpPr/>
          <p:nvPr/>
        </p:nvSpPr>
        <p:spPr>
          <a:xfrm>
            <a:off x="548640" y="3931920"/>
            <a:ext cx="3428640" cy="187416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6"/>
          <p:cNvSpPr/>
          <p:nvPr/>
        </p:nvSpPr>
        <p:spPr>
          <a:xfrm>
            <a:off x="777240" y="416052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0" name="Image 3" descr="/home/claude/icons/server.png"/>
          <p:cNvPicPr/>
          <p:nvPr/>
        </p:nvPicPr>
        <p:blipFill>
          <a:blip r:embed="rId4"/>
          <a:stretch/>
        </p:blipFill>
        <p:spPr>
          <a:xfrm>
            <a:off x="905400" y="428868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 17"/>
          <p:cNvSpPr/>
          <p:nvPr/>
        </p:nvSpPr>
        <p:spPr>
          <a:xfrm>
            <a:off x="1508760" y="41331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Cómputo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8"/>
          <p:cNvSpPr/>
          <p:nvPr/>
        </p:nvSpPr>
        <p:spPr>
          <a:xfrm>
            <a:off x="777240" y="489204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Hardening del servicio · parcheo · endpoint protection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9"/>
          <p:cNvSpPr/>
          <p:nvPr/>
        </p:nvSpPr>
        <p:spPr>
          <a:xfrm>
            <a:off x="4178880" y="3931920"/>
            <a:ext cx="3428640" cy="187416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0"/>
          <p:cNvSpPr/>
          <p:nvPr/>
        </p:nvSpPr>
        <p:spPr>
          <a:xfrm>
            <a:off x="4407480" y="416052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5" name="Image 4" descr="/home/claude/icons/box.png"/>
          <p:cNvPicPr/>
          <p:nvPr/>
        </p:nvPicPr>
        <p:blipFill>
          <a:blip r:embed="rId5"/>
          <a:stretch/>
        </p:blipFill>
        <p:spPr>
          <a:xfrm>
            <a:off x="4535280" y="428868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 21"/>
          <p:cNvSpPr/>
          <p:nvPr/>
        </p:nvSpPr>
        <p:spPr>
          <a:xfrm>
            <a:off x="5139000" y="41331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Aplicación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2"/>
          <p:cNvSpPr/>
          <p:nvPr/>
        </p:nvSpPr>
        <p:spPr>
          <a:xfrm>
            <a:off x="4407480" y="489204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Código seguro · managed identities · secretos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23"/>
          <p:cNvSpPr/>
          <p:nvPr/>
        </p:nvSpPr>
        <p:spPr>
          <a:xfrm>
            <a:off x="7809120" y="3931920"/>
            <a:ext cx="3428640" cy="187416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4"/>
          <p:cNvSpPr/>
          <p:nvPr/>
        </p:nvSpPr>
        <p:spPr>
          <a:xfrm>
            <a:off x="8037720" y="416052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0" name="Image 5" descr="/home/claude/icons/database.png"/>
          <p:cNvPicPr/>
          <p:nvPr/>
        </p:nvPicPr>
        <p:blipFill>
          <a:blip r:embed="rId6"/>
          <a:stretch/>
        </p:blipFill>
        <p:spPr>
          <a:xfrm>
            <a:off x="8165520" y="428868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 25"/>
          <p:cNvSpPr/>
          <p:nvPr/>
        </p:nvSpPr>
        <p:spPr>
          <a:xfrm>
            <a:off x="8769240" y="413316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6"/>
          <p:cNvSpPr/>
          <p:nvPr/>
        </p:nvSpPr>
        <p:spPr>
          <a:xfrm>
            <a:off x="8037720" y="489204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Cifrado · clasificación · Key Vault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27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8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PRINCIPIOS DE SEGURIDAD · 3 DE 3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Zero Trust (confianza cero)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"/>
          <p:cNvSpPr/>
          <p:nvPr/>
        </p:nvSpPr>
        <p:spPr>
          <a:xfrm>
            <a:off x="548640" y="1188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“Nunca confiar, siempre verificar.” La confianza no se otorga por estar dentro de la red o poseer un dispositivo corporativo: se gana mediante evidencia continua (NIST SP 800-207).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3"/>
          <p:cNvSpPr/>
          <p:nvPr/>
        </p:nvSpPr>
        <p:spPr>
          <a:xfrm>
            <a:off x="548640" y="2148840"/>
            <a:ext cx="5120280" cy="178272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4"/>
          <p:cNvSpPr/>
          <p:nvPr/>
        </p:nvSpPr>
        <p:spPr>
          <a:xfrm>
            <a:off x="777240" y="240480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/home/claude/icons/grid.png"/>
          <p:cNvPicPr/>
          <p:nvPr/>
        </p:nvPicPr>
        <p:blipFill>
          <a:blip r:embed="rId1"/>
          <a:stretch/>
        </p:blipFill>
        <p:spPr>
          <a:xfrm>
            <a:off x="905400" y="25329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5"/>
          <p:cNvSpPr/>
          <p:nvPr/>
        </p:nvSpPr>
        <p:spPr>
          <a:xfrm>
            <a:off x="1508760" y="23774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Microsegmentación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6"/>
          <p:cNvSpPr/>
          <p:nvPr/>
        </p:nvSpPr>
        <p:spPr>
          <a:xfrm>
            <a:off x="822960" y="301752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La red se divide en segmentos granulares con políticas propias, limitando el movimiento lateral de un atacante.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7"/>
          <p:cNvSpPr/>
          <p:nvPr/>
        </p:nvSpPr>
        <p:spPr>
          <a:xfrm>
            <a:off x="5943600" y="2148840"/>
            <a:ext cx="5120280" cy="178272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8"/>
          <p:cNvSpPr/>
          <p:nvPr/>
        </p:nvSpPr>
        <p:spPr>
          <a:xfrm>
            <a:off x="6172200" y="240480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5" name="Image 1" descr="/home/claude/icons/key.png"/>
          <p:cNvPicPr/>
          <p:nvPr/>
        </p:nvPicPr>
        <p:blipFill>
          <a:blip r:embed="rId2"/>
          <a:stretch/>
        </p:blipFill>
        <p:spPr>
          <a:xfrm>
            <a:off x="6300360" y="25329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 9"/>
          <p:cNvSpPr/>
          <p:nvPr/>
        </p:nvSpPr>
        <p:spPr>
          <a:xfrm>
            <a:off x="6903720" y="23774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Autenticación fuerte y continua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0"/>
          <p:cNvSpPr/>
          <p:nvPr/>
        </p:nvSpPr>
        <p:spPr>
          <a:xfrm>
            <a:off x="6217920" y="301752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MFA, autenticación adaptativa y re-verificación periódica o basada en riesgo de la transacción.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1"/>
          <p:cNvSpPr/>
          <p:nvPr/>
        </p:nvSpPr>
        <p:spPr>
          <a:xfrm>
            <a:off x="548640" y="4114800"/>
            <a:ext cx="5120280" cy="178272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2"/>
          <p:cNvSpPr/>
          <p:nvPr/>
        </p:nvSpPr>
        <p:spPr>
          <a:xfrm>
            <a:off x="777240" y="437076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0" name="Image 2" descr="/home/claude/icons/eye.png"/>
          <p:cNvPicPr/>
          <p:nvPr/>
        </p:nvPicPr>
        <p:blipFill>
          <a:blip r:embed="rId3"/>
          <a:stretch/>
        </p:blipFill>
        <p:spPr>
          <a:xfrm>
            <a:off x="905400" y="449892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Text 13"/>
          <p:cNvSpPr/>
          <p:nvPr/>
        </p:nvSpPr>
        <p:spPr>
          <a:xfrm>
            <a:off x="1508760" y="434340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Verificación por sesión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4"/>
          <p:cNvSpPr/>
          <p:nvPr/>
        </p:nvSpPr>
        <p:spPr>
          <a:xfrm>
            <a:off x="822960" y="49834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El acceso a cada recurso se concede de forma explícita y por sesión, nunca de forma implícita o permanente.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5"/>
          <p:cNvSpPr/>
          <p:nvPr/>
        </p:nvSpPr>
        <p:spPr>
          <a:xfrm>
            <a:off x="5943600" y="4114800"/>
            <a:ext cx="5120280" cy="178272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6"/>
          <p:cNvSpPr/>
          <p:nvPr/>
        </p:nvSpPr>
        <p:spPr>
          <a:xfrm>
            <a:off x="6172200" y="437076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5" name="Image 3" descr="/home/claude/icons/shieldoff.png"/>
          <p:cNvPicPr/>
          <p:nvPr/>
        </p:nvPicPr>
        <p:blipFill>
          <a:blip r:embed="rId4"/>
          <a:stretch/>
        </p:blipFill>
        <p:spPr>
          <a:xfrm>
            <a:off x="6300360" y="449892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Text 17"/>
          <p:cNvSpPr/>
          <p:nvPr/>
        </p:nvSpPr>
        <p:spPr>
          <a:xfrm>
            <a:off x="6903720" y="434340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Se asume la brecha (“assume breach”)</a:t>
            </a:r>
            <a:endParaRPr lang="es-CO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8"/>
          <p:cNvSpPr/>
          <p:nvPr/>
        </p:nvSpPr>
        <p:spPr>
          <a:xfrm>
            <a:off x="6217920" y="49834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El diseño parte de que la red ya está comprometida, moviendo el perímetro hacia cada recurso protegido.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ZERO TRUST EN PROFUNDIDAD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Del perímetro al Zero Trust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"/>
          <p:cNvSpPr/>
          <p:nvPr/>
        </p:nvSpPr>
        <p:spPr>
          <a:xfrm>
            <a:off x="548640" y="1554480"/>
            <a:ext cx="5120280" cy="4251600"/>
          </a:xfrm>
          <a:prstGeom prst="roundRect">
            <a:avLst>
              <a:gd name="adj" fmla="val 215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3"/>
          <p:cNvSpPr/>
          <p:nvPr/>
        </p:nvSpPr>
        <p:spPr>
          <a:xfrm>
            <a:off x="822960" y="1828800"/>
            <a:ext cx="639720" cy="639720"/>
          </a:xfrm>
          <a:prstGeom prst="ellipse">
            <a:avLst/>
          </a:prstGeom>
          <a:solidFill>
            <a:srgbClr val="5C7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4" name="Image 0" descr="/home/claude/icons/shieldoff.png"/>
          <p:cNvPicPr/>
          <p:nvPr/>
        </p:nvPicPr>
        <p:blipFill>
          <a:blip r:embed="rId1"/>
          <a:stretch/>
        </p:blipFill>
        <p:spPr>
          <a:xfrm>
            <a:off x="976680" y="198252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 4"/>
          <p:cNvSpPr/>
          <p:nvPr/>
        </p:nvSpPr>
        <p:spPr>
          <a:xfrm>
            <a:off x="1600200" y="190188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Modelo tradicional: castillo y foso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868680" y="260604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•  Todo lo que está dentro de la red corporativa es confiable.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6"/>
          <p:cNvSpPr/>
          <p:nvPr/>
        </p:nvSpPr>
        <p:spPr>
          <a:xfrm>
            <a:off x="868680" y="338328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•  Ese modelo se rompió: trabajo remoto, nube híbrida, SaaS, dispositivos móviles, APIs.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7"/>
          <p:cNvSpPr/>
          <p:nvPr/>
        </p:nvSpPr>
        <p:spPr>
          <a:xfrm>
            <a:off x="868680" y="416052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•  El perímetro ya no existe.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8"/>
          <p:cNvSpPr/>
          <p:nvPr/>
        </p:nvSpPr>
        <p:spPr>
          <a:xfrm>
            <a:off x="6172200" y="1554480"/>
            <a:ext cx="5120280" cy="4251600"/>
          </a:xfrm>
          <a:prstGeom prst="roundRect">
            <a:avLst>
              <a:gd name="adj" fmla="val 2151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9"/>
          <p:cNvSpPr/>
          <p:nvPr/>
        </p:nvSpPr>
        <p:spPr>
          <a:xfrm>
            <a:off x="6446520" y="1828800"/>
            <a:ext cx="639720" cy="639720"/>
          </a:xfrm>
          <a:prstGeom prst="ellipse">
            <a:avLst/>
          </a:prstGeom>
          <a:solidFill>
            <a:srgbClr val="0B20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1" name="Image 1" descr="/home/claude/icons/shield.png"/>
          <p:cNvPicPr/>
          <p:nvPr/>
        </p:nvPicPr>
        <p:blipFill>
          <a:blip r:embed="rId2"/>
          <a:stretch/>
        </p:blipFill>
        <p:spPr>
          <a:xfrm>
            <a:off x="6600240" y="198252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Text 10"/>
          <p:cNvSpPr/>
          <p:nvPr/>
        </p:nvSpPr>
        <p:spPr>
          <a:xfrm>
            <a:off x="7223760" y="190188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Zero Trust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1"/>
          <p:cNvSpPr/>
          <p:nvPr/>
        </p:nvSpPr>
        <p:spPr>
          <a:xfrm>
            <a:off x="6492240" y="260604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“Never trust, always verify.”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2"/>
          <p:cNvSpPr/>
          <p:nvPr/>
        </p:nvSpPr>
        <p:spPr>
          <a:xfrm>
            <a:off x="6492240" y="338328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Cada solicitud se verifica como si viniera de una red no controlada, sin importar su origen.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3"/>
          <p:cNvSpPr/>
          <p:nvPr/>
        </p:nvSpPr>
        <p:spPr>
          <a:xfrm>
            <a:off x="6492240" y="416052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Zero Trust es una estrategia, no un producto que se compra.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5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ZERO TRUST EN PROFUNDIDAD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Los tres principios de Zero Trust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"/>
          <p:cNvSpPr/>
          <p:nvPr/>
        </p:nvSpPr>
        <p:spPr>
          <a:xfrm>
            <a:off x="548640" y="1600200"/>
            <a:ext cx="3428640" cy="420588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1806120" y="196596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2" name="Image 0" descr="/home/claude/icons/eye.png"/>
          <p:cNvPicPr/>
          <p:nvPr/>
        </p:nvPicPr>
        <p:blipFill>
          <a:blip r:embed="rId1"/>
          <a:stretch/>
        </p:blipFill>
        <p:spPr>
          <a:xfrm>
            <a:off x="2025360" y="218556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Text 4"/>
          <p:cNvSpPr/>
          <p:nvPr/>
        </p:nvSpPr>
        <p:spPr>
          <a:xfrm>
            <a:off x="731520" y="31546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1. Verificar explícitamente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5"/>
          <p:cNvSpPr/>
          <p:nvPr/>
        </p:nvSpPr>
        <p:spPr>
          <a:xfrm>
            <a:off x="777240" y="3794760"/>
            <a:ext cx="2971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Autenticar y autorizar siempre con base en todos los datos disponibles: identidad, ubicación, salud del dispositivo, clasificación del dato, anomalías.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6"/>
          <p:cNvSpPr/>
          <p:nvPr/>
        </p:nvSpPr>
        <p:spPr>
          <a:xfrm>
            <a:off x="4206240" y="1600200"/>
            <a:ext cx="3428640" cy="420588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7"/>
          <p:cNvSpPr/>
          <p:nvPr/>
        </p:nvSpPr>
        <p:spPr>
          <a:xfrm>
            <a:off x="5463720" y="196596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7" name="Image 1" descr="/home/claude/icons/lock.png"/>
          <p:cNvPicPr/>
          <p:nvPr/>
        </p:nvPicPr>
        <p:blipFill>
          <a:blip r:embed="rId2"/>
          <a:stretch/>
        </p:blipFill>
        <p:spPr>
          <a:xfrm>
            <a:off x="5682960" y="218556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8" name="Text 8"/>
          <p:cNvSpPr/>
          <p:nvPr/>
        </p:nvSpPr>
        <p:spPr>
          <a:xfrm>
            <a:off x="4389120" y="31546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2. Menor privilegio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9"/>
          <p:cNvSpPr/>
          <p:nvPr/>
        </p:nvSpPr>
        <p:spPr>
          <a:xfrm>
            <a:off x="4434840" y="3794760"/>
            <a:ext cx="2971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Limitar el acceso con Just-In-Time y Just-Enough-Access (JIT/JEA) y políticas adaptativas basadas en riesgo.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0"/>
          <p:cNvSpPr/>
          <p:nvPr/>
        </p:nvSpPr>
        <p:spPr>
          <a:xfrm>
            <a:off x="7863840" y="1600200"/>
            <a:ext cx="3428640" cy="420588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1"/>
          <p:cNvSpPr/>
          <p:nvPr/>
        </p:nvSpPr>
        <p:spPr>
          <a:xfrm>
            <a:off x="9121320" y="196596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2" name="Image 2" descr="/home/claude/icons/shieldoff.png"/>
          <p:cNvPicPr/>
          <p:nvPr/>
        </p:nvPicPr>
        <p:blipFill>
          <a:blip r:embed="rId3"/>
          <a:stretch/>
        </p:blipFill>
        <p:spPr>
          <a:xfrm>
            <a:off x="9340560" y="218556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Text 12"/>
          <p:cNvSpPr/>
          <p:nvPr/>
        </p:nvSpPr>
        <p:spPr>
          <a:xfrm>
            <a:off x="8046720" y="31546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3. Asumir la brecha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3"/>
          <p:cNvSpPr/>
          <p:nvPr/>
        </p:nvSpPr>
        <p:spPr>
          <a:xfrm>
            <a:off x="8092440" y="3794760"/>
            <a:ext cx="2971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Minimizar el radio de impacto (blast radius), segmentar accesos, cifrar extremo a extremo y usar analítica para detectar y mejorar.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5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ZERO TRUST EN PROFUNDIDAD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Los seis pilares de Zero Trust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2"/>
          <p:cNvSpPr/>
          <p:nvPr/>
        </p:nvSpPr>
        <p:spPr>
          <a:xfrm>
            <a:off x="548640" y="1600200"/>
            <a:ext cx="3428640" cy="196560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"/>
          <p:cNvSpPr/>
          <p:nvPr/>
        </p:nvSpPr>
        <p:spPr>
          <a:xfrm>
            <a:off x="1920240" y="1828800"/>
            <a:ext cx="685440" cy="6854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1" name="Image 0" descr="/home/claude/icons/key.png"/>
          <p:cNvPicPr/>
          <p:nvPr/>
        </p:nvPicPr>
        <p:blipFill>
          <a:blip r:embed="rId1"/>
          <a:stretch/>
        </p:blipFill>
        <p:spPr>
          <a:xfrm>
            <a:off x="2066400" y="197496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Text 4"/>
          <p:cNvSpPr/>
          <p:nvPr/>
        </p:nvSpPr>
        <p:spPr>
          <a:xfrm>
            <a:off x="731520" y="2651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Identidades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5"/>
          <p:cNvSpPr/>
          <p:nvPr/>
        </p:nvSpPr>
        <p:spPr>
          <a:xfrm>
            <a:off x="777240" y="299016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El nuevo plano de control: MFA, acceso condicional. Toda decisión de acceso empieza aquí.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6"/>
          <p:cNvSpPr/>
          <p:nvPr/>
        </p:nvSpPr>
        <p:spPr>
          <a:xfrm>
            <a:off x="4178880" y="1600200"/>
            <a:ext cx="3428640" cy="196560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7"/>
          <p:cNvSpPr/>
          <p:nvPr/>
        </p:nvSpPr>
        <p:spPr>
          <a:xfrm>
            <a:off x="5550480" y="1828800"/>
            <a:ext cx="685440" cy="6854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6" name="Image 1" descr="/home/claude/icons/smartphone.png"/>
          <p:cNvPicPr/>
          <p:nvPr/>
        </p:nvPicPr>
        <p:blipFill>
          <a:blip r:embed="rId2"/>
          <a:stretch/>
        </p:blipFill>
        <p:spPr>
          <a:xfrm>
            <a:off x="5696640" y="197496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Text 8"/>
          <p:cNvSpPr/>
          <p:nvPr/>
        </p:nvSpPr>
        <p:spPr>
          <a:xfrm>
            <a:off x="4361760" y="2651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Dispositivos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9"/>
          <p:cNvSpPr/>
          <p:nvPr/>
        </p:nvSpPr>
        <p:spPr>
          <a:xfrm>
            <a:off x="4407480" y="299016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Salud y cumplimiento del dispositivo como condición de acceso.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0"/>
          <p:cNvSpPr/>
          <p:nvPr/>
        </p:nvSpPr>
        <p:spPr>
          <a:xfrm>
            <a:off x="7809120" y="1600200"/>
            <a:ext cx="3428640" cy="196560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11"/>
          <p:cNvSpPr/>
          <p:nvPr/>
        </p:nvSpPr>
        <p:spPr>
          <a:xfrm>
            <a:off x="9180720" y="1828800"/>
            <a:ext cx="685440" cy="6854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1" name="Image 2" descr="/home/claude/icons/box.png"/>
          <p:cNvPicPr/>
          <p:nvPr/>
        </p:nvPicPr>
        <p:blipFill>
          <a:blip r:embed="rId3"/>
          <a:stretch/>
        </p:blipFill>
        <p:spPr>
          <a:xfrm>
            <a:off x="9326880" y="197496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Text 12"/>
          <p:cNvSpPr/>
          <p:nvPr/>
        </p:nvSpPr>
        <p:spPr>
          <a:xfrm>
            <a:off x="7992000" y="2651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Aplicaciones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3"/>
          <p:cNvSpPr/>
          <p:nvPr/>
        </p:nvSpPr>
        <p:spPr>
          <a:xfrm>
            <a:off x="8037720" y="299016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Visibilidad de shadow IT, permisos apropiados, monitoreo de anomalías.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14"/>
          <p:cNvSpPr/>
          <p:nvPr/>
        </p:nvSpPr>
        <p:spPr>
          <a:xfrm>
            <a:off x="548640" y="3794760"/>
            <a:ext cx="3428640" cy="196560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5"/>
          <p:cNvSpPr/>
          <p:nvPr/>
        </p:nvSpPr>
        <p:spPr>
          <a:xfrm>
            <a:off x="1920240" y="4023360"/>
            <a:ext cx="685440" cy="6854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6" name="Image 3" descr="/home/claude/icons/database.png"/>
          <p:cNvPicPr/>
          <p:nvPr/>
        </p:nvPicPr>
        <p:blipFill>
          <a:blip r:embed="rId4"/>
          <a:stretch/>
        </p:blipFill>
        <p:spPr>
          <a:xfrm>
            <a:off x="2066400" y="416952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Text 16"/>
          <p:cNvSpPr/>
          <p:nvPr/>
        </p:nvSpPr>
        <p:spPr>
          <a:xfrm>
            <a:off x="731520" y="48463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7"/>
          <p:cNvSpPr/>
          <p:nvPr/>
        </p:nvSpPr>
        <p:spPr>
          <a:xfrm>
            <a:off x="777240" y="518472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Clasificar, etiquetar, cifrar: la protección viaja con el dato, no con la red.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18"/>
          <p:cNvSpPr/>
          <p:nvPr/>
        </p:nvSpPr>
        <p:spPr>
          <a:xfrm>
            <a:off x="4178880" y="3794760"/>
            <a:ext cx="3428640" cy="196560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19"/>
          <p:cNvSpPr/>
          <p:nvPr/>
        </p:nvSpPr>
        <p:spPr>
          <a:xfrm>
            <a:off x="5550480" y="4023360"/>
            <a:ext cx="685440" cy="6854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1" name="Image 4" descr="/home/claude/icons/server.png"/>
          <p:cNvPicPr/>
          <p:nvPr/>
        </p:nvPicPr>
        <p:blipFill>
          <a:blip r:embed="rId5"/>
          <a:stretch/>
        </p:blipFill>
        <p:spPr>
          <a:xfrm>
            <a:off x="5696640" y="416952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Text 20"/>
          <p:cNvSpPr/>
          <p:nvPr/>
        </p:nvSpPr>
        <p:spPr>
          <a:xfrm>
            <a:off x="4361760" y="48463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Infraestructura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21"/>
          <p:cNvSpPr/>
          <p:nvPr/>
        </p:nvSpPr>
        <p:spPr>
          <a:xfrm>
            <a:off x="4407480" y="518472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Hardening, configuración como código, detección de drift, JIT sobre recursos.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22"/>
          <p:cNvSpPr/>
          <p:nvPr/>
        </p:nvSpPr>
        <p:spPr>
          <a:xfrm>
            <a:off x="7809120" y="3794760"/>
            <a:ext cx="3428640" cy="196560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23"/>
          <p:cNvSpPr/>
          <p:nvPr/>
        </p:nvSpPr>
        <p:spPr>
          <a:xfrm>
            <a:off x="9180720" y="4023360"/>
            <a:ext cx="685440" cy="6854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6" name="Image 5" descr="/home/claude/icons/wifi.png"/>
          <p:cNvPicPr/>
          <p:nvPr/>
        </p:nvPicPr>
        <p:blipFill>
          <a:blip r:embed="rId6"/>
          <a:stretch/>
        </p:blipFill>
        <p:spPr>
          <a:xfrm>
            <a:off x="9326880" y="416952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Text 24"/>
          <p:cNvSpPr/>
          <p:nvPr/>
        </p:nvSpPr>
        <p:spPr>
          <a:xfrm>
            <a:off x="7992000" y="48463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Redes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25"/>
          <p:cNvSpPr/>
          <p:nvPr/>
        </p:nvSpPr>
        <p:spPr>
          <a:xfrm>
            <a:off x="8037720" y="518472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Microsegmentación, cifrado del tráfico, prevención de movimiento lateral.</a:t>
            </a:r>
            <a:endParaRPr lang="es-CO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26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27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ZERO TRUST EN PROFUNDIDAD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Arquitectura: el motor de política en el centro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2"/>
          <p:cNvSpPr/>
          <p:nvPr/>
        </p:nvSpPr>
        <p:spPr>
          <a:xfrm>
            <a:off x="548640" y="11430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La decisión de acceso deja de ser “estás en la red corporativa” y pasa a ser una evaluación dinámica por solicitud. Capa transversal: Defender XDR / Defender for Cloud monitorea, detecta y remedia.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3"/>
          <p:cNvSpPr/>
          <p:nvPr/>
        </p:nvSpPr>
        <p:spPr>
          <a:xfrm>
            <a:off x="548640" y="2377440"/>
            <a:ext cx="3108600" cy="137124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4"/>
          <p:cNvSpPr/>
          <p:nvPr/>
        </p:nvSpPr>
        <p:spPr>
          <a:xfrm>
            <a:off x="777240" y="25146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Señales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5"/>
          <p:cNvSpPr/>
          <p:nvPr/>
        </p:nvSpPr>
        <p:spPr>
          <a:xfrm>
            <a:off x="777240" y="29260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Identidad · dispositivo · ubicación · riesgo · clasificación del dato</a:t>
            </a:r>
            <a:endParaRPr lang="es-CO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6"/>
          <p:cNvSpPr/>
          <p:nvPr/>
        </p:nvSpPr>
        <p:spPr>
          <a:xfrm>
            <a:off x="3657600" y="278892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7"/>
          <p:cNvSpPr/>
          <p:nvPr/>
        </p:nvSpPr>
        <p:spPr>
          <a:xfrm>
            <a:off x="4480560" y="2194560"/>
            <a:ext cx="3108600" cy="1737000"/>
          </a:xfrm>
          <a:prstGeom prst="roundRect">
            <a:avLst>
              <a:gd name="adj" fmla="val 4737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8"/>
          <p:cNvSpPr/>
          <p:nvPr/>
        </p:nvSpPr>
        <p:spPr>
          <a:xfrm>
            <a:off x="5738040" y="2331720"/>
            <a:ext cx="594000" cy="594000"/>
          </a:xfrm>
          <a:prstGeom prst="ellipse">
            <a:avLst/>
          </a:prstGeom>
          <a:solidFill>
            <a:srgbClr val="0B20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0" name="Image 0" descr="/home/claude/icons/settings.png"/>
          <p:cNvPicPr/>
          <p:nvPr/>
        </p:nvPicPr>
        <p:blipFill>
          <a:blip r:embed="rId1"/>
          <a:stretch/>
        </p:blipFill>
        <p:spPr>
          <a:xfrm>
            <a:off x="5865840" y="245988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Text 9"/>
          <p:cNvSpPr/>
          <p:nvPr/>
        </p:nvSpPr>
        <p:spPr>
          <a:xfrm>
            <a:off x="4663440" y="29718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Motor de política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0"/>
          <p:cNvSpPr/>
          <p:nvPr/>
        </p:nvSpPr>
        <p:spPr>
          <a:xfrm>
            <a:off x="4663440" y="333756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Evalúa CADA solicitud · Entra ID + Conditional Access</a:t>
            </a:r>
            <a:endParaRPr lang="es-CO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11"/>
          <p:cNvSpPr/>
          <p:nvPr/>
        </p:nvSpPr>
        <p:spPr>
          <a:xfrm>
            <a:off x="7589520" y="278892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2"/>
          <p:cNvSpPr/>
          <p:nvPr/>
        </p:nvSpPr>
        <p:spPr>
          <a:xfrm>
            <a:off x="8412480" y="2377440"/>
            <a:ext cx="3108600" cy="137124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3"/>
          <p:cNvSpPr/>
          <p:nvPr/>
        </p:nvSpPr>
        <p:spPr>
          <a:xfrm>
            <a:off x="8641080" y="25146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Recursos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4"/>
          <p:cNvSpPr/>
          <p:nvPr/>
        </p:nvSpPr>
        <p:spPr>
          <a:xfrm>
            <a:off x="8641080" y="29260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Aplicaciones · datos · infraestructura · red</a:t>
            </a:r>
            <a:endParaRPr lang="es-CO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5"/>
          <p:cNvSpPr/>
          <p:nvPr/>
        </p:nvSpPr>
        <p:spPr>
          <a:xfrm>
            <a:off x="548640" y="4434840"/>
            <a:ext cx="10698120" cy="1051200"/>
          </a:xfrm>
          <a:prstGeom prst="roundRect">
            <a:avLst>
              <a:gd name="adj" fmla="val 7826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16"/>
          <p:cNvSpPr/>
          <p:nvPr/>
        </p:nvSpPr>
        <p:spPr>
          <a:xfrm>
            <a:off x="777240" y="4599360"/>
            <a:ext cx="685440" cy="6854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9" name="Image 1" descr="/home/claude/icons/activity.png"/>
          <p:cNvPicPr/>
          <p:nvPr/>
        </p:nvPicPr>
        <p:blipFill>
          <a:blip r:embed="rId2"/>
          <a:stretch/>
        </p:blipFill>
        <p:spPr>
          <a:xfrm>
            <a:off x="923400" y="4745880"/>
            <a:ext cx="392760" cy="3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Text 17"/>
          <p:cNvSpPr/>
          <p:nvPr/>
        </p:nvSpPr>
        <p:spPr>
          <a:xfrm>
            <a:off x="1600200" y="452628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Capa transversal: protección contra amenazas e inteligencia (Defender XDR / Defender for Cloud) que monitorea cada señal, detecta anomalías y remedia de forma continua.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9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PRINCIPIOS DE SEGURIDAD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Trust boundaries y actores de amenaza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2"/>
          <p:cNvSpPr/>
          <p:nvPr/>
        </p:nvSpPr>
        <p:spPr>
          <a:xfrm>
            <a:off x="548640" y="11430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Un enfoque orientado a activos: primero se identifica qué proteger, luego dónde cambia el nivel de confianza y quién podría atacar.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3"/>
          <p:cNvSpPr/>
          <p:nvPr/>
        </p:nvSpPr>
        <p:spPr>
          <a:xfrm>
            <a:off x="548640" y="201168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FCE9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4"/>
          <p:cNvSpPr/>
          <p:nvPr/>
        </p:nvSpPr>
        <p:spPr>
          <a:xfrm>
            <a:off x="548640" y="20116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Internet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(no confiable)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5"/>
          <p:cNvSpPr/>
          <p:nvPr/>
        </p:nvSpPr>
        <p:spPr>
          <a:xfrm>
            <a:off x="4663440" y="201168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CF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6"/>
          <p:cNvSpPr/>
          <p:nvPr/>
        </p:nvSpPr>
        <p:spPr>
          <a:xfrm>
            <a:off x="4663440" y="20116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Aplicación /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API Gateway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7"/>
          <p:cNvSpPr/>
          <p:nvPr/>
        </p:nvSpPr>
        <p:spPr>
          <a:xfrm>
            <a:off x="8778240" y="201168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8"/>
          <p:cNvSpPr/>
          <p:nvPr/>
        </p:nvSpPr>
        <p:spPr>
          <a:xfrm>
            <a:off x="8778240" y="201168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(máxima protección)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9"/>
          <p:cNvSpPr/>
          <p:nvPr/>
        </p:nvSpPr>
        <p:spPr>
          <a:xfrm>
            <a:off x="3063240" y="1783080"/>
            <a:ext cx="360" cy="1371600"/>
          </a:xfrm>
          <a:prstGeom prst="line">
            <a:avLst/>
          </a:prstGeom>
          <a:ln w="22225">
            <a:solidFill>
              <a:srgbClr val="E4572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0"/>
          <p:cNvSpPr/>
          <p:nvPr/>
        </p:nvSpPr>
        <p:spPr>
          <a:xfrm>
            <a:off x="2514600" y="14630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Frontera de confianza</a:t>
            </a:r>
            <a:endParaRPr lang="es-CO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11"/>
          <p:cNvSpPr/>
          <p:nvPr/>
        </p:nvSpPr>
        <p:spPr>
          <a:xfrm>
            <a:off x="7178040" y="1783080"/>
            <a:ext cx="360" cy="1371600"/>
          </a:xfrm>
          <a:prstGeom prst="line">
            <a:avLst/>
          </a:prstGeom>
          <a:ln w="22225">
            <a:solidFill>
              <a:srgbClr val="E4572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2"/>
          <p:cNvSpPr/>
          <p:nvPr/>
        </p:nvSpPr>
        <p:spPr>
          <a:xfrm>
            <a:off x="6629400" y="14630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Frontera de confianza</a:t>
            </a:r>
            <a:endParaRPr lang="es-CO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3"/>
          <p:cNvSpPr/>
          <p:nvPr/>
        </p:nvSpPr>
        <p:spPr>
          <a:xfrm>
            <a:off x="2834640" y="2240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4"/>
          <p:cNvSpPr/>
          <p:nvPr/>
        </p:nvSpPr>
        <p:spPr>
          <a:xfrm>
            <a:off x="6949440" y="2240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5"/>
          <p:cNvSpPr/>
          <p:nvPr/>
        </p:nvSpPr>
        <p:spPr>
          <a:xfrm>
            <a:off x="548640" y="3246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Cada punto donde cambia el nivel de confianza (Internet → App, App → Datos) es una frontera de confianza: allí deben concentrarse los controles de validación y autenticación.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6"/>
          <p:cNvSpPr/>
          <p:nvPr/>
        </p:nvSpPr>
        <p:spPr>
          <a:xfrm>
            <a:off x="548640" y="3931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Tipos de actores de amenaza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7"/>
          <p:cNvSpPr/>
          <p:nvPr/>
        </p:nvSpPr>
        <p:spPr>
          <a:xfrm>
            <a:off x="548640" y="43434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8"/>
          <p:cNvSpPr/>
          <p:nvPr/>
        </p:nvSpPr>
        <p:spPr>
          <a:xfrm>
            <a:off x="685800" y="44805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Externos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9"/>
          <p:cNvSpPr/>
          <p:nvPr/>
        </p:nvSpPr>
        <p:spPr>
          <a:xfrm>
            <a:off x="685800" y="4846320"/>
            <a:ext cx="2331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Cibercriminales, hacktivistas, APT patrocinados por estados.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0"/>
          <p:cNvSpPr/>
          <p:nvPr/>
        </p:nvSpPr>
        <p:spPr>
          <a:xfrm>
            <a:off x="3337560" y="43434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1"/>
          <p:cNvSpPr/>
          <p:nvPr/>
        </p:nvSpPr>
        <p:spPr>
          <a:xfrm>
            <a:off x="3474720" y="44805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Internos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22"/>
          <p:cNvSpPr/>
          <p:nvPr/>
        </p:nvSpPr>
        <p:spPr>
          <a:xfrm>
            <a:off x="3474720" y="4846320"/>
            <a:ext cx="2331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Empleados o contratistas malintencionados o negligentes.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23"/>
          <p:cNvSpPr/>
          <p:nvPr/>
        </p:nvSpPr>
        <p:spPr>
          <a:xfrm>
            <a:off x="6126480" y="43434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24"/>
          <p:cNvSpPr/>
          <p:nvPr/>
        </p:nvSpPr>
        <p:spPr>
          <a:xfrm>
            <a:off x="6263640" y="44805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Terceros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25"/>
          <p:cNvSpPr/>
          <p:nvPr/>
        </p:nvSpPr>
        <p:spPr>
          <a:xfrm>
            <a:off x="6263640" y="4846320"/>
            <a:ext cx="2331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Proveedores, integraciones y cadenas de suministro comprometidas.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26"/>
          <p:cNvSpPr/>
          <p:nvPr/>
        </p:nvSpPr>
        <p:spPr>
          <a:xfrm>
            <a:off x="8915400" y="43434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27"/>
          <p:cNvSpPr/>
          <p:nvPr/>
        </p:nvSpPr>
        <p:spPr>
          <a:xfrm>
            <a:off x="9052560" y="44805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Automatizados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28"/>
          <p:cNvSpPr/>
          <p:nvPr/>
        </p:nvSpPr>
        <p:spPr>
          <a:xfrm>
            <a:off x="9052560" y="4846320"/>
            <a:ext cx="2331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Bots, malware y explotación masiva y oportunista de configuraciones.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2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3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¿Qué es el threat modeling?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2"/>
          <p:cNvSpPr/>
          <p:nvPr/>
        </p:nvSpPr>
        <p:spPr>
          <a:xfrm>
            <a:off x="548640" y="1234440"/>
            <a:ext cx="10698120" cy="1188360"/>
          </a:xfrm>
          <a:prstGeom prst="roundRect">
            <a:avLst>
              <a:gd name="adj" fmla="val 6923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3"/>
          <p:cNvSpPr/>
          <p:nvPr/>
        </p:nvSpPr>
        <p:spPr>
          <a:xfrm>
            <a:off x="822960" y="1371600"/>
            <a:ext cx="10149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Proceso estructurado para identificar, enumerar y priorizar amenazas ANTES de que ocurran, idealmente en fase de diseño (shift-left). Es la actividad de seguridad con mejor relación costo/beneficio: corregir en diseño cuesta órdenes de magnitud menos que en producción.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4"/>
          <p:cNvSpPr/>
          <p:nvPr/>
        </p:nvSpPr>
        <p:spPr>
          <a:xfrm>
            <a:off x="548640" y="26974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Encaja en la fase Plan/Design del pipeline DevSecOps: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5"/>
          <p:cNvSpPr/>
          <p:nvPr/>
        </p:nvSpPr>
        <p:spPr>
          <a:xfrm>
            <a:off x="548640" y="3246120"/>
            <a:ext cx="1691280" cy="86832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6"/>
          <p:cNvSpPr/>
          <p:nvPr/>
        </p:nvSpPr>
        <p:spPr>
          <a:xfrm>
            <a:off x="548640" y="3246120"/>
            <a:ext cx="1691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Plan/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7"/>
          <p:cNvSpPr/>
          <p:nvPr/>
        </p:nvSpPr>
        <p:spPr>
          <a:xfrm>
            <a:off x="2350080" y="3246120"/>
            <a:ext cx="1691280" cy="86832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8"/>
          <p:cNvSpPr/>
          <p:nvPr/>
        </p:nvSpPr>
        <p:spPr>
          <a:xfrm>
            <a:off x="2350080" y="3246120"/>
            <a:ext cx="1691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9"/>
          <p:cNvSpPr/>
          <p:nvPr/>
        </p:nvSpPr>
        <p:spPr>
          <a:xfrm>
            <a:off x="4151520" y="3246120"/>
            <a:ext cx="1691280" cy="86832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0"/>
          <p:cNvSpPr/>
          <p:nvPr/>
        </p:nvSpPr>
        <p:spPr>
          <a:xfrm>
            <a:off x="4151520" y="3246120"/>
            <a:ext cx="1691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11"/>
          <p:cNvSpPr/>
          <p:nvPr/>
        </p:nvSpPr>
        <p:spPr>
          <a:xfrm>
            <a:off x="5952600" y="3246120"/>
            <a:ext cx="1691280" cy="86832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12"/>
          <p:cNvSpPr/>
          <p:nvPr/>
        </p:nvSpPr>
        <p:spPr>
          <a:xfrm>
            <a:off x="5952600" y="3246120"/>
            <a:ext cx="1691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3"/>
          <p:cNvSpPr/>
          <p:nvPr/>
        </p:nvSpPr>
        <p:spPr>
          <a:xfrm>
            <a:off x="7754040" y="3246120"/>
            <a:ext cx="1691280" cy="86832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14"/>
          <p:cNvSpPr/>
          <p:nvPr/>
        </p:nvSpPr>
        <p:spPr>
          <a:xfrm>
            <a:off x="7754040" y="3246120"/>
            <a:ext cx="1691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15"/>
          <p:cNvSpPr/>
          <p:nvPr/>
        </p:nvSpPr>
        <p:spPr>
          <a:xfrm>
            <a:off x="9555480" y="3246120"/>
            <a:ext cx="1691280" cy="86832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16"/>
          <p:cNvSpPr/>
          <p:nvPr/>
        </p:nvSpPr>
        <p:spPr>
          <a:xfrm>
            <a:off x="9555480" y="3246120"/>
            <a:ext cx="1691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3138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7"/>
          <p:cNvSpPr/>
          <p:nvPr/>
        </p:nvSpPr>
        <p:spPr>
          <a:xfrm>
            <a:off x="1394280" y="4114800"/>
            <a:ext cx="360" cy="457200"/>
          </a:xfrm>
          <a:prstGeom prst="line">
            <a:avLst/>
          </a:prstGeom>
          <a:ln w="25400">
            <a:solidFill>
              <a:srgbClr val="02809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18"/>
          <p:cNvSpPr/>
          <p:nvPr/>
        </p:nvSpPr>
        <p:spPr>
          <a:xfrm>
            <a:off x="548640" y="47091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El threat modeling vive aquí — antes de escribir la primera línea de código.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1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2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THREAT MODELING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Las cuatro preguntas (Shostack, adoptado por OWASP)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2"/>
          <p:cNvSpPr/>
          <p:nvPr/>
        </p:nvSpPr>
        <p:spPr>
          <a:xfrm>
            <a:off x="548640" y="1691640"/>
            <a:ext cx="5120280" cy="196560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3"/>
          <p:cNvSpPr/>
          <p:nvPr/>
        </p:nvSpPr>
        <p:spPr>
          <a:xfrm>
            <a:off x="731520" y="180144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CO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4"/>
          <p:cNvSpPr/>
          <p:nvPr/>
        </p:nvSpPr>
        <p:spPr>
          <a:xfrm>
            <a:off x="4800600" y="189288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0" name="Image 0" descr="/home/claude/icons/map.png"/>
          <p:cNvPicPr/>
          <p:nvPr/>
        </p:nvPicPr>
        <p:blipFill>
          <a:blip r:embed="rId1"/>
          <a:stretch/>
        </p:blipFill>
        <p:spPr>
          <a:xfrm>
            <a:off x="4928760" y="202068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Text 5"/>
          <p:cNvSpPr/>
          <p:nvPr/>
        </p:nvSpPr>
        <p:spPr>
          <a:xfrm>
            <a:off x="777240" y="23774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¿Qué estamos construyendo?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6"/>
          <p:cNvSpPr/>
          <p:nvPr/>
        </p:nvSpPr>
        <p:spPr>
          <a:xfrm>
            <a:off x="777240" y="288036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Diagramas de arquitectura y de flujo de datos (DFD).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7"/>
          <p:cNvSpPr/>
          <p:nvPr/>
        </p:nvSpPr>
        <p:spPr>
          <a:xfrm>
            <a:off x="5943600" y="1691640"/>
            <a:ext cx="5120280" cy="196560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8"/>
          <p:cNvSpPr/>
          <p:nvPr/>
        </p:nvSpPr>
        <p:spPr>
          <a:xfrm>
            <a:off x="6126480" y="180144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CO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9"/>
          <p:cNvSpPr/>
          <p:nvPr/>
        </p:nvSpPr>
        <p:spPr>
          <a:xfrm>
            <a:off x="10195560" y="189288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6" name="Image 1" descr="/home/claude/icons/alert.png"/>
          <p:cNvPicPr/>
          <p:nvPr/>
        </p:nvPicPr>
        <p:blipFill>
          <a:blip r:embed="rId2"/>
          <a:stretch/>
        </p:blipFill>
        <p:spPr>
          <a:xfrm>
            <a:off x="10323720" y="202068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7" name="Text 10"/>
          <p:cNvSpPr/>
          <p:nvPr/>
        </p:nvSpPr>
        <p:spPr>
          <a:xfrm>
            <a:off x="6172200" y="23774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¿Qué puede salir mal?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1"/>
          <p:cNvSpPr/>
          <p:nvPr/>
        </p:nvSpPr>
        <p:spPr>
          <a:xfrm>
            <a:off x="6172200" y="288036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Identificación de amenazas: aquí entran STRIDE y otras taxonomías.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2"/>
          <p:cNvSpPr/>
          <p:nvPr/>
        </p:nvSpPr>
        <p:spPr>
          <a:xfrm>
            <a:off x="548640" y="3886200"/>
            <a:ext cx="5120280" cy="196560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13"/>
          <p:cNvSpPr/>
          <p:nvPr/>
        </p:nvSpPr>
        <p:spPr>
          <a:xfrm>
            <a:off x="731520" y="399600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CO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14"/>
          <p:cNvSpPr/>
          <p:nvPr/>
        </p:nvSpPr>
        <p:spPr>
          <a:xfrm>
            <a:off x="4800600" y="40874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2" name="Image 2" descr="/home/claude/icons/shield.png"/>
          <p:cNvPicPr/>
          <p:nvPr/>
        </p:nvPicPr>
        <p:blipFill>
          <a:blip r:embed="rId3"/>
          <a:stretch/>
        </p:blipFill>
        <p:spPr>
          <a:xfrm>
            <a:off x="4928760" y="421524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3" name="Text 15"/>
          <p:cNvSpPr/>
          <p:nvPr/>
        </p:nvSpPr>
        <p:spPr>
          <a:xfrm>
            <a:off x="777240" y="45720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¿Qué vamos a hacer al respecto?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16"/>
          <p:cNvSpPr/>
          <p:nvPr/>
        </p:nvSpPr>
        <p:spPr>
          <a:xfrm>
            <a:off x="777240" y="507492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Controles y mitigaciones, priorizados como backlog.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17"/>
          <p:cNvSpPr/>
          <p:nvPr/>
        </p:nvSpPr>
        <p:spPr>
          <a:xfrm>
            <a:off x="5943600" y="3886200"/>
            <a:ext cx="5120280" cy="196560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8"/>
          <p:cNvSpPr/>
          <p:nvPr/>
        </p:nvSpPr>
        <p:spPr>
          <a:xfrm>
            <a:off x="6126480" y="399600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CFEAE6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CO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9"/>
          <p:cNvSpPr/>
          <p:nvPr/>
        </p:nvSpPr>
        <p:spPr>
          <a:xfrm>
            <a:off x="10195560" y="4087440"/>
            <a:ext cx="594000" cy="5940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8" name="Image 3" descr="/home/claude/icons/checkcircle.png"/>
          <p:cNvPicPr/>
          <p:nvPr/>
        </p:nvPicPr>
        <p:blipFill>
          <a:blip r:embed="rId4"/>
          <a:stretch/>
        </p:blipFill>
        <p:spPr>
          <a:xfrm>
            <a:off x="10323720" y="421524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" name="Text 20"/>
          <p:cNvSpPr/>
          <p:nvPr/>
        </p:nvSpPr>
        <p:spPr>
          <a:xfrm>
            <a:off x="6172200" y="45720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¿Lo hicimos bien?</a:t>
            </a:r>
            <a:endParaRPr lang="es-CO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21"/>
          <p:cNvSpPr/>
          <p:nvPr/>
        </p:nvSpPr>
        <p:spPr>
          <a:xfrm>
            <a:off x="6172200" y="507492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Validación y revisión continua del modelo.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22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23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El insumo: Data Flow Diagram (DFD)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2"/>
          <p:cNvSpPr/>
          <p:nvPr/>
        </p:nvSpPr>
        <p:spPr>
          <a:xfrm>
            <a:off x="548640" y="1828800"/>
            <a:ext cx="2102760" cy="776880"/>
          </a:xfrm>
          <a:prstGeom prst="roundRect">
            <a:avLst>
              <a:gd name="adj" fmla="val 7059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"/>
          <p:cNvSpPr/>
          <p:nvPr/>
        </p:nvSpPr>
        <p:spPr>
          <a:xfrm>
            <a:off x="548640" y="18288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Usuario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4"/>
          <p:cNvSpPr/>
          <p:nvPr/>
        </p:nvSpPr>
        <p:spPr>
          <a:xfrm>
            <a:off x="2697480" y="199332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5"/>
          <p:cNvSpPr/>
          <p:nvPr/>
        </p:nvSpPr>
        <p:spPr>
          <a:xfrm>
            <a:off x="3246120" y="1828800"/>
            <a:ext cx="2102760" cy="77688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6"/>
          <p:cNvSpPr/>
          <p:nvPr/>
        </p:nvSpPr>
        <p:spPr>
          <a:xfrm>
            <a:off x="3246120" y="18288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7"/>
          <p:cNvSpPr/>
          <p:nvPr/>
        </p:nvSpPr>
        <p:spPr>
          <a:xfrm>
            <a:off x="5394960" y="199332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8"/>
          <p:cNvSpPr/>
          <p:nvPr/>
        </p:nvSpPr>
        <p:spPr>
          <a:xfrm>
            <a:off x="5943600" y="1755720"/>
            <a:ext cx="2102760" cy="92304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9"/>
          <p:cNvSpPr/>
          <p:nvPr/>
        </p:nvSpPr>
        <p:spPr>
          <a:xfrm>
            <a:off x="5943600" y="18288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BD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0"/>
          <p:cNvSpPr/>
          <p:nvPr/>
        </p:nvSpPr>
        <p:spPr>
          <a:xfrm>
            <a:off x="4754880" y="1554480"/>
            <a:ext cx="360" cy="1325880"/>
          </a:xfrm>
          <a:prstGeom prst="line">
            <a:avLst/>
          </a:prstGeom>
          <a:ln w="22225">
            <a:solidFill>
              <a:srgbClr val="E4572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1"/>
          <p:cNvSpPr/>
          <p:nvPr/>
        </p:nvSpPr>
        <p:spPr>
          <a:xfrm>
            <a:off x="4251960" y="2926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trust boundary</a:t>
            </a:r>
            <a:endParaRPr lang="es-CO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2"/>
          <p:cNvSpPr/>
          <p:nvPr/>
        </p:nvSpPr>
        <p:spPr>
          <a:xfrm>
            <a:off x="548640" y="329184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13"/>
          <p:cNvSpPr/>
          <p:nvPr/>
        </p:nvSpPr>
        <p:spPr>
          <a:xfrm>
            <a:off x="1577520" y="347472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7" name="Image 0" descr="/home/claude/icons/users.png"/>
          <p:cNvPicPr/>
          <p:nvPr/>
        </p:nvPicPr>
        <p:blipFill>
          <a:blip r:embed="rId1"/>
          <a:stretch/>
        </p:blipFill>
        <p:spPr>
          <a:xfrm>
            <a:off x="1696320" y="35935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8" name="Text 14"/>
          <p:cNvSpPr/>
          <p:nvPr/>
        </p:nvSpPr>
        <p:spPr>
          <a:xfrm>
            <a:off x="68580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Entidades externas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5"/>
          <p:cNvSpPr/>
          <p:nvPr/>
        </p:nvSpPr>
        <p:spPr>
          <a:xfrm>
            <a:off x="713160" y="4507920"/>
            <a:ext cx="2276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Usuarios, sistemas de terceros — todo lo que interactúa desde afuera.</a:t>
            </a:r>
            <a:endParaRPr lang="es-CO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6"/>
          <p:cNvSpPr/>
          <p:nvPr/>
        </p:nvSpPr>
        <p:spPr>
          <a:xfrm>
            <a:off x="3355920" y="329184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17"/>
          <p:cNvSpPr/>
          <p:nvPr/>
        </p:nvSpPr>
        <p:spPr>
          <a:xfrm>
            <a:off x="4384440" y="347472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2" name="Image 1" descr="/home/claude/icons/settings.png"/>
          <p:cNvPicPr/>
          <p:nvPr/>
        </p:nvPicPr>
        <p:blipFill>
          <a:blip r:embed="rId2"/>
          <a:stretch/>
        </p:blipFill>
        <p:spPr>
          <a:xfrm>
            <a:off x="4503600" y="35935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3" name="Text 18"/>
          <p:cNvSpPr/>
          <p:nvPr/>
        </p:nvSpPr>
        <p:spPr>
          <a:xfrm>
            <a:off x="349308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Procesos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9"/>
          <p:cNvSpPr/>
          <p:nvPr/>
        </p:nvSpPr>
        <p:spPr>
          <a:xfrm>
            <a:off x="3520440" y="4507920"/>
            <a:ext cx="2276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Servicios, APIs, microservicios: el código que transforma datos.</a:t>
            </a:r>
            <a:endParaRPr lang="es-CO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20"/>
          <p:cNvSpPr/>
          <p:nvPr/>
        </p:nvSpPr>
        <p:spPr>
          <a:xfrm>
            <a:off x="6163200" y="329184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21"/>
          <p:cNvSpPr/>
          <p:nvPr/>
        </p:nvSpPr>
        <p:spPr>
          <a:xfrm>
            <a:off x="7191720" y="347472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7" name="Image 2" descr="/home/claude/icons/database.png"/>
          <p:cNvPicPr/>
          <p:nvPr/>
        </p:nvPicPr>
        <p:blipFill>
          <a:blip r:embed="rId3"/>
          <a:stretch/>
        </p:blipFill>
        <p:spPr>
          <a:xfrm>
            <a:off x="7310520" y="35935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8" name="Text 22"/>
          <p:cNvSpPr/>
          <p:nvPr/>
        </p:nvSpPr>
        <p:spPr>
          <a:xfrm>
            <a:off x="630036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Almacenes de datos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23"/>
          <p:cNvSpPr/>
          <p:nvPr/>
        </p:nvSpPr>
        <p:spPr>
          <a:xfrm>
            <a:off x="6327720" y="4507920"/>
            <a:ext cx="2276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Bases de datos, colas, blobs.</a:t>
            </a:r>
            <a:endParaRPr lang="es-CO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24"/>
          <p:cNvSpPr/>
          <p:nvPr/>
        </p:nvSpPr>
        <p:spPr>
          <a:xfrm>
            <a:off x="8970120" y="329184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25"/>
          <p:cNvSpPr/>
          <p:nvPr/>
        </p:nvSpPr>
        <p:spPr>
          <a:xfrm>
            <a:off x="9999000" y="347472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2" name="Image 3" descr="/home/claude/icons/arrowcircle.png"/>
          <p:cNvPicPr/>
          <p:nvPr/>
        </p:nvPicPr>
        <p:blipFill>
          <a:blip r:embed="rId4"/>
          <a:stretch/>
        </p:blipFill>
        <p:spPr>
          <a:xfrm>
            <a:off x="10117800" y="35935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Text 26"/>
          <p:cNvSpPr/>
          <p:nvPr/>
        </p:nvSpPr>
        <p:spPr>
          <a:xfrm>
            <a:off x="910728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Flujos de datos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27"/>
          <p:cNvSpPr/>
          <p:nvPr/>
        </p:nvSpPr>
        <p:spPr>
          <a:xfrm>
            <a:off x="9135000" y="4507920"/>
            <a:ext cx="2276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Llamadas y mensajes entre elementos.</a:t>
            </a:r>
            <a:endParaRPr lang="es-CO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28"/>
          <p:cNvSpPr/>
          <p:nvPr/>
        </p:nvSpPr>
        <p:spPr>
          <a:xfrm>
            <a:off x="548640" y="5486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Límites de confianza (trust boundaries): donde cambia el nivel de privilegio. Ahí se concentran las amenazas.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2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3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Threat Modeling: la metodología STRIDE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2"/>
          <p:cNvSpPr/>
          <p:nvPr/>
        </p:nvSpPr>
        <p:spPr>
          <a:xfrm>
            <a:off x="548640" y="114300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El modelado de amenazas identifica, evalúa y prioriza riesgos durante la fase de diseño. Microsoft desarrolló STRIDE como taxonomía para estructurar ese análisis.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3"/>
          <p:cNvSpPr/>
          <p:nvPr/>
        </p:nvSpPr>
        <p:spPr>
          <a:xfrm>
            <a:off x="548640" y="1783080"/>
            <a:ext cx="1709640" cy="2925720"/>
          </a:xfrm>
          <a:prstGeom prst="roundRect">
            <a:avLst>
              <a:gd name="adj" fmla="val 4278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4"/>
          <p:cNvSpPr/>
          <p:nvPr/>
        </p:nvSpPr>
        <p:spPr>
          <a:xfrm>
            <a:off x="548640" y="1920240"/>
            <a:ext cx="1709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5"/>
          <p:cNvSpPr/>
          <p:nvPr/>
        </p:nvSpPr>
        <p:spPr>
          <a:xfrm>
            <a:off x="640080" y="2834640"/>
            <a:ext cx="152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Spoofing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6"/>
          <p:cNvSpPr/>
          <p:nvPr/>
        </p:nvSpPr>
        <p:spPr>
          <a:xfrm>
            <a:off x="658440" y="3383280"/>
            <a:ext cx="149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Suplantación de identidad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7"/>
          <p:cNvSpPr/>
          <p:nvPr/>
        </p:nvSpPr>
        <p:spPr>
          <a:xfrm>
            <a:off x="2386440" y="1783080"/>
            <a:ext cx="1709640" cy="2925720"/>
          </a:xfrm>
          <a:prstGeom prst="roundRect">
            <a:avLst>
              <a:gd name="adj" fmla="val 4278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8"/>
          <p:cNvSpPr/>
          <p:nvPr/>
        </p:nvSpPr>
        <p:spPr>
          <a:xfrm>
            <a:off x="2386440" y="1920240"/>
            <a:ext cx="1709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9"/>
          <p:cNvSpPr/>
          <p:nvPr/>
        </p:nvSpPr>
        <p:spPr>
          <a:xfrm>
            <a:off x="2477880" y="2834640"/>
            <a:ext cx="152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Tampering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0"/>
          <p:cNvSpPr/>
          <p:nvPr/>
        </p:nvSpPr>
        <p:spPr>
          <a:xfrm>
            <a:off x="2496240" y="3383280"/>
            <a:ext cx="149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Alteración no autorizada de datos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1"/>
          <p:cNvSpPr/>
          <p:nvPr/>
        </p:nvSpPr>
        <p:spPr>
          <a:xfrm>
            <a:off x="4224600" y="1783080"/>
            <a:ext cx="1709640" cy="2925720"/>
          </a:xfrm>
          <a:prstGeom prst="roundRect">
            <a:avLst>
              <a:gd name="adj" fmla="val 4278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12"/>
          <p:cNvSpPr/>
          <p:nvPr/>
        </p:nvSpPr>
        <p:spPr>
          <a:xfrm>
            <a:off x="4224600" y="1920240"/>
            <a:ext cx="1709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13"/>
          <p:cNvSpPr/>
          <p:nvPr/>
        </p:nvSpPr>
        <p:spPr>
          <a:xfrm>
            <a:off x="4316040" y="2834640"/>
            <a:ext cx="152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Repudiation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4"/>
          <p:cNvSpPr/>
          <p:nvPr/>
        </p:nvSpPr>
        <p:spPr>
          <a:xfrm>
            <a:off x="4334400" y="3383280"/>
            <a:ext cx="149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Negar haber ejecutado una acción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5"/>
          <p:cNvSpPr/>
          <p:nvPr/>
        </p:nvSpPr>
        <p:spPr>
          <a:xfrm>
            <a:off x="6062400" y="1783080"/>
            <a:ext cx="1709640" cy="2925720"/>
          </a:xfrm>
          <a:prstGeom prst="roundRect">
            <a:avLst>
              <a:gd name="adj" fmla="val 4278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16"/>
          <p:cNvSpPr/>
          <p:nvPr/>
        </p:nvSpPr>
        <p:spPr>
          <a:xfrm>
            <a:off x="6062400" y="1920240"/>
            <a:ext cx="1709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7"/>
          <p:cNvSpPr/>
          <p:nvPr/>
        </p:nvSpPr>
        <p:spPr>
          <a:xfrm>
            <a:off x="6153840" y="2834640"/>
            <a:ext cx="152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Information Disclosure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18"/>
          <p:cNvSpPr/>
          <p:nvPr/>
        </p:nvSpPr>
        <p:spPr>
          <a:xfrm>
            <a:off x="6172200" y="3383280"/>
            <a:ext cx="149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Exposición de datos sensibles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19"/>
          <p:cNvSpPr/>
          <p:nvPr/>
        </p:nvSpPr>
        <p:spPr>
          <a:xfrm>
            <a:off x="7900560" y="1783080"/>
            <a:ext cx="1709640" cy="2925720"/>
          </a:xfrm>
          <a:prstGeom prst="roundRect">
            <a:avLst>
              <a:gd name="adj" fmla="val 4278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20"/>
          <p:cNvSpPr/>
          <p:nvPr/>
        </p:nvSpPr>
        <p:spPr>
          <a:xfrm>
            <a:off x="7900560" y="1920240"/>
            <a:ext cx="1709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1"/>
          <p:cNvSpPr/>
          <p:nvPr/>
        </p:nvSpPr>
        <p:spPr>
          <a:xfrm>
            <a:off x="7992000" y="2834640"/>
            <a:ext cx="152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Denial of Service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2"/>
          <p:cNvSpPr/>
          <p:nvPr/>
        </p:nvSpPr>
        <p:spPr>
          <a:xfrm>
            <a:off x="8010000" y="3383280"/>
            <a:ext cx="149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Interrupción de la disponibilidad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23"/>
          <p:cNvSpPr/>
          <p:nvPr/>
        </p:nvSpPr>
        <p:spPr>
          <a:xfrm>
            <a:off x="9738360" y="1783080"/>
            <a:ext cx="1709640" cy="2925720"/>
          </a:xfrm>
          <a:prstGeom prst="roundRect">
            <a:avLst>
              <a:gd name="adj" fmla="val 4278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24"/>
          <p:cNvSpPr/>
          <p:nvPr/>
        </p:nvSpPr>
        <p:spPr>
          <a:xfrm>
            <a:off x="9738360" y="1920240"/>
            <a:ext cx="1709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25"/>
          <p:cNvSpPr/>
          <p:nvPr/>
        </p:nvSpPr>
        <p:spPr>
          <a:xfrm>
            <a:off x="9829800" y="2834640"/>
            <a:ext cx="152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Elevation of Privilege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6"/>
          <p:cNvSpPr/>
          <p:nvPr/>
        </p:nvSpPr>
        <p:spPr>
          <a:xfrm>
            <a:off x="9848160" y="3383280"/>
            <a:ext cx="149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Obtener mayor acceso del autorizado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27"/>
          <p:cNvSpPr/>
          <p:nvPr/>
        </p:nvSpPr>
        <p:spPr>
          <a:xfrm>
            <a:off x="548640" y="493776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Proceso general: definir alcance del sistema → diagramar componentes y fronteras de confianza → aplicar STRIDE a cada elemento → priorizar con una matriz de impacto × probabilidad.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2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29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 · STRIDE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Seis categorías, seis propiedades violadas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2"/>
          <p:cNvSpPr/>
          <p:nvPr/>
        </p:nvSpPr>
        <p:spPr>
          <a:xfrm>
            <a:off x="548640" y="1554480"/>
            <a:ext cx="60300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3"/>
          <p:cNvSpPr/>
          <p:nvPr/>
        </p:nvSpPr>
        <p:spPr>
          <a:xfrm>
            <a:off x="548640" y="1554480"/>
            <a:ext cx="60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1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2" name="Shape 4"/>
          <p:cNvSpPr/>
          <p:nvPr/>
        </p:nvSpPr>
        <p:spPr>
          <a:xfrm>
            <a:off x="1188720" y="1554480"/>
            <a:ext cx="270612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5"/>
          <p:cNvSpPr/>
          <p:nvPr/>
        </p:nvSpPr>
        <p:spPr>
          <a:xfrm>
            <a:off x="1188720" y="1554480"/>
            <a:ext cx="270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Amenaza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6"/>
          <p:cNvSpPr/>
          <p:nvPr/>
        </p:nvSpPr>
        <p:spPr>
          <a:xfrm>
            <a:off x="3931920" y="1554480"/>
            <a:ext cx="215748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7"/>
          <p:cNvSpPr/>
          <p:nvPr/>
        </p:nvSpPr>
        <p:spPr>
          <a:xfrm>
            <a:off x="3931920" y="1554480"/>
            <a:ext cx="2157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Propiedad violada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8"/>
          <p:cNvSpPr/>
          <p:nvPr/>
        </p:nvSpPr>
        <p:spPr>
          <a:xfrm>
            <a:off x="6126480" y="1554480"/>
            <a:ext cx="4992120" cy="45684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9"/>
          <p:cNvSpPr/>
          <p:nvPr/>
        </p:nvSpPr>
        <p:spPr>
          <a:xfrm>
            <a:off x="6126480" y="1554480"/>
            <a:ext cx="499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Ejemplo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10"/>
          <p:cNvSpPr/>
          <p:nvPr/>
        </p:nvSpPr>
        <p:spPr>
          <a:xfrm>
            <a:off x="548640" y="2011680"/>
            <a:ext cx="603000" cy="575640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1"/>
          <p:cNvSpPr/>
          <p:nvPr/>
        </p:nvSpPr>
        <p:spPr>
          <a:xfrm>
            <a:off x="548640" y="2011680"/>
            <a:ext cx="603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12"/>
          <p:cNvSpPr/>
          <p:nvPr/>
        </p:nvSpPr>
        <p:spPr>
          <a:xfrm>
            <a:off x="1188720" y="2011680"/>
            <a:ext cx="270612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13"/>
          <p:cNvSpPr/>
          <p:nvPr/>
        </p:nvSpPr>
        <p:spPr>
          <a:xfrm>
            <a:off x="1188720" y="2011680"/>
            <a:ext cx="2706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Spoofing (suplantación)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14"/>
          <p:cNvSpPr/>
          <p:nvPr/>
        </p:nvSpPr>
        <p:spPr>
          <a:xfrm>
            <a:off x="3931920" y="2011680"/>
            <a:ext cx="215748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5"/>
          <p:cNvSpPr/>
          <p:nvPr/>
        </p:nvSpPr>
        <p:spPr>
          <a:xfrm>
            <a:off x="3931920" y="2011680"/>
            <a:ext cx="2157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Autenticación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16"/>
          <p:cNvSpPr/>
          <p:nvPr/>
        </p:nvSpPr>
        <p:spPr>
          <a:xfrm>
            <a:off x="6126480" y="2011680"/>
            <a:ext cx="499212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17"/>
          <p:cNvSpPr/>
          <p:nvPr/>
        </p:nvSpPr>
        <p:spPr>
          <a:xfrm>
            <a:off x="6126480" y="2011680"/>
            <a:ext cx="4992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Token robado para hacerse pasar por un usuario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18"/>
          <p:cNvSpPr/>
          <p:nvPr/>
        </p:nvSpPr>
        <p:spPr>
          <a:xfrm>
            <a:off x="548640" y="2633400"/>
            <a:ext cx="603000" cy="575640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19"/>
          <p:cNvSpPr/>
          <p:nvPr/>
        </p:nvSpPr>
        <p:spPr>
          <a:xfrm>
            <a:off x="548640" y="2633400"/>
            <a:ext cx="603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20"/>
          <p:cNvSpPr/>
          <p:nvPr/>
        </p:nvSpPr>
        <p:spPr>
          <a:xfrm>
            <a:off x="1188720" y="2633400"/>
            <a:ext cx="27061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1"/>
          <p:cNvSpPr/>
          <p:nvPr/>
        </p:nvSpPr>
        <p:spPr>
          <a:xfrm>
            <a:off x="1188720" y="2633400"/>
            <a:ext cx="2706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Tampering (manipulación)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22"/>
          <p:cNvSpPr/>
          <p:nvPr/>
        </p:nvSpPr>
        <p:spPr>
          <a:xfrm>
            <a:off x="3931920" y="2633400"/>
            <a:ext cx="21574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23"/>
          <p:cNvSpPr/>
          <p:nvPr/>
        </p:nvSpPr>
        <p:spPr>
          <a:xfrm>
            <a:off x="3931920" y="2633400"/>
            <a:ext cx="2157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Integridad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24"/>
          <p:cNvSpPr/>
          <p:nvPr/>
        </p:nvSpPr>
        <p:spPr>
          <a:xfrm>
            <a:off x="6126480" y="2633400"/>
            <a:ext cx="49921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25"/>
          <p:cNvSpPr/>
          <p:nvPr/>
        </p:nvSpPr>
        <p:spPr>
          <a:xfrm>
            <a:off x="6126480" y="2633400"/>
            <a:ext cx="4992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Alterar un mensaje en tránsito o un registro en BD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26"/>
          <p:cNvSpPr/>
          <p:nvPr/>
        </p:nvSpPr>
        <p:spPr>
          <a:xfrm>
            <a:off x="548640" y="3255120"/>
            <a:ext cx="603000" cy="575640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27"/>
          <p:cNvSpPr/>
          <p:nvPr/>
        </p:nvSpPr>
        <p:spPr>
          <a:xfrm>
            <a:off x="548640" y="3255120"/>
            <a:ext cx="603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28"/>
          <p:cNvSpPr/>
          <p:nvPr/>
        </p:nvSpPr>
        <p:spPr>
          <a:xfrm>
            <a:off x="1188720" y="3255120"/>
            <a:ext cx="270612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29"/>
          <p:cNvSpPr/>
          <p:nvPr/>
        </p:nvSpPr>
        <p:spPr>
          <a:xfrm>
            <a:off x="1188720" y="3255120"/>
            <a:ext cx="2706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Repudiation (repudio)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30"/>
          <p:cNvSpPr/>
          <p:nvPr/>
        </p:nvSpPr>
        <p:spPr>
          <a:xfrm>
            <a:off x="3931920" y="3255120"/>
            <a:ext cx="215748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31"/>
          <p:cNvSpPr/>
          <p:nvPr/>
        </p:nvSpPr>
        <p:spPr>
          <a:xfrm>
            <a:off x="3931920" y="3255120"/>
            <a:ext cx="2157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No repudio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32"/>
          <p:cNvSpPr/>
          <p:nvPr/>
        </p:nvSpPr>
        <p:spPr>
          <a:xfrm>
            <a:off x="6126480" y="3255120"/>
            <a:ext cx="499212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33"/>
          <p:cNvSpPr/>
          <p:nvPr/>
        </p:nvSpPr>
        <p:spPr>
          <a:xfrm>
            <a:off x="6126480" y="3255120"/>
            <a:ext cx="4992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Usuario niega una transacción y no hay logs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34"/>
          <p:cNvSpPr/>
          <p:nvPr/>
        </p:nvSpPr>
        <p:spPr>
          <a:xfrm>
            <a:off x="548640" y="3877200"/>
            <a:ext cx="603000" cy="575640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35"/>
          <p:cNvSpPr/>
          <p:nvPr/>
        </p:nvSpPr>
        <p:spPr>
          <a:xfrm>
            <a:off x="548640" y="3877200"/>
            <a:ext cx="603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36"/>
          <p:cNvSpPr/>
          <p:nvPr/>
        </p:nvSpPr>
        <p:spPr>
          <a:xfrm>
            <a:off x="1188720" y="3877200"/>
            <a:ext cx="27061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37"/>
          <p:cNvSpPr/>
          <p:nvPr/>
        </p:nvSpPr>
        <p:spPr>
          <a:xfrm>
            <a:off x="1188720" y="3877200"/>
            <a:ext cx="2706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Information Disclosure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38"/>
          <p:cNvSpPr/>
          <p:nvPr/>
        </p:nvSpPr>
        <p:spPr>
          <a:xfrm>
            <a:off x="3931920" y="3877200"/>
            <a:ext cx="21574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39"/>
          <p:cNvSpPr/>
          <p:nvPr/>
        </p:nvSpPr>
        <p:spPr>
          <a:xfrm>
            <a:off x="3931920" y="3877200"/>
            <a:ext cx="2157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Confidencialidad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40"/>
          <p:cNvSpPr/>
          <p:nvPr/>
        </p:nvSpPr>
        <p:spPr>
          <a:xfrm>
            <a:off x="6126480" y="3877200"/>
            <a:ext cx="49921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41"/>
          <p:cNvSpPr/>
          <p:nvPr/>
        </p:nvSpPr>
        <p:spPr>
          <a:xfrm>
            <a:off x="6126480" y="3877200"/>
            <a:ext cx="4992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Blob de almacenamiento público con datos de clientes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42"/>
          <p:cNvSpPr/>
          <p:nvPr/>
        </p:nvSpPr>
        <p:spPr>
          <a:xfrm>
            <a:off x="548640" y="4498920"/>
            <a:ext cx="603000" cy="575640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43"/>
          <p:cNvSpPr/>
          <p:nvPr/>
        </p:nvSpPr>
        <p:spPr>
          <a:xfrm>
            <a:off x="548640" y="4498920"/>
            <a:ext cx="603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44"/>
          <p:cNvSpPr/>
          <p:nvPr/>
        </p:nvSpPr>
        <p:spPr>
          <a:xfrm>
            <a:off x="1188720" y="4498920"/>
            <a:ext cx="270612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45"/>
          <p:cNvSpPr/>
          <p:nvPr/>
        </p:nvSpPr>
        <p:spPr>
          <a:xfrm>
            <a:off x="1188720" y="4498920"/>
            <a:ext cx="2706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Denial of Service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46"/>
          <p:cNvSpPr/>
          <p:nvPr/>
        </p:nvSpPr>
        <p:spPr>
          <a:xfrm>
            <a:off x="3931920" y="4498920"/>
            <a:ext cx="215748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47"/>
          <p:cNvSpPr/>
          <p:nvPr/>
        </p:nvSpPr>
        <p:spPr>
          <a:xfrm>
            <a:off x="3931920" y="4498920"/>
            <a:ext cx="2157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Disponibilidad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48"/>
          <p:cNvSpPr/>
          <p:nvPr/>
        </p:nvSpPr>
        <p:spPr>
          <a:xfrm>
            <a:off x="6126480" y="4498920"/>
            <a:ext cx="4992120" cy="57564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49"/>
          <p:cNvSpPr/>
          <p:nvPr/>
        </p:nvSpPr>
        <p:spPr>
          <a:xfrm>
            <a:off x="6126480" y="4498920"/>
            <a:ext cx="4992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Saturar una API sin rate limiting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50"/>
          <p:cNvSpPr/>
          <p:nvPr/>
        </p:nvSpPr>
        <p:spPr>
          <a:xfrm>
            <a:off x="548640" y="5120640"/>
            <a:ext cx="603000" cy="575640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51"/>
          <p:cNvSpPr/>
          <p:nvPr/>
        </p:nvSpPr>
        <p:spPr>
          <a:xfrm>
            <a:off x="548640" y="5120640"/>
            <a:ext cx="6030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52"/>
          <p:cNvSpPr/>
          <p:nvPr/>
        </p:nvSpPr>
        <p:spPr>
          <a:xfrm>
            <a:off x="1188720" y="5120640"/>
            <a:ext cx="27061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53"/>
          <p:cNvSpPr/>
          <p:nvPr/>
        </p:nvSpPr>
        <p:spPr>
          <a:xfrm>
            <a:off x="1188720" y="5120640"/>
            <a:ext cx="2706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Elevation of Privilege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54"/>
          <p:cNvSpPr/>
          <p:nvPr/>
        </p:nvSpPr>
        <p:spPr>
          <a:xfrm>
            <a:off x="3931920" y="5120640"/>
            <a:ext cx="21574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55"/>
          <p:cNvSpPr/>
          <p:nvPr/>
        </p:nvSpPr>
        <p:spPr>
          <a:xfrm>
            <a:off x="3931920" y="5120640"/>
            <a:ext cx="2157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Autorización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56"/>
          <p:cNvSpPr/>
          <p:nvPr/>
        </p:nvSpPr>
        <p:spPr>
          <a:xfrm>
            <a:off x="6126480" y="5120640"/>
            <a:ext cx="49921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57"/>
          <p:cNvSpPr/>
          <p:nvPr/>
        </p:nvSpPr>
        <p:spPr>
          <a:xfrm>
            <a:off x="6126480" y="5120640"/>
            <a:ext cx="4992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Explotar un contenedor para ganar acceso al nodo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58"/>
          <p:cNvSpPr/>
          <p:nvPr/>
        </p:nvSpPr>
        <p:spPr>
          <a:xfrm>
            <a:off x="548640" y="58795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Creada por Microsoft. Cada letra ataca una propiedad de seguridad distinta.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5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6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 · STRIDE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Ejemplo guiado: aplicación web de pagos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2"/>
          <p:cNvSpPr/>
          <p:nvPr/>
        </p:nvSpPr>
        <p:spPr>
          <a:xfrm>
            <a:off x="548640" y="1508760"/>
            <a:ext cx="2422800" cy="685440"/>
          </a:xfrm>
          <a:prstGeom prst="roundRect">
            <a:avLst>
              <a:gd name="adj" fmla="val 8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3"/>
          <p:cNvSpPr/>
          <p:nvPr/>
        </p:nvSpPr>
        <p:spPr>
          <a:xfrm>
            <a:off x="548640" y="1508760"/>
            <a:ext cx="2422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Usuario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4"/>
          <p:cNvSpPr/>
          <p:nvPr/>
        </p:nvSpPr>
        <p:spPr>
          <a:xfrm>
            <a:off x="2971800" y="1600200"/>
            <a:ext cx="31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5"/>
          <p:cNvSpPr/>
          <p:nvPr/>
        </p:nvSpPr>
        <p:spPr>
          <a:xfrm>
            <a:off x="3291840" y="1508760"/>
            <a:ext cx="2422800" cy="685440"/>
          </a:xfrm>
          <a:prstGeom prst="roundRect">
            <a:avLst>
              <a:gd name="adj" fmla="val 8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6"/>
          <p:cNvSpPr/>
          <p:nvPr/>
        </p:nvSpPr>
        <p:spPr>
          <a:xfrm>
            <a:off x="3291840" y="1508760"/>
            <a:ext cx="2422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web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(App Service)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7"/>
          <p:cNvSpPr/>
          <p:nvPr/>
        </p:nvSpPr>
        <p:spPr>
          <a:xfrm>
            <a:off x="5715000" y="1600200"/>
            <a:ext cx="31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8"/>
          <p:cNvSpPr/>
          <p:nvPr/>
        </p:nvSpPr>
        <p:spPr>
          <a:xfrm>
            <a:off x="6035040" y="1508760"/>
            <a:ext cx="2422800" cy="685440"/>
          </a:xfrm>
          <a:prstGeom prst="roundRect">
            <a:avLst>
              <a:gd name="adj" fmla="val 800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9"/>
          <p:cNvSpPr/>
          <p:nvPr/>
        </p:nvSpPr>
        <p:spPr>
          <a:xfrm>
            <a:off x="6035040" y="1508760"/>
            <a:ext cx="2422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pagos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(AKS)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10"/>
          <p:cNvSpPr/>
          <p:nvPr/>
        </p:nvSpPr>
        <p:spPr>
          <a:xfrm>
            <a:off x="8458200" y="1600200"/>
            <a:ext cx="31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11"/>
          <p:cNvSpPr/>
          <p:nvPr/>
        </p:nvSpPr>
        <p:spPr>
          <a:xfrm>
            <a:off x="8778240" y="1508760"/>
            <a:ext cx="2422800" cy="68544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12"/>
          <p:cNvSpPr/>
          <p:nvPr/>
        </p:nvSpPr>
        <p:spPr>
          <a:xfrm>
            <a:off x="8778240" y="1508760"/>
            <a:ext cx="2422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13"/>
          <p:cNvSpPr/>
          <p:nvPr/>
        </p:nvSpPr>
        <p:spPr>
          <a:xfrm>
            <a:off x="548640" y="260604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14"/>
          <p:cNvSpPr/>
          <p:nvPr/>
        </p:nvSpPr>
        <p:spPr>
          <a:xfrm>
            <a:off x="685800" y="2743200"/>
            <a:ext cx="456840" cy="4568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15"/>
          <p:cNvSpPr/>
          <p:nvPr/>
        </p:nvSpPr>
        <p:spPr>
          <a:xfrm>
            <a:off x="685800" y="2743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16"/>
          <p:cNvSpPr/>
          <p:nvPr/>
        </p:nvSpPr>
        <p:spPr>
          <a:xfrm>
            <a:off x="1280160" y="274320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Phishing de credenciales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17"/>
          <p:cNvSpPr/>
          <p:nvPr/>
        </p:nvSpPr>
        <p:spPr>
          <a:xfrm>
            <a:off x="731520" y="35204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Mitigar: MFA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18"/>
          <p:cNvSpPr/>
          <p:nvPr/>
        </p:nvSpPr>
        <p:spPr>
          <a:xfrm>
            <a:off x="4206240" y="260604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19"/>
          <p:cNvSpPr/>
          <p:nvPr/>
        </p:nvSpPr>
        <p:spPr>
          <a:xfrm>
            <a:off x="4343400" y="2743200"/>
            <a:ext cx="456840" cy="45684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20"/>
          <p:cNvSpPr/>
          <p:nvPr/>
        </p:nvSpPr>
        <p:spPr>
          <a:xfrm>
            <a:off x="4343400" y="2743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21"/>
          <p:cNvSpPr/>
          <p:nvPr/>
        </p:nvSpPr>
        <p:spPr>
          <a:xfrm>
            <a:off x="4937760" y="274320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Manipular parámetros de la petición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22"/>
          <p:cNvSpPr/>
          <p:nvPr/>
        </p:nvSpPr>
        <p:spPr>
          <a:xfrm>
            <a:off x="4389120" y="35204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Mitigar: Validación server-side, TLS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23"/>
          <p:cNvSpPr/>
          <p:nvPr/>
        </p:nvSpPr>
        <p:spPr>
          <a:xfrm>
            <a:off x="7863840" y="260604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24"/>
          <p:cNvSpPr/>
          <p:nvPr/>
        </p:nvSpPr>
        <p:spPr>
          <a:xfrm>
            <a:off x="8001000" y="2743200"/>
            <a:ext cx="456840" cy="4568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25"/>
          <p:cNvSpPr/>
          <p:nvPr/>
        </p:nvSpPr>
        <p:spPr>
          <a:xfrm>
            <a:off x="8001000" y="2743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26"/>
          <p:cNvSpPr/>
          <p:nvPr/>
        </p:nvSpPr>
        <p:spPr>
          <a:xfrm>
            <a:off x="8595360" y="274320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Disputa de transacciones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27"/>
          <p:cNvSpPr/>
          <p:nvPr/>
        </p:nvSpPr>
        <p:spPr>
          <a:xfrm>
            <a:off x="8046720" y="35204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Mitigar: Logging firmado, auditoría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28"/>
          <p:cNvSpPr/>
          <p:nvPr/>
        </p:nvSpPr>
        <p:spPr>
          <a:xfrm>
            <a:off x="548640" y="429768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29"/>
          <p:cNvSpPr/>
          <p:nvPr/>
        </p:nvSpPr>
        <p:spPr>
          <a:xfrm>
            <a:off x="685800" y="4434840"/>
            <a:ext cx="456840" cy="456840"/>
          </a:xfrm>
          <a:prstGeom prst="ellipse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30"/>
          <p:cNvSpPr/>
          <p:nvPr/>
        </p:nvSpPr>
        <p:spPr>
          <a:xfrm>
            <a:off x="685800" y="443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31"/>
          <p:cNvSpPr/>
          <p:nvPr/>
        </p:nvSpPr>
        <p:spPr>
          <a:xfrm>
            <a:off x="1280160" y="44348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Exposición de datos de tarjeta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32"/>
          <p:cNvSpPr/>
          <p:nvPr/>
        </p:nvSpPr>
        <p:spPr>
          <a:xfrm>
            <a:off x="731520" y="52120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Mitigar: Cifrado, tokenización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33"/>
          <p:cNvSpPr/>
          <p:nvPr/>
        </p:nvSpPr>
        <p:spPr>
          <a:xfrm>
            <a:off x="4206240" y="429768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34"/>
          <p:cNvSpPr/>
          <p:nvPr/>
        </p:nvSpPr>
        <p:spPr>
          <a:xfrm>
            <a:off x="4343400" y="4434840"/>
            <a:ext cx="456840" cy="456840"/>
          </a:xfrm>
          <a:prstGeom prst="ellipse">
            <a:avLst/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35"/>
          <p:cNvSpPr/>
          <p:nvPr/>
        </p:nvSpPr>
        <p:spPr>
          <a:xfrm>
            <a:off x="4343400" y="443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36"/>
          <p:cNvSpPr/>
          <p:nvPr/>
        </p:nvSpPr>
        <p:spPr>
          <a:xfrm>
            <a:off x="4937760" y="44348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Flood de solicitudes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37"/>
          <p:cNvSpPr/>
          <p:nvPr/>
        </p:nvSpPr>
        <p:spPr>
          <a:xfrm>
            <a:off x="4389120" y="52120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Mitigar: WAF, rate limiting, autoscaling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38"/>
          <p:cNvSpPr/>
          <p:nvPr/>
        </p:nvSpPr>
        <p:spPr>
          <a:xfrm>
            <a:off x="7863840" y="429768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39"/>
          <p:cNvSpPr/>
          <p:nvPr/>
        </p:nvSpPr>
        <p:spPr>
          <a:xfrm>
            <a:off x="8001000" y="4434840"/>
            <a:ext cx="456840" cy="45684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40"/>
          <p:cNvSpPr/>
          <p:nvPr/>
        </p:nvSpPr>
        <p:spPr>
          <a:xfrm>
            <a:off x="8001000" y="443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41"/>
          <p:cNvSpPr/>
          <p:nvPr/>
        </p:nvSpPr>
        <p:spPr>
          <a:xfrm>
            <a:off x="8595360" y="44348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Inyección SQL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42"/>
          <p:cNvSpPr/>
          <p:nvPr/>
        </p:nvSpPr>
        <p:spPr>
          <a:xfrm>
            <a:off x="8046720" y="52120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Mitigar: Consultas parametrizadas, least privilege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43"/>
          <p:cNvSpPr/>
          <p:nvPr/>
        </p:nvSpPr>
        <p:spPr>
          <a:xfrm>
            <a:off x="548640" y="608076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STRIDE aplicado al flujo completo Usuario → App web → API → Base de datos.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4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45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 · STRIDE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Matriz de riesgo: impacto × probabilidad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2"/>
          <p:cNvSpPr/>
          <p:nvPr/>
        </p:nvSpPr>
        <p:spPr>
          <a:xfrm>
            <a:off x="548640" y="11430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Impacto (1–5) × Probabilidad (1–5). Prioriza qué amenazas mitigar primero en el diseño de la pasarela de pagos.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3"/>
          <p:cNvSpPr/>
          <p:nvPr/>
        </p:nvSpPr>
        <p:spPr>
          <a:xfrm>
            <a:off x="548640" y="1691640"/>
            <a:ext cx="234036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4"/>
          <p:cNvSpPr/>
          <p:nvPr/>
        </p:nvSpPr>
        <p:spPr>
          <a:xfrm>
            <a:off x="548640" y="169164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Categoría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5"/>
          <p:cNvSpPr/>
          <p:nvPr/>
        </p:nvSpPr>
        <p:spPr>
          <a:xfrm>
            <a:off x="2926080" y="1691640"/>
            <a:ext cx="462636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6"/>
          <p:cNvSpPr/>
          <p:nvPr/>
        </p:nvSpPr>
        <p:spPr>
          <a:xfrm>
            <a:off x="2926080" y="1691640"/>
            <a:ext cx="462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Ejemplo de amenaza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7"/>
          <p:cNvSpPr/>
          <p:nvPr/>
        </p:nvSpPr>
        <p:spPr>
          <a:xfrm>
            <a:off x="7589520" y="1691640"/>
            <a:ext cx="124308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8"/>
          <p:cNvSpPr/>
          <p:nvPr/>
        </p:nvSpPr>
        <p:spPr>
          <a:xfrm>
            <a:off x="7589520" y="1691640"/>
            <a:ext cx="124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Impacto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9"/>
          <p:cNvSpPr/>
          <p:nvPr/>
        </p:nvSpPr>
        <p:spPr>
          <a:xfrm>
            <a:off x="8869680" y="1691640"/>
            <a:ext cx="124308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10"/>
          <p:cNvSpPr/>
          <p:nvPr/>
        </p:nvSpPr>
        <p:spPr>
          <a:xfrm>
            <a:off x="8869680" y="1691640"/>
            <a:ext cx="124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11"/>
          <p:cNvSpPr/>
          <p:nvPr/>
        </p:nvSpPr>
        <p:spPr>
          <a:xfrm>
            <a:off x="10149840" y="1691640"/>
            <a:ext cx="124308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12"/>
          <p:cNvSpPr/>
          <p:nvPr/>
        </p:nvSpPr>
        <p:spPr>
          <a:xfrm>
            <a:off x="10149840" y="1691640"/>
            <a:ext cx="124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Riesgo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13"/>
          <p:cNvSpPr/>
          <p:nvPr/>
        </p:nvSpPr>
        <p:spPr>
          <a:xfrm>
            <a:off x="548640" y="2194560"/>
            <a:ext cx="234036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14"/>
          <p:cNvSpPr/>
          <p:nvPr/>
        </p:nvSpPr>
        <p:spPr>
          <a:xfrm>
            <a:off x="548640" y="2194560"/>
            <a:ext cx="234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Spoofing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15"/>
          <p:cNvSpPr/>
          <p:nvPr/>
        </p:nvSpPr>
        <p:spPr>
          <a:xfrm>
            <a:off x="2926080" y="2194560"/>
            <a:ext cx="462636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16"/>
          <p:cNvSpPr/>
          <p:nvPr/>
        </p:nvSpPr>
        <p:spPr>
          <a:xfrm>
            <a:off x="2926080" y="2194560"/>
            <a:ext cx="4626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Secuestro de token vía phishing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17"/>
          <p:cNvSpPr/>
          <p:nvPr/>
        </p:nvSpPr>
        <p:spPr>
          <a:xfrm>
            <a:off x="7589520" y="2194560"/>
            <a:ext cx="124308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8"/>
          <p:cNvSpPr/>
          <p:nvPr/>
        </p:nvSpPr>
        <p:spPr>
          <a:xfrm>
            <a:off x="7589520" y="2194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19"/>
          <p:cNvSpPr/>
          <p:nvPr/>
        </p:nvSpPr>
        <p:spPr>
          <a:xfrm>
            <a:off x="8869680" y="2194560"/>
            <a:ext cx="124308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20"/>
          <p:cNvSpPr/>
          <p:nvPr/>
        </p:nvSpPr>
        <p:spPr>
          <a:xfrm>
            <a:off x="8869680" y="2194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21"/>
          <p:cNvSpPr/>
          <p:nvPr/>
        </p:nvSpPr>
        <p:spPr>
          <a:xfrm>
            <a:off x="10149840" y="2194560"/>
            <a:ext cx="1243080" cy="520920"/>
          </a:xfrm>
          <a:prstGeom prst="rect">
            <a:avLst/>
          </a:prstGeom>
          <a:solidFill>
            <a:srgbClr val="E4572E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22"/>
          <p:cNvSpPr/>
          <p:nvPr/>
        </p:nvSpPr>
        <p:spPr>
          <a:xfrm>
            <a:off x="10149840" y="2194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23"/>
          <p:cNvSpPr/>
          <p:nvPr/>
        </p:nvSpPr>
        <p:spPr>
          <a:xfrm>
            <a:off x="548640" y="2761560"/>
            <a:ext cx="234036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24"/>
          <p:cNvSpPr/>
          <p:nvPr/>
        </p:nvSpPr>
        <p:spPr>
          <a:xfrm>
            <a:off x="548640" y="2761560"/>
            <a:ext cx="234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Tampering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25"/>
          <p:cNvSpPr/>
          <p:nvPr/>
        </p:nvSpPr>
        <p:spPr>
          <a:xfrm>
            <a:off x="2926080" y="2761560"/>
            <a:ext cx="462636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26"/>
          <p:cNvSpPr/>
          <p:nvPr/>
        </p:nvSpPr>
        <p:spPr>
          <a:xfrm>
            <a:off x="2926080" y="2761560"/>
            <a:ext cx="4626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Manipulación de solicitudes API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27"/>
          <p:cNvSpPr/>
          <p:nvPr/>
        </p:nvSpPr>
        <p:spPr>
          <a:xfrm>
            <a:off x="7589520" y="2761560"/>
            <a:ext cx="124308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 28"/>
          <p:cNvSpPr/>
          <p:nvPr/>
        </p:nvSpPr>
        <p:spPr>
          <a:xfrm>
            <a:off x="7589520" y="2761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29"/>
          <p:cNvSpPr/>
          <p:nvPr/>
        </p:nvSpPr>
        <p:spPr>
          <a:xfrm>
            <a:off x="8869680" y="2761560"/>
            <a:ext cx="124308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30"/>
          <p:cNvSpPr/>
          <p:nvPr/>
        </p:nvSpPr>
        <p:spPr>
          <a:xfrm>
            <a:off x="8869680" y="2761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Shape 31"/>
          <p:cNvSpPr/>
          <p:nvPr/>
        </p:nvSpPr>
        <p:spPr>
          <a:xfrm>
            <a:off x="10149840" y="2761560"/>
            <a:ext cx="1243080" cy="520920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32"/>
          <p:cNvSpPr/>
          <p:nvPr/>
        </p:nvSpPr>
        <p:spPr>
          <a:xfrm>
            <a:off x="10149840" y="2761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33"/>
          <p:cNvSpPr/>
          <p:nvPr/>
        </p:nvSpPr>
        <p:spPr>
          <a:xfrm>
            <a:off x="548640" y="3328560"/>
            <a:ext cx="234036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34"/>
          <p:cNvSpPr/>
          <p:nvPr/>
        </p:nvSpPr>
        <p:spPr>
          <a:xfrm>
            <a:off x="548640" y="3328560"/>
            <a:ext cx="234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Repudiation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35"/>
          <p:cNvSpPr/>
          <p:nvPr/>
        </p:nvSpPr>
        <p:spPr>
          <a:xfrm>
            <a:off x="2926080" y="3328560"/>
            <a:ext cx="462636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 36"/>
          <p:cNvSpPr/>
          <p:nvPr/>
        </p:nvSpPr>
        <p:spPr>
          <a:xfrm>
            <a:off x="2926080" y="3328560"/>
            <a:ext cx="4626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Cliente niega una transacción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37"/>
          <p:cNvSpPr/>
          <p:nvPr/>
        </p:nvSpPr>
        <p:spPr>
          <a:xfrm>
            <a:off x="7589520" y="3328560"/>
            <a:ext cx="124308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38"/>
          <p:cNvSpPr/>
          <p:nvPr/>
        </p:nvSpPr>
        <p:spPr>
          <a:xfrm>
            <a:off x="7589520" y="3328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39"/>
          <p:cNvSpPr/>
          <p:nvPr/>
        </p:nvSpPr>
        <p:spPr>
          <a:xfrm>
            <a:off x="8869680" y="3328560"/>
            <a:ext cx="124308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 40"/>
          <p:cNvSpPr/>
          <p:nvPr/>
        </p:nvSpPr>
        <p:spPr>
          <a:xfrm>
            <a:off x="8869680" y="3328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41"/>
          <p:cNvSpPr/>
          <p:nvPr/>
        </p:nvSpPr>
        <p:spPr>
          <a:xfrm>
            <a:off x="10149840" y="3328560"/>
            <a:ext cx="1243080" cy="520920"/>
          </a:xfrm>
          <a:prstGeom prst="rect">
            <a:avLst/>
          </a:prstGeom>
          <a:solidFill>
            <a:srgbClr val="02C39A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42"/>
          <p:cNvSpPr/>
          <p:nvPr/>
        </p:nvSpPr>
        <p:spPr>
          <a:xfrm>
            <a:off x="10149840" y="332856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43"/>
          <p:cNvSpPr/>
          <p:nvPr/>
        </p:nvSpPr>
        <p:spPr>
          <a:xfrm>
            <a:off x="548640" y="3895200"/>
            <a:ext cx="234036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Text 44"/>
          <p:cNvSpPr/>
          <p:nvPr/>
        </p:nvSpPr>
        <p:spPr>
          <a:xfrm>
            <a:off x="548640" y="3895200"/>
            <a:ext cx="234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Info. Disclosure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45"/>
          <p:cNvSpPr/>
          <p:nvPr/>
        </p:nvSpPr>
        <p:spPr>
          <a:xfrm>
            <a:off x="2926080" y="3895200"/>
            <a:ext cx="462636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 46"/>
          <p:cNvSpPr/>
          <p:nvPr/>
        </p:nvSpPr>
        <p:spPr>
          <a:xfrm>
            <a:off x="2926080" y="3895200"/>
            <a:ext cx="4626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Filtración de datos de pago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47"/>
          <p:cNvSpPr/>
          <p:nvPr/>
        </p:nvSpPr>
        <p:spPr>
          <a:xfrm>
            <a:off x="7589520" y="3895200"/>
            <a:ext cx="124308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48"/>
          <p:cNvSpPr/>
          <p:nvPr/>
        </p:nvSpPr>
        <p:spPr>
          <a:xfrm>
            <a:off x="7589520" y="3895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49"/>
          <p:cNvSpPr/>
          <p:nvPr/>
        </p:nvSpPr>
        <p:spPr>
          <a:xfrm>
            <a:off x="8869680" y="3895200"/>
            <a:ext cx="124308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 50"/>
          <p:cNvSpPr/>
          <p:nvPr/>
        </p:nvSpPr>
        <p:spPr>
          <a:xfrm>
            <a:off x="8869680" y="3895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51"/>
          <p:cNvSpPr/>
          <p:nvPr/>
        </p:nvSpPr>
        <p:spPr>
          <a:xfrm>
            <a:off x="10149840" y="3895200"/>
            <a:ext cx="1243080" cy="520920"/>
          </a:xfrm>
          <a:prstGeom prst="rect">
            <a:avLst/>
          </a:prstGeom>
          <a:solidFill>
            <a:srgbClr val="E4572E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 52"/>
          <p:cNvSpPr/>
          <p:nvPr/>
        </p:nvSpPr>
        <p:spPr>
          <a:xfrm>
            <a:off x="10149840" y="3895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53"/>
          <p:cNvSpPr/>
          <p:nvPr/>
        </p:nvSpPr>
        <p:spPr>
          <a:xfrm>
            <a:off x="548640" y="4462200"/>
            <a:ext cx="234036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 54"/>
          <p:cNvSpPr/>
          <p:nvPr/>
        </p:nvSpPr>
        <p:spPr>
          <a:xfrm>
            <a:off x="548640" y="4462200"/>
            <a:ext cx="234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Denial of Service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55"/>
          <p:cNvSpPr/>
          <p:nvPr/>
        </p:nvSpPr>
        <p:spPr>
          <a:xfrm>
            <a:off x="2926080" y="4462200"/>
            <a:ext cx="462636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 56"/>
          <p:cNvSpPr/>
          <p:nvPr/>
        </p:nvSpPr>
        <p:spPr>
          <a:xfrm>
            <a:off x="2926080" y="4462200"/>
            <a:ext cx="4626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Bypass del rate-limiting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57"/>
          <p:cNvSpPr/>
          <p:nvPr/>
        </p:nvSpPr>
        <p:spPr>
          <a:xfrm>
            <a:off x="7589520" y="4462200"/>
            <a:ext cx="124308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58"/>
          <p:cNvSpPr/>
          <p:nvPr/>
        </p:nvSpPr>
        <p:spPr>
          <a:xfrm>
            <a:off x="7589520" y="4462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59"/>
          <p:cNvSpPr/>
          <p:nvPr/>
        </p:nvSpPr>
        <p:spPr>
          <a:xfrm>
            <a:off x="8869680" y="4462200"/>
            <a:ext cx="1243080" cy="52092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60"/>
          <p:cNvSpPr/>
          <p:nvPr/>
        </p:nvSpPr>
        <p:spPr>
          <a:xfrm>
            <a:off x="8869680" y="4462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61"/>
          <p:cNvSpPr/>
          <p:nvPr/>
        </p:nvSpPr>
        <p:spPr>
          <a:xfrm>
            <a:off x="10149840" y="4462200"/>
            <a:ext cx="1243080" cy="520920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62"/>
          <p:cNvSpPr/>
          <p:nvPr/>
        </p:nvSpPr>
        <p:spPr>
          <a:xfrm>
            <a:off x="10149840" y="4462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63"/>
          <p:cNvSpPr/>
          <p:nvPr/>
        </p:nvSpPr>
        <p:spPr>
          <a:xfrm>
            <a:off x="548640" y="5029200"/>
            <a:ext cx="234036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64"/>
          <p:cNvSpPr/>
          <p:nvPr/>
        </p:nvSpPr>
        <p:spPr>
          <a:xfrm>
            <a:off x="548640" y="5029200"/>
            <a:ext cx="234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Elev. of Privilege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65"/>
          <p:cNvSpPr/>
          <p:nvPr/>
        </p:nvSpPr>
        <p:spPr>
          <a:xfrm>
            <a:off x="2926080" y="5029200"/>
            <a:ext cx="462636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 66"/>
          <p:cNvSpPr/>
          <p:nvPr/>
        </p:nvSpPr>
        <p:spPr>
          <a:xfrm>
            <a:off x="2926080" y="5029200"/>
            <a:ext cx="4626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73080" rIns="73080" bIns="73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Escalamiento a rol administrador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67"/>
          <p:cNvSpPr/>
          <p:nvPr/>
        </p:nvSpPr>
        <p:spPr>
          <a:xfrm>
            <a:off x="7589520" y="5029200"/>
            <a:ext cx="124308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 68"/>
          <p:cNvSpPr/>
          <p:nvPr/>
        </p:nvSpPr>
        <p:spPr>
          <a:xfrm>
            <a:off x="7589520" y="5029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69"/>
          <p:cNvSpPr/>
          <p:nvPr/>
        </p:nvSpPr>
        <p:spPr>
          <a:xfrm>
            <a:off x="8869680" y="5029200"/>
            <a:ext cx="1243080" cy="52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70"/>
          <p:cNvSpPr/>
          <p:nvPr/>
        </p:nvSpPr>
        <p:spPr>
          <a:xfrm>
            <a:off x="8869680" y="5029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71"/>
          <p:cNvSpPr/>
          <p:nvPr/>
        </p:nvSpPr>
        <p:spPr>
          <a:xfrm>
            <a:off x="10149840" y="5029200"/>
            <a:ext cx="1243080" cy="520920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72"/>
          <p:cNvSpPr/>
          <p:nvPr/>
        </p:nvSpPr>
        <p:spPr>
          <a:xfrm>
            <a:off x="10149840" y="5029200"/>
            <a:ext cx="1243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73"/>
          <p:cNvSpPr/>
          <p:nvPr/>
        </p:nvSpPr>
        <p:spPr>
          <a:xfrm>
            <a:off x="548640" y="573336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Mitigaciones típicas: OAuth 2 + MFA (spoofing) · firmas HMAC (tampering) · logs inmutables (repudiation) · cifrado TLS 1.3 + tokenización (disclosure) · rate limiting + WAF (DoS) · PAM + RBAC/ABAC (elevación).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7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75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THREAT MODELING · OWASP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El enfoque OWASP de threat modeling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2"/>
          <p:cNvSpPr/>
          <p:nvPr/>
        </p:nvSpPr>
        <p:spPr>
          <a:xfrm>
            <a:off x="548640" y="118872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OWASP no impone una técnica única: promueve el marco de las 4 preguntas más los principios del Threat Modeling Manifesto — hacerlo temprano, hacerlo continuo, colaborativo, y mejor hecho que perfecto.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3"/>
          <p:cNvSpPr/>
          <p:nvPr/>
        </p:nvSpPr>
        <p:spPr>
          <a:xfrm>
            <a:off x="548640" y="2148840"/>
            <a:ext cx="3428640" cy="356580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4"/>
          <p:cNvSpPr/>
          <p:nvPr/>
        </p:nvSpPr>
        <p:spPr>
          <a:xfrm>
            <a:off x="1806120" y="251460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6" name="Image 0" descr="/home/claude/icons/branch.png"/>
          <p:cNvPicPr/>
          <p:nvPr/>
        </p:nvPicPr>
        <p:blipFill>
          <a:blip r:embed="rId1"/>
          <a:stretch/>
        </p:blipFill>
        <p:spPr>
          <a:xfrm>
            <a:off x="2025360" y="27342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7" name="Text 5"/>
          <p:cNvSpPr/>
          <p:nvPr/>
        </p:nvSpPr>
        <p:spPr>
          <a:xfrm>
            <a:off x="731520" y="36576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OWASP Threat Dragon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6"/>
          <p:cNvSpPr/>
          <p:nvPr/>
        </p:nvSpPr>
        <p:spPr>
          <a:xfrm>
            <a:off x="777240" y="425196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Herramienta open source: diagramas DFD + registro de amenazas con estado.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7"/>
          <p:cNvSpPr/>
          <p:nvPr/>
        </p:nvSpPr>
        <p:spPr>
          <a:xfrm>
            <a:off x="4206240" y="2148840"/>
            <a:ext cx="3428640" cy="356580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8"/>
          <p:cNvSpPr/>
          <p:nvPr/>
        </p:nvSpPr>
        <p:spPr>
          <a:xfrm>
            <a:off x="5463720" y="251460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1" name="Image 1" descr="/home/claude/icons/book.png"/>
          <p:cNvPicPr/>
          <p:nvPr/>
        </p:nvPicPr>
        <p:blipFill>
          <a:blip r:embed="rId2"/>
          <a:stretch/>
        </p:blipFill>
        <p:spPr>
          <a:xfrm>
            <a:off x="5682960" y="27342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2" name="Text 9"/>
          <p:cNvSpPr/>
          <p:nvPr/>
        </p:nvSpPr>
        <p:spPr>
          <a:xfrm>
            <a:off x="4389120" y="36576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OWASP Top 10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10"/>
          <p:cNvSpPr/>
          <p:nvPr/>
        </p:nvSpPr>
        <p:spPr>
          <a:xfrm>
            <a:off x="4434840" y="425196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Catálogo de las amenazas más frecuentes en aplicaciones web.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11"/>
          <p:cNvSpPr/>
          <p:nvPr/>
        </p:nvSpPr>
        <p:spPr>
          <a:xfrm>
            <a:off x="7863840" y="2148840"/>
            <a:ext cx="3428640" cy="356580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12"/>
          <p:cNvSpPr/>
          <p:nvPr/>
        </p:nvSpPr>
        <p:spPr>
          <a:xfrm>
            <a:off x="9121320" y="2514600"/>
            <a:ext cx="914040" cy="9140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6" name="Image 2" descr="/home/claude/icons/checkcircle.png"/>
          <p:cNvPicPr/>
          <p:nvPr/>
        </p:nvPicPr>
        <p:blipFill>
          <a:blip r:embed="rId3"/>
          <a:stretch/>
        </p:blipFill>
        <p:spPr>
          <a:xfrm>
            <a:off x="9340560" y="27342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7" name="Text 13"/>
          <p:cNvSpPr/>
          <p:nvPr/>
        </p:nvSpPr>
        <p:spPr>
          <a:xfrm>
            <a:off x="8046720" y="36576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OWASP ASVS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14"/>
          <p:cNvSpPr/>
          <p:nvPr/>
        </p:nvSpPr>
        <p:spPr>
          <a:xfrm>
            <a:off x="8092440" y="425196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Catálogo de controles de verificación para validar mitigaciones.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15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16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 · OWASP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Ejemplo guiado con Threat Dragon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2"/>
          <p:cNvSpPr/>
          <p:nvPr/>
        </p:nvSpPr>
        <p:spPr>
          <a:xfrm>
            <a:off x="548640" y="11430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Mismo escenario de pagos, ahora con el proceso OWASP: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3"/>
          <p:cNvSpPr/>
          <p:nvPr/>
        </p:nvSpPr>
        <p:spPr>
          <a:xfrm>
            <a:off x="548640" y="169164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4"/>
          <p:cNvSpPr/>
          <p:nvPr/>
        </p:nvSpPr>
        <p:spPr>
          <a:xfrm>
            <a:off x="548640" y="1691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5"/>
          <p:cNvSpPr/>
          <p:nvPr/>
        </p:nvSpPr>
        <p:spPr>
          <a:xfrm>
            <a:off x="1280160" y="1645920"/>
            <a:ext cx="9966600" cy="82260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6"/>
          <p:cNvSpPr/>
          <p:nvPr/>
        </p:nvSpPr>
        <p:spPr>
          <a:xfrm>
            <a:off x="1508760" y="16459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Alcance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7"/>
          <p:cNvSpPr/>
          <p:nvPr/>
        </p:nvSpPr>
        <p:spPr>
          <a:xfrm>
            <a:off x="4206240" y="164592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Diagrama en Threat Dragon con trust boundaries: Internet ↔ App ↔ backend ↔ datos.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8"/>
          <p:cNvSpPr/>
          <p:nvPr/>
        </p:nvSpPr>
        <p:spPr>
          <a:xfrm>
            <a:off x="548640" y="269748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9"/>
          <p:cNvSpPr/>
          <p:nvPr/>
        </p:nvSpPr>
        <p:spPr>
          <a:xfrm>
            <a:off x="548640" y="2697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0"/>
          <p:cNvSpPr/>
          <p:nvPr/>
        </p:nvSpPr>
        <p:spPr>
          <a:xfrm>
            <a:off x="1280160" y="2651760"/>
            <a:ext cx="9966600" cy="82260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11"/>
          <p:cNvSpPr/>
          <p:nvPr/>
        </p:nvSpPr>
        <p:spPr>
          <a:xfrm>
            <a:off x="1508760" y="26517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Identificación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12"/>
          <p:cNvSpPr/>
          <p:nvPr/>
        </p:nvSpPr>
        <p:spPr>
          <a:xfrm>
            <a:off x="4206240" y="265176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Por cada elemento se registran amenazas — soporta STRIDE, CIA o LINDDUN como taxonomía.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13"/>
          <p:cNvSpPr/>
          <p:nvPr/>
        </p:nvSpPr>
        <p:spPr>
          <a:xfrm>
            <a:off x="548640" y="370332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14"/>
          <p:cNvSpPr/>
          <p:nvPr/>
        </p:nvSpPr>
        <p:spPr>
          <a:xfrm>
            <a:off x="548640" y="3703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15"/>
          <p:cNvSpPr/>
          <p:nvPr/>
        </p:nvSpPr>
        <p:spPr>
          <a:xfrm>
            <a:off x="1280160" y="3657600"/>
            <a:ext cx="9966600" cy="82260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16"/>
          <p:cNvSpPr/>
          <p:nvPr/>
        </p:nvSpPr>
        <p:spPr>
          <a:xfrm>
            <a:off x="1508760" y="36576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Priorización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17"/>
          <p:cNvSpPr/>
          <p:nvPr/>
        </p:nvSpPr>
        <p:spPr>
          <a:xfrm>
            <a:off x="4206240" y="365760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Severidad alta / media / baja por amenaza.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18"/>
          <p:cNvSpPr/>
          <p:nvPr/>
        </p:nvSpPr>
        <p:spPr>
          <a:xfrm>
            <a:off x="548640" y="4709160"/>
            <a:ext cx="548280" cy="548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19"/>
          <p:cNvSpPr/>
          <p:nvPr/>
        </p:nvSpPr>
        <p:spPr>
          <a:xfrm>
            <a:off x="548640" y="4709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20"/>
          <p:cNvSpPr/>
          <p:nvPr/>
        </p:nvSpPr>
        <p:spPr>
          <a:xfrm>
            <a:off x="1280160" y="4663440"/>
            <a:ext cx="9966600" cy="82260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21"/>
          <p:cNvSpPr/>
          <p:nvPr/>
        </p:nvSpPr>
        <p:spPr>
          <a:xfrm>
            <a:off x="1508760" y="466344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Mitigación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22"/>
          <p:cNvSpPr/>
          <p:nvPr/>
        </p:nvSpPr>
        <p:spPr>
          <a:xfrm>
            <a:off x="4206240" y="466344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Cada amenaza queda con estado (abierta / mitigada / aceptada): trazabilidad directa al backlog del equipo.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23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24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 · SÍNTESIS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STRIDE vs. OWASP: ¿cuál usar?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2"/>
          <p:cNvSpPr/>
          <p:nvPr/>
        </p:nvSpPr>
        <p:spPr>
          <a:xfrm>
            <a:off x="548640" y="1554480"/>
            <a:ext cx="5120280" cy="3794400"/>
          </a:xfrm>
          <a:prstGeom prst="roundRect">
            <a:avLst>
              <a:gd name="adj" fmla="val 2410"/>
            </a:avLst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3"/>
          <p:cNvSpPr/>
          <p:nvPr/>
        </p:nvSpPr>
        <p:spPr>
          <a:xfrm>
            <a:off x="822960" y="17373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STRIDE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Text 4"/>
          <p:cNvSpPr/>
          <p:nvPr/>
        </p:nvSpPr>
        <p:spPr>
          <a:xfrm>
            <a:off x="822960" y="2377440"/>
            <a:ext cx="4571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•  Taxonomía sistemática por elemento del DFD.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5"/>
          <p:cNvSpPr/>
          <p:nvPr/>
        </p:nvSpPr>
        <p:spPr>
          <a:xfrm>
            <a:off x="822960" y="3017520"/>
            <a:ext cx="4571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•  Excelente para no olvidar ninguna categoría de amenaza.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6"/>
          <p:cNvSpPr/>
          <p:nvPr/>
        </p:nvSpPr>
        <p:spPr>
          <a:xfrm>
            <a:off x="6172200" y="1554480"/>
            <a:ext cx="5120280" cy="3794400"/>
          </a:xfrm>
          <a:prstGeom prst="roundRect">
            <a:avLst>
              <a:gd name="adj" fmla="val 241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 7"/>
          <p:cNvSpPr/>
          <p:nvPr/>
        </p:nvSpPr>
        <p:spPr>
          <a:xfrm>
            <a:off x="6446520" y="17373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OWASP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8"/>
          <p:cNvSpPr/>
          <p:nvPr/>
        </p:nvSpPr>
        <p:spPr>
          <a:xfrm>
            <a:off x="6446520" y="214884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4 preguntas + Threat Dragon + Top 10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9"/>
          <p:cNvSpPr/>
          <p:nvPr/>
        </p:nvSpPr>
        <p:spPr>
          <a:xfrm>
            <a:off x="6446520" y="2560320"/>
            <a:ext cx="4571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Proceso ligero, colaborativo y continuo.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10"/>
          <p:cNvSpPr/>
          <p:nvPr/>
        </p:nvSpPr>
        <p:spPr>
          <a:xfrm>
            <a:off x="6446520" y="3200400"/>
            <a:ext cx="4571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Excelente para equipos ágiles / DevSecOps.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11"/>
          <p:cNvSpPr/>
          <p:nvPr/>
        </p:nvSpPr>
        <p:spPr>
          <a:xfrm>
            <a:off x="548640" y="5532120"/>
            <a:ext cx="10698120" cy="685440"/>
          </a:xfrm>
          <a:prstGeom prst="roundRect">
            <a:avLst>
              <a:gd name="adj" fmla="val 10667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12"/>
          <p:cNvSpPr/>
          <p:nvPr/>
        </p:nvSpPr>
        <p:spPr>
          <a:xfrm>
            <a:off x="548640" y="553212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 la práctica se combinan: proceso OWASP con taxonomía STRIDE.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13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14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THREAT MODELING · OWASP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Cruce con OWASP Top 10 (2021)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2"/>
          <p:cNvSpPr/>
          <p:nvPr/>
        </p:nvSpPr>
        <p:spPr>
          <a:xfrm>
            <a:off x="548640" y="1554480"/>
            <a:ext cx="499212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3"/>
          <p:cNvSpPr/>
          <p:nvPr/>
        </p:nvSpPr>
        <p:spPr>
          <a:xfrm>
            <a:off x="548640" y="1554480"/>
            <a:ext cx="499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Categoría Top 10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4"/>
          <p:cNvSpPr/>
          <p:nvPr/>
        </p:nvSpPr>
        <p:spPr>
          <a:xfrm>
            <a:off x="5577840" y="1554480"/>
            <a:ext cx="5723640" cy="502560"/>
          </a:xfrm>
          <a:prstGeom prst="rect">
            <a:avLst/>
          </a:prstGeom>
          <a:solidFill>
            <a:srgbClr val="0F3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5"/>
          <p:cNvSpPr/>
          <p:nvPr/>
        </p:nvSpPr>
        <p:spPr>
          <a:xfrm>
            <a:off x="5577840" y="1554480"/>
            <a:ext cx="572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nuestro ejemplo de pagos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6"/>
          <p:cNvSpPr/>
          <p:nvPr/>
        </p:nvSpPr>
        <p:spPr>
          <a:xfrm>
            <a:off x="548640" y="2057400"/>
            <a:ext cx="4992120" cy="49356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 7"/>
          <p:cNvSpPr/>
          <p:nvPr/>
        </p:nvSpPr>
        <p:spPr>
          <a:xfrm>
            <a:off x="548640" y="2057400"/>
            <a:ext cx="499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A01 · Broken Access Control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8"/>
          <p:cNvSpPr/>
          <p:nvPr/>
        </p:nvSpPr>
        <p:spPr>
          <a:xfrm>
            <a:off x="5577840" y="2057400"/>
            <a:ext cx="5723640" cy="49356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9"/>
          <p:cNvSpPr/>
          <p:nvPr/>
        </p:nvSpPr>
        <p:spPr>
          <a:xfrm>
            <a:off x="5577840" y="2057400"/>
            <a:ext cx="5723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Elevación de privilegios (la E de STRIDE)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10"/>
          <p:cNvSpPr/>
          <p:nvPr/>
        </p:nvSpPr>
        <p:spPr>
          <a:xfrm>
            <a:off x="548640" y="2606040"/>
            <a:ext cx="4992120" cy="493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11"/>
          <p:cNvSpPr/>
          <p:nvPr/>
        </p:nvSpPr>
        <p:spPr>
          <a:xfrm>
            <a:off x="548640" y="2606040"/>
            <a:ext cx="499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A02 · Cryptographic Failures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12"/>
          <p:cNvSpPr/>
          <p:nvPr/>
        </p:nvSpPr>
        <p:spPr>
          <a:xfrm>
            <a:off x="5577840" y="2606040"/>
            <a:ext cx="5723640" cy="493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13"/>
          <p:cNvSpPr/>
          <p:nvPr/>
        </p:nvSpPr>
        <p:spPr>
          <a:xfrm>
            <a:off x="5577840" y="2606040"/>
            <a:ext cx="5723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Exposición de datos de tarjeta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14"/>
          <p:cNvSpPr/>
          <p:nvPr/>
        </p:nvSpPr>
        <p:spPr>
          <a:xfrm>
            <a:off x="548640" y="3154680"/>
            <a:ext cx="4992120" cy="49356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15"/>
          <p:cNvSpPr/>
          <p:nvPr/>
        </p:nvSpPr>
        <p:spPr>
          <a:xfrm>
            <a:off x="548640" y="3154680"/>
            <a:ext cx="499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A03 · Injection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16"/>
          <p:cNvSpPr/>
          <p:nvPr/>
        </p:nvSpPr>
        <p:spPr>
          <a:xfrm>
            <a:off x="5577840" y="3154680"/>
            <a:ext cx="5723640" cy="49356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17"/>
          <p:cNvSpPr/>
          <p:nvPr/>
        </p:nvSpPr>
        <p:spPr>
          <a:xfrm>
            <a:off x="5577840" y="3154680"/>
            <a:ext cx="5723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Inyección SQL en la API de pagos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Shape 18"/>
          <p:cNvSpPr/>
          <p:nvPr/>
        </p:nvSpPr>
        <p:spPr>
          <a:xfrm>
            <a:off x="548640" y="3703320"/>
            <a:ext cx="4992120" cy="493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19"/>
          <p:cNvSpPr/>
          <p:nvPr/>
        </p:nvSpPr>
        <p:spPr>
          <a:xfrm>
            <a:off x="548640" y="3703320"/>
            <a:ext cx="499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A05 · Security Misconfiguration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20"/>
          <p:cNvSpPr/>
          <p:nvPr/>
        </p:nvSpPr>
        <p:spPr>
          <a:xfrm>
            <a:off x="5577840" y="3703320"/>
            <a:ext cx="5723640" cy="493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Text 21"/>
          <p:cNvSpPr/>
          <p:nvPr/>
        </p:nvSpPr>
        <p:spPr>
          <a:xfrm>
            <a:off x="5577840" y="3703320"/>
            <a:ext cx="5723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Blob público, contenedores mal configurados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22"/>
          <p:cNvSpPr/>
          <p:nvPr/>
        </p:nvSpPr>
        <p:spPr>
          <a:xfrm>
            <a:off x="548640" y="4251960"/>
            <a:ext cx="4992120" cy="49356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23"/>
          <p:cNvSpPr/>
          <p:nvPr/>
        </p:nvSpPr>
        <p:spPr>
          <a:xfrm>
            <a:off x="548640" y="4251960"/>
            <a:ext cx="499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A07 · Identification &amp; Auth. Failures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24"/>
          <p:cNvSpPr/>
          <p:nvPr/>
        </p:nvSpPr>
        <p:spPr>
          <a:xfrm>
            <a:off x="5577840" y="4251960"/>
            <a:ext cx="5723640" cy="493560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25"/>
          <p:cNvSpPr/>
          <p:nvPr/>
        </p:nvSpPr>
        <p:spPr>
          <a:xfrm>
            <a:off x="5577840" y="4251960"/>
            <a:ext cx="5723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109800" rIns="109800" bIns="1098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Spoofing de credenciales (la S de STRIDE)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26"/>
          <p:cNvSpPr/>
          <p:nvPr/>
        </p:nvSpPr>
        <p:spPr>
          <a:xfrm>
            <a:off x="548640" y="5074920"/>
            <a:ext cx="10698120" cy="548280"/>
          </a:xfrm>
          <a:prstGeom prst="roundRect">
            <a:avLst>
              <a:gd name="adj" fmla="val 11667"/>
            </a:avLst>
          </a:prstGeom>
          <a:solidFill>
            <a:srgbClr val="FCE9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27"/>
          <p:cNvSpPr/>
          <p:nvPr/>
        </p:nvSpPr>
        <p:spPr>
          <a:xfrm>
            <a:off x="822960" y="507492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i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A05 lo veremos aplicado directamente en el laboratorio con herramientas de postura de seguridad.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28"/>
          <p:cNvSpPr/>
          <p:nvPr/>
        </p:nvSpPr>
        <p:spPr>
          <a:xfrm>
            <a:off x="548640" y="576072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El Top 10 funciona como checklist de amenazas conocidas para complementar el modelo.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29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30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DE LA TEORÍA A LA PRÁCTICA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Herramientas y vista previa del laboratorio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2"/>
          <p:cNvSpPr/>
          <p:nvPr/>
        </p:nvSpPr>
        <p:spPr>
          <a:xfrm>
            <a:off x="548640" y="1508760"/>
            <a:ext cx="5120280" cy="4343040"/>
          </a:xfrm>
          <a:prstGeom prst="roundRect">
            <a:avLst>
              <a:gd name="adj" fmla="val 2105"/>
            </a:avLst>
          </a:prstGeom>
          <a:solidFill>
            <a:srgbClr val="F5FAF9"/>
          </a:solidFill>
          <a:ln w="12700">
            <a:solidFill>
              <a:srgbClr val="CFE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3"/>
          <p:cNvSpPr/>
          <p:nvPr/>
        </p:nvSpPr>
        <p:spPr>
          <a:xfrm>
            <a:off x="868680" y="1810440"/>
            <a:ext cx="822600" cy="8226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6" name="Image 0" descr="/home/claude/icons/branch.png"/>
          <p:cNvPicPr/>
          <p:nvPr/>
        </p:nvPicPr>
        <p:blipFill>
          <a:blip r:embed="rId1"/>
          <a:stretch/>
        </p:blipFill>
        <p:spPr>
          <a:xfrm>
            <a:off x="1066320" y="200808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7" name="Text 4"/>
          <p:cNvSpPr/>
          <p:nvPr/>
        </p:nvSpPr>
        <p:spPr>
          <a:xfrm>
            <a:off x="1920240" y="187452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OWASP Threat Dragon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Text 5"/>
          <p:cNvSpPr/>
          <p:nvPr/>
        </p:nvSpPr>
        <p:spPr>
          <a:xfrm>
            <a:off x="1920240" y="21945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Herramienta de código abierto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 6"/>
          <p:cNvSpPr/>
          <p:nvPr/>
        </p:nvSpPr>
        <p:spPr>
          <a:xfrm>
            <a:off x="868680" y="2743200"/>
            <a:ext cx="452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Diagramación de arquitectura con fronteras de confianza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7"/>
          <p:cNvSpPr/>
          <p:nvPr/>
        </p:nvSpPr>
        <p:spPr>
          <a:xfrm>
            <a:off x="868680" y="3310200"/>
            <a:ext cx="452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Aplicación guiada de la taxonomía STRIDE por elemento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 8"/>
          <p:cNvSpPr/>
          <p:nvPr/>
        </p:nvSpPr>
        <p:spPr>
          <a:xfrm>
            <a:off x="868680" y="3877200"/>
            <a:ext cx="452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Documentación de amenazas, mitigaciones y estado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9"/>
          <p:cNvSpPr/>
          <p:nvPr/>
        </p:nvSpPr>
        <p:spPr>
          <a:xfrm>
            <a:off x="868680" y="4443840"/>
            <a:ext cx="452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Formato reutilizable como evidencia de aprendizaje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10"/>
          <p:cNvSpPr/>
          <p:nvPr/>
        </p:nvSpPr>
        <p:spPr>
          <a:xfrm>
            <a:off x="5943600" y="1508760"/>
            <a:ext cx="5486040" cy="4343040"/>
          </a:xfrm>
          <a:prstGeom prst="roundRect">
            <a:avLst>
              <a:gd name="adj" fmla="val 2105"/>
            </a:avLst>
          </a:prstGeom>
          <a:solidFill>
            <a:srgbClr val="0B20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11"/>
          <p:cNvSpPr/>
          <p:nvPr/>
        </p:nvSpPr>
        <p:spPr>
          <a:xfrm>
            <a:off x="6263640" y="1810440"/>
            <a:ext cx="822600" cy="8226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5" name="Image 1" descr="/home/claude/icons/server.png"/>
          <p:cNvPicPr/>
          <p:nvPr/>
        </p:nvPicPr>
        <p:blipFill>
          <a:blip r:embed="rId2"/>
          <a:stretch/>
        </p:blipFill>
        <p:spPr>
          <a:xfrm>
            <a:off x="6461280" y="200808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6" name="Text 12"/>
          <p:cNvSpPr/>
          <p:nvPr/>
        </p:nvSpPr>
        <p:spPr>
          <a:xfrm>
            <a:off x="7315200" y="187452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Laboratorio guiado en Azure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 13"/>
          <p:cNvSpPr/>
          <p:nvPr/>
        </p:nvSpPr>
        <p:spPr>
          <a:xfrm>
            <a:off x="7315200" y="2194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Trabajo colaborativo en grupos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14"/>
          <p:cNvSpPr/>
          <p:nvPr/>
        </p:nvSpPr>
        <p:spPr>
          <a:xfrm>
            <a:off x="6263640" y="2788920"/>
            <a:ext cx="456840" cy="45684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9" name="Image 2" descr="/home/claude/icons/target.png"/>
          <p:cNvPicPr/>
          <p:nvPr/>
        </p:nvPicPr>
        <p:blipFill>
          <a:blip r:embed="rId3"/>
          <a:stretch/>
        </p:blipFill>
        <p:spPr>
          <a:xfrm>
            <a:off x="6364080" y="288936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0" name="Text 15"/>
          <p:cNvSpPr/>
          <p:nvPr/>
        </p:nvSpPr>
        <p:spPr>
          <a:xfrm>
            <a:off x="6903720" y="2788920"/>
            <a:ext cx="434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Construir el diagrama de responsabilidad compartida del entorno asignado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16"/>
          <p:cNvSpPr/>
          <p:nvPr/>
        </p:nvSpPr>
        <p:spPr>
          <a:xfrm>
            <a:off x="6263640" y="3749040"/>
            <a:ext cx="456840" cy="45684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2" name="Image 3" descr="/home/claude/icons/target.png"/>
          <p:cNvPicPr/>
          <p:nvPr/>
        </p:nvPicPr>
        <p:blipFill>
          <a:blip r:embed="rId4"/>
          <a:stretch/>
        </p:blipFill>
        <p:spPr>
          <a:xfrm>
            <a:off x="6364080" y="38494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3" name="Text 17"/>
          <p:cNvSpPr/>
          <p:nvPr/>
        </p:nvSpPr>
        <p:spPr>
          <a:xfrm>
            <a:off x="6903720" y="3749040"/>
            <a:ext cx="434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Modelar amenazas del escenario con OWASP Threat Dragon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18"/>
          <p:cNvSpPr/>
          <p:nvPr/>
        </p:nvSpPr>
        <p:spPr>
          <a:xfrm>
            <a:off x="6263640" y="4709160"/>
            <a:ext cx="456840" cy="45684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5" name="Image 4" descr="/home/claude/icons/target.png"/>
          <p:cNvPicPr/>
          <p:nvPr/>
        </p:nvPicPr>
        <p:blipFill>
          <a:blip r:embed="rId5"/>
          <a:stretch/>
        </p:blipFill>
        <p:spPr>
          <a:xfrm>
            <a:off x="6364080" y="48096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6" name="Text 19"/>
          <p:cNvSpPr/>
          <p:nvPr/>
        </p:nvSpPr>
        <p:spPr>
          <a:xfrm>
            <a:off x="6903720" y="4709160"/>
            <a:ext cx="434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Configurar una Managed Identity funcional integrando 2 componentes cloud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20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21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PUENTE AL LABORATORIO</a:t>
            </a:r>
            <a:endParaRPr lang="es-CO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 la teoría a la práctica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2"/>
          <p:cNvSpPr/>
          <p:nvPr/>
        </p:nvSpPr>
        <p:spPr>
          <a:xfrm>
            <a:off x="548640" y="1417320"/>
            <a:ext cx="5348880" cy="456840"/>
          </a:xfrm>
          <a:prstGeom prst="rect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Text 3"/>
          <p:cNvSpPr/>
          <p:nvPr/>
        </p:nvSpPr>
        <p:spPr>
          <a:xfrm>
            <a:off x="548640" y="1417320"/>
            <a:ext cx="5348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Concepto de la teoría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4"/>
          <p:cNvSpPr/>
          <p:nvPr/>
        </p:nvSpPr>
        <p:spPr>
          <a:xfrm>
            <a:off x="5943600" y="1417320"/>
            <a:ext cx="530316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4" name="Text 5"/>
          <p:cNvSpPr/>
          <p:nvPr/>
        </p:nvSpPr>
        <p:spPr>
          <a:xfrm>
            <a:off x="5943600" y="14173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Práctica en el laboratorio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6"/>
          <p:cNvSpPr/>
          <p:nvPr/>
        </p:nvSpPr>
        <p:spPr>
          <a:xfrm>
            <a:off x="548640" y="1874520"/>
            <a:ext cx="5348880" cy="840960"/>
          </a:xfrm>
          <a:prstGeom prst="rect">
            <a:avLst/>
          </a:prstGeom>
          <a:solidFill>
            <a:srgbClr val="0F3138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7"/>
          <p:cNvSpPr/>
          <p:nvPr/>
        </p:nvSpPr>
        <p:spPr>
          <a:xfrm>
            <a:off x="685800" y="1874520"/>
            <a:ext cx="507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Modelo de responsabilidad compartida (Bloque 2)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8"/>
          <p:cNvSpPr/>
          <p:nvPr/>
        </p:nvSpPr>
        <p:spPr>
          <a:xfrm>
            <a:off x="5943600" y="1874520"/>
            <a:ext cx="5303160" cy="840960"/>
          </a:xfrm>
          <a:prstGeom prst="rect">
            <a:avLst/>
          </a:prstGeom>
          <a:solidFill>
            <a:srgbClr val="0A4A55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9"/>
          <p:cNvSpPr/>
          <p:nvPr/>
        </p:nvSpPr>
        <p:spPr>
          <a:xfrm>
            <a:off x="6080760" y="1874520"/>
            <a:ext cx="5028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Diagrama de responsabilidad compartida del entorno cloud asignado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9" name="Shape 10"/>
          <p:cNvSpPr/>
          <p:nvPr/>
        </p:nvSpPr>
        <p:spPr>
          <a:xfrm>
            <a:off x="548640" y="2770560"/>
            <a:ext cx="5348880" cy="840960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11"/>
          <p:cNvSpPr/>
          <p:nvPr/>
        </p:nvSpPr>
        <p:spPr>
          <a:xfrm>
            <a:off x="685800" y="2770560"/>
            <a:ext cx="507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Threat Modeling con STRIDE y enfoque OWASP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Shape 12"/>
          <p:cNvSpPr/>
          <p:nvPr/>
        </p:nvSpPr>
        <p:spPr>
          <a:xfrm>
            <a:off x="5943600" y="2770560"/>
            <a:ext cx="5303160" cy="840960"/>
          </a:xfrm>
          <a:prstGeom prst="rect">
            <a:avLst/>
          </a:prstGeom>
          <a:solidFill>
            <a:srgbClr val="0D5A66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13"/>
          <p:cNvSpPr/>
          <p:nvPr/>
        </p:nvSpPr>
        <p:spPr>
          <a:xfrm>
            <a:off x="6080760" y="2770560"/>
            <a:ext cx="5028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Modelo de amenazas construido en OWASP Threat Dragon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Shape 14"/>
          <p:cNvSpPr/>
          <p:nvPr/>
        </p:nvSpPr>
        <p:spPr>
          <a:xfrm>
            <a:off x="548640" y="3666600"/>
            <a:ext cx="5348880" cy="840960"/>
          </a:xfrm>
          <a:prstGeom prst="rect">
            <a:avLst/>
          </a:prstGeom>
          <a:solidFill>
            <a:srgbClr val="0F3138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15"/>
          <p:cNvSpPr/>
          <p:nvPr/>
        </p:nvSpPr>
        <p:spPr>
          <a:xfrm>
            <a:off x="685800" y="3666600"/>
            <a:ext cx="507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Identidades de cargas de trabajo sin credenciales (Zero Trust)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16"/>
          <p:cNvSpPr/>
          <p:nvPr/>
        </p:nvSpPr>
        <p:spPr>
          <a:xfrm>
            <a:off x="5943600" y="3666600"/>
            <a:ext cx="5303160" cy="840960"/>
          </a:xfrm>
          <a:prstGeom prst="rect">
            <a:avLst/>
          </a:prstGeom>
          <a:solidFill>
            <a:srgbClr val="0A4A55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17"/>
          <p:cNvSpPr/>
          <p:nvPr/>
        </p:nvSpPr>
        <p:spPr>
          <a:xfrm>
            <a:off x="6080760" y="3666600"/>
            <a:ext cx="5028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Managed Identity funcional integrando 2 componentes cloud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18"/>
          <p:cNvSpPr/>
          <p:nvPr/>
        </p:nvSpPr>
        <p:spPr>
          <a:xfrm>
            <a:off x="548640" y="4563000"/>
            <a:ext cx="5348880" cy="840960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19"/>
          <p:cNvSpPr/>
          <p:nvPr/>
        </p:nvSpPr>
        <p:spPr>
          <a:xfrm>
            <a:off x="685800" y="4563000"/>
            <a:ext cx="507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Trust boundaries y fronteras de confianza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9" name="Shape 20"/>
          <p:cNvSpPr/>
          <p:nvPr/>
        </p:nvSpPr>
        <p:spPr>
          <a:xfrm>
            <a:off x="5943600" y="4563000"/>
            <a:ext cx="5303160" cy="840960"/>
          </a:xfrm>
          <a:prstGeom prst="rect">
            <a:avLst/>
          </a:prstGeom>
          <a:solidFill>
            <a:srgbClr val="0D5A66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0" name="Text 21"/>
          <p:cNvSpPr/>
          <p:nvPr/>
        </p:nvSpPr>
        <p:spPr>
          <a:xfrm>
            <a:off x="6080760" y="4563000"/>
            <a:ext cx="5028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Diagrama DFD del escenario con límites de confianza marcados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22"/>
          <p:cNvSpPr/>
          <p:nvPr/>
        </p:nvSpPr>
        <p:spPr>
          <a:xfrm>
            <a:off x="548640" y="5459040"/>
            <a:ext cx="5348880" cy="840960"/>
          </a:xfrm>
          <a:prstGeom prst="rect">
            <a:avLst/>
          </a:prstGeom>
          <a:solidFill>
            <a:srgbClr val="0F3138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23"/>
          <p:cNvSpPr/>
          <p:nvPr/>
        </p:nvSpPr>
        <p:spPr>
          <a:xfrm>
            <a:off x="685800" y="5459040"/>
            <a:ext cx="507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Least Privilege aplicado a identidades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24"/>
          <p:cNvSpPr/>
          <p:nvPr/>
        </p:nvSpPr>
        <p:spPr>
          <a:xfrm>
            <a:off x="5943600" y="5459040"/>
            <a:ext cx="5303160" cy="840960"/>
          </a:xfrm>
          <a:prstGeom prst="rect">
            <a:avLst/>
          </a:prstGeom>
          <a:solidFill>
            <a:srgbClr val="0A4A55"/>
          </a:solidFill>
          <a:ln w="12700">
            <a:solidFill>
              <a:srgbClr val="0B20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 25"/>
          <p:cNvSpPr/>
          <p:nvPr/>
        </p:nvSpPr>
        <p:spPr>
          <a:xfrm>
            <a:off x="6080760" y="5459040"/>
            <a:ext cx="5028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 mínimo necesario asignado a la Managed Identity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26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27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Shape 0"/>
          <p:cNvSpPr/>
          <p:nvPr/>
        </p:nvSpPr>
        <p:spPr>
          <a:xfrm>
            <a:off x="-1371600" y="4114800"/>
            <a:ext cx="4571640" cy="4571640"/>
          </a:xfrm>
          <a:prstGeom prst="ellipse">
            <a:avLst/>
          </a:prstGeom>
          <a:solidFill>
            <a:srgbClr val="0E3C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 1"/>
          <p:cNvSpPr/>
          <p:nvPr/>
        </p:nvSpPr>
        <p:spPr>
          <a:xfrm>
            <a:off x="548640" y="457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Resumen de la sesión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2"/>
          <p:cNvSpPr/>
          <p:nvPr/>
        </p:nvSpPr>
        <p:spPr>
          <a:xfrm>
            <a:off x="548640" y="1234440"/>
            <a:ext cx="566640" cy="566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0" name="Image 0" descr="/home/claude/icons/cloud.png"/>
          <p:cNvPicPr/>
          <p:nvPr/>
        </p:nvPicPr>
        <p:blipFill>
          <a:blip r:embed="rId1"/>
          <a:stretch/>
        </p:blipFill>
        <p:spPr>
          <a:xfrm>
            <a:off x="667440" y="13532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1" name="Text 3"/>
          <p:cNvSpPr/>
          <p:nvPr/>
        </p:nvSpPr>
        <p:spPr>
          <a:xfrm>
            <a:off x="1325880" y="1216080"/>
            <a:ext cx="9783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El modelo de servicio elegido (IaaS/PaaS/SaaS) es una decisión de riesgo, no solo técnica.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4"/>
          <p:cNvSpPr/>
          <p:nvPr/>
        </p:nvSpPr>
        <p:spPr>
          <a:xfrm>
            <a:off x="548640" y="2075760"/>
            <a:ext cx="566640" cy="566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3" name="Image 1" descr="/home/claude/icons/shield.png"/>
          <p:cNvPicPr/>
          <p:nvPr/>
        </p:nvPicPr>
        <p:blipFill>
          <a:blip r:embed="rId2"/>
          <a:stretch/>
        </p:blipFill>
        <p:spPr>
          <a:xfrm>
            <a:off x="667440" y="21945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4" name="Text 5"/>
          <p:cNvSpPr/>
          <p:nvPr/>
        </p:nvSpPr>
        <p:spPr>
          <a:xfrm>
            <a:off x="1325880" y="2057400"/>
            <a:ext cx="9783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La responsabilidad compartida debe mapearse explícitamente a activos reales — datos e identidades siempre son del cliente.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6"/>
          <p:cNvSpPr/>
          <p:nvPr/>
        </p:nvSpPr>
        <p:spPr>
          <a:xfrm>
            <a:off x="548640" y="2917080"/>
            <a:ext cx="566640" cy="566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6" name="Image 2" descr="/home/claude/icons/alert.png"/>
          <p:cNvPicPr/>
          <p:nvPr/>
        </p:nvPicPr>
        <p:blipFill>
          <a:blip r:embed="rId3"/>
          <a:stretch/>
        </p:blipFill>
        <p:spPr>
          <a:xfrm>
            <a:off x="667440" y="30358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7" name="Text 7"/>
          <p:cNvSpPr/>
          <p:nvPr/>
        </p:nvSpPr>
        <p:spPr>
          <a:xfrm>
            <a:off x="1325880" y="2898720"/>
            <a:ext cx="9783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Configuración incorrecta e IAM lideran el ranking de amenazas cloud del CSA en 2024.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8"/>
          <p:cNvSpPr/>
          <p:nvPr/>
        </p:nvSpPr>
        <p:spPr>
          <a:xfrm>
            <a:off x="548640" y="3758040"/>
            <a:ext cx="566640" cy="566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9" name="Image 3" descr="/home/claude/icons/lock.png"/>
          <p:cNvPicPr/>
          <p:nvPr/>
        </p:nvPicPr>
        <p:blipFill>
          <a:blip r:embed="rId4"/>
          <a:stretch/>
        </p:blipFill>
        <p:spPr>
          <a:xfrm>
            <a:off x="667440" y="38772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0" name="Text 9"/>
          <p:cNvSpPr/>
          <p:nvPr/>
        </p:nvSpPr>
        <p:spPr>
          <a:xfrm>
            <a:off x="1325880" y="3740040"/>
            <a:ext cx="9783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Least Privilege, Defense in Depth y Zero Trust son principios complementarios, no excluyentes.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10"/>
          <p:cNvSpPr/>
          <p:nvPr/>
        </p:nvSpPr>
        <p:spPr>
          <a:xfrm>
            <a:off x="548640" y="4599360"/>
            <a:ext cx="566640" cy="566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2" name="Image 4" descr="/home/claude/icons/branch.png"/>
          <p:cNvPicPr/>
          <p:nvPr/>
        </p:nvPicPr>
        <p:blipFill>
          <a:blip r:embed="rId5"/>
          <a:stretch/>
        </p:blipFill>
        <p:spPr>
          <a:xfrm>
            <a:off x="667440" y="47181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3" name="Text 11"/>
          <p:cNvSpPr/>
          <p:nvPr/>
        </p:nvSpPr>
        <p:spPr>
          <a:xfrm>
            <a:off x="1325880" y="4581000"/>
            <a:ext cx="9783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STRIDE (taxonomía) y OWASP (proceso + Threat Dragon) se combinan en la práctica.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4" name="Shape 12"/>
          <p:cNvSpPr/>
          <p:nvPr/>
        </p:nvSpPr>
        <p:spPr>
          <a:xfrm>
            <a:off x="548640" y="5440680"/>
            <a:ext cx="566640" cy="566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5" name="Image 5" descr="/home/claude/icons/target.png"/>
          <p:cNvPicPr/>
          <p:nvPr/>
        </p:nvPicPr>
        <p:blipFill>
          <a:blip r:embed="rId6"/>
          <a:stretch/>
        </p:blipFill>
        <p:spPr>
          <a:xfrm>
            <a:off x="667440" y="55594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6" name="Text 13"/>
          <p:cNvSpPr/>
          <p:nvPr/>
        </p:nvSpPr>
        <p:spPr>
          <a:xfrm>
            <a:off x="1325880" y="5422320"/>
            <a:ext cx="9783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FEAE6"/>
                </a:solidFill>
                <a:effectLst/>
                <a:uFillTx/>
                <a:latin typeface="Calibri"/>
                <a:ea typeface="Calibri"/>
              </a:rPr>
              <a:t>La gestión de riesgos (ISO 31000/NIST RMF) conecta el threat modeling con la priorización — se profundiza en Sesión 2.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Text 14"/>
          <p:cNvSpPr/>
          <p:nvPr/>
        </p:nvSpPr>
        <p:spPr>
          <a:xfrm>
            <a:off x="548640" y="62636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Próxima sesión: Gobernanza, Riesgo, Cumplimiento y Arquitectura Segura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Text 0"/>
          <p:cNvSpPr/>
          <p:nvPr/>
        </p:nvSpPr>
        <p:spPr>
          <a:xfrm>
            <a:off x="548640" y="292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CIERRE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1"/>
          <p:cNvSpPr/>
          <p:nvPr/>
        </p:nvSpPr>
        <p:spPr>
          <a:xfrm>
            <a:off x="548640" y="5670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62B"/>
                </a:solidFill>
                <a:effectLst/>
                <a:uFillTx/>
                <a:latin typeface="Cambria"/>
                <a:ea typeface="Cambria"/>
              </a:rPr>
              <a:t>Referencias bibliográficas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2"/>
          <p:cNvSpPr/>
          <p:nvPr/>
        </p:nvSpPr>
        <p:spPr>
          <a:xfrm>
            <a:off x="548640" y="123444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Lectura obligatoria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3"/>
          <p:cNvSpPr/>
          <p:nvPr/>
        </p:nvSpPr>
        <p:spPr>
          <a:xfrm>
            <a:off x="548640" y="155448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Edwards, J. Cloud Security Fundamentals.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4"/>
          <p:cNvSpPr/>
          <p:nvPr/>
        </p:nvSpPr>
        <p:spPr>
          <a:xfrm>
            <a:off x="548640" y="192024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Lecturas complementarias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5"/>
          <p:cNvSpPr/>
          <p:nvPr/>
        </p:nvSpPr>
        <p:spPr>
          <a:xfrm>
            <a:off x="548640" y="22402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Thompson, G. Certificate of Cloud Security Knowledge (CCSK v5) Official Study Guide.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6"/>
          <p:cNvSpPr/>
          <p:nvPr/>
        </p:nvSpPr>
        <p:spPr>
          <a:xfrm>
            <a:off x="548640" y="25513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Dotson, C. Practical Cloud Security: A Guide for Secure Design and Deployment, 2nd Ed. O'Reilly.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7"/>
          <p:cNvSpPr/>
          <p:nvPr/>
        </p:nvSpPr>
        <p:spPr>
          <a:xfrm>
            <a:off x="548640" y="286200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Messier, R. Learning Cloud Security: Cloud Computing and Security Architecture Essentials. O'Reilly.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8"/>
          <p:cNvSpPr/>
          <p:nvPr/>
        </p:nvSpPr>
        <p:spPr>
          <a:xfrm>
            <a:off x="548640" y="317304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Cloud Computing Security: Strategies and Best Practices.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9"/>
          <p:cNvSpPr/>
          <p:nvPr/>
        </p:nvSpPr>
        <p:spPr>
          <a:xfrm>
            <a:off x="548640" y="3483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Cloud Security Alliance (CSA). Top Threats to Cloud Computing 2024 (Egregious Eleven).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10"/>
          <p:cNvSpPr/>
          <p:nvPr/>
        </p:nvSpPr>
        <p:spPr>
          <a:xfrm>
            <a:off x="548640" y="397764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Recursos y documentación técnica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 11"/>
          <p:cNvSpPr/>
          <p:nvPr/>
        </p:nvSpPr>
        <p:spPr>
          <a:xfrm>
            <a:off x="548640" y="429768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OWASP Threat Modeling — owasp.org/www-community/Threat_Modeling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 12"/>
          <p:cNvSpPr/>
          <p:nvPr/>
        </p:nvSpPr>
        <p:spPr>
          <a:xfrm>
            <a:off x="548640" y="4608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OWASP Threat Dragon — owasp.org/www-project-threat-dragon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13"/>
          <p:cNvSpPr/>
          <p:nvPr/>
        </p:nvSpPr>
        <p:spPr>
          <a:xfrm>
            <a:off x="548640" y="491940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Microsoft Threat Modeling Tool — learn.microsoft.com/azure/security/develop/threat-modeling-tool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 14"/>
          <p:cNvSpPr/>
          <p:nvPr/>
        </p:nvSpPr>
        <p:spPr>
          <a:xfrm>
            <a:off x="548640" y="523044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Shared responsibility in the cloud — learn.microsoft.com/azure/security/fundamentals/shared-responsibility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 15"/>
          <p:cNvSpPr/>
          <p:nvPr/>
        </p:nvSpPr>
        <p:spPr>
          <a:xfrm>
            <a:off x="548640" y="5541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What is Zero Trust? — learn.microsoft.com/security/zero-trust/zero-trust-overview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 16"/>
          <p:cNvSpPr/>
          <p:nvPr/>
        </p:nvSpPr>
        <p:spPr>
          <a:xfrm>
            <a:off x="548640" y="585216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3262B"/>
                </a:solidFill>
                <a:effectLst/>
                <a:uFillTx/>
                <a:latin typeface="Calibri"/>
                <a:ea typeface="Calibri"/>
              </a:rPr>
              <a:t>•  MITRE ATT&amp;CK for Cloud — attack.mitre.org/matrices/enterprise/cloud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17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Seguridad en la Nube  ·  Sesión 1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18"/>
          <p:cNvSpPr/>
          <p:nvPr/>
        </p:nvSpPr>
        <p:spPr>
          <a:xfrm>
            <a:off x="11430000" y="6519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7A80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2026-08-14T21:20:21Z</dcterms:created>
  <dc:creator>PptxGenJS</dc:creator>
  <dc:description/>
  <dc:language>es-CO</dc:language>
  <cp:lastModifiedBy/>
  <dcterms:modified xsi:type="dcterms:W3CDTF">2026-08-14T16:29:32Z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39</vt:i4>
  </property>
  <property fmtid="{D5CDD505-2E9C-101B-9397-08002B2CF9AE}" pid="3" name="PresentationFormat">
    <vt:lpwstr>On-screen Show (16:9)</vt:lpwstr>
  </property>
  <property fmtid="{D5CDD505-2E9C-101B-9397-08002B2CF9AE}" pid="4" name="Slides">
    <vt:i4>39</vt:i4>
  </property>
</Properties>
</file>