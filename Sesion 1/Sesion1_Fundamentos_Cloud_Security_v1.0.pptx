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3.png"/><Relationship Id="rId5" Type="http://schemas.openxmlformats.org/officeDocument/2006/relationships/image" Target="../media/image-1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0E3C44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502920"/>
            <a:ext cx="1554480" cy="1554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9995" y="875995"/>
            <a:ext cx="808330" cy="808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EJÉRCITO NACIONAL · ESCUELA DE COMUNICACIONES MILITARES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Ciberseguridad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la Nube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 · Fundamentos de Cloud Computing,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 Compartida y Principios de Seguridad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58368" y="44348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5029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teórico  ·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 HTA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y agenda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estudiante aplicará el modelo de responsabilidad compartida y los principios Zero Trust, Least Privilege y Defense in Depth en el diseño de una arquitectura cloud.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938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Cloud Computing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Definición, características esenciales, modelos de despliegue y de servicio (IaaS/PaaS/SaaS).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7830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92938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1920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responsabilidad compartida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03720" y="228600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asegura el proveedor y qué asegura el cliente en cada modelo de servicio.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381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34290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amenazas en la nube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17320" y="379476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Threats to Cloud Computing 2024 (CSA) — el panorama de riesgo actual.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4381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34290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03720" y="379476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Defense in Depth, Zero Trust y Trust Boundaries.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946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49377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17320" y="53035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STRIDE y herramienta OWASP Threat Dragon.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80060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946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03720" y="49377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 en Azure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03720" y="53035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responsabilidad compartida, modelo de amenazas y Managed Identity.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computación en la nube?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0B202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8891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(NIST SP 800-145)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que permite acceso ubicuo, conveniente y bajo demanda a un conjunto compartido de recursos informáticos configurables (redes, servidores, almacenamiento, aplicaciones y servicios), que pueden aprovisionarse y liberarse rápidamente con mínimo esfuerzo de gestión o interacción del proveedor.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48132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13533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bajo demanda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55080" y="16459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aprovisiona recursos sin intervención humana del proveedor.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69280" y="23042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414016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22860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acceso a la red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55080" y="25786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a través de la red mediante mecanismos estándar.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69280" y="323697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3346704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3218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de recursos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55080" y="351129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compartidos dinámicamente entre múltiples consumidores (multi-tenant).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69280" y="416966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08" y="427939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55080" y="415137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 rápida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355080" y="444398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 escalan hacia arriba o abajo según la demanda.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69280" y="51023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/home/claude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08" y="5212080"/>
            <a:ext cx="283464" cy="28346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55080" y="508406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medido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355080" y="53766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monitoreado, controlado y reportado con transparencia.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despliegue en la nube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18288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690" y="2026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pública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propiedad y operación de un proveedor externo (AWS, Azure, GCP), compartida entre múltiples organizaciones.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50876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47388" y="18288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898" y="20263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privada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38728" y="34747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dedicada a una sola organización, operada internamente o por un tercero, on-premises o alojada.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50876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54596" y="18288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06" y="20263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híbrida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45936" y="34747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nube pública y privada, con portabilidad de datos y aplicaciones entre ambos entornos.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70264" y="150876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61804" y="1828800"/>
            <a:ext cx="822960" cy="822960"/>
          </a:xfrm>
          <a:prstGeom prst="ellipse">
            <a:avLst/>
          </a:prstGeom>
          <a:solidFill>
            <a:srgbClr val="0F3138"/>
          </a:solidFill>
          <a:ln/>
        </p:spPr>
      </p:sp>
      <p:pic>
        <p:nvPicPr>
          <p:cNvPr id="21" name="Image 3" descr="/home/claude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9314" y="202631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comunitaria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53144" y="34747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compartida por varias organizaciones con intereses o requisitos comunes (cumplimiento, misión).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servicio: IaaS, PaaS y SaaS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abstracción del servicio, mayor es la porción de seguridad que asume el proveedor — y menor el control directo del cliente.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7238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547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4215384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885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47640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0" y="176479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Cómputo, almacenamiento y red virtualizados. El proveedor asegura la infraestructura física; el cliente gestiona SO, parches, red y datos.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4414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 · AWS EC2 · GCE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0" y="298094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ejecución gestionado (SO, middleware, runtime). El cliente se enfoca en el código de la aplicación y los datos.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3657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· AWS Lambda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0" y="419709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completamente gestionada. El cliente administra usuarios, accesos y configuración de datos.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48737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· Salesforce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responsabilidad compartida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 las obligaciones de seguridad entre el proveedor cloud (CSP) y el cliente. No es un principio abstracto: es un conjunto de controles operativos concretos que deben mapearse a activos reales.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0E3C4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3938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134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la nube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(CSP)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Instalaciones físicas y hardware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703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Virtualización e hipervisor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 troncal y disponibilidad regional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Continuidad y resiliencia de la plataforma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19659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028090"/>
          </a:solidFill>
          <a:ln/>
        </p:spPr>
      </p:sp>
      <p:sp>
        <p:nvSpPr>
          <p:cNvPr id="15" name="Shape 12"/>
          <p:cNvSpPr/>
          <p:nvPr/>
        </p:nvSpPr>
        <p:spPr>
          <a:xfrm>
            <a:off x="6446520" y="2240280"/>
            <a:ext cx="640080" cy="640080"/>
          </a:xfrm>
          <a:prstGeom prst="ellipse">
            <a:avLst/>
          </a:prstGeom>
          <a:solidFill>
            <a:srgbClr val="0B2027"/>
          </a:solidFill>
          <a:ln/>
        </p:spPr>
      </p:sp>
      <p:pic>
        <p:nvPicPr>
          <p:cNvPr id="16" name="Image 1" descr="/home/claude/icons/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39389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3134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22376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Configuración de SO, red y almacenamiento (IaaS)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92240" y="3703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Seguridad de la aplicación y del código (PaaS/SaaS)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922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Gestión de identidad y accesos (IAM)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9224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Clasificación, cifrado y gobierno del dato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responsabilidad por modelo de servicio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2148840" y="1600200"/>
            <a:ext cx="1645920" cy="77724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16002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9624" y="1600200"/>
            <a:ext cx="1645920" cy="77724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8" name="Text 6"/>
          <p:cNvSpPr/>
          <p:nvPr/>
        </p:nvSpPr>
        <p:spPr>
          <a:xfrm>
            <a:off x="3849624" y="16002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50408" y="1600200"/>
            <a:ext cx="1645920" cy="77724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0" name="Text 8"/>
          <p:cNvSpPr/>
          <p:nvPr/>
        </p:nvSpPr>
        <p:spPr>
          <a:xfrm>
            <a:off x="5550408" y="16002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51192" y="1600200"/>
            <a:ext cx="1645920" cy="77724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2" name="Text 10"/>
          <p:cNvSpPr/>
          <p:nvPr/>
        </p:nvSpPr>
        <p:spPr>
          <a:xfrm>
            <a:off x="7251192" y="16002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51976" y="1600200"/>
            <a:ext cx="1645920" cy="77724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4" name="Text 12"/>
          <p:cNvSpPr/>
          <p:nvPr/>
        </p:nvSpPr>
        <p:spPr>
          <a:xfrm>
            <a:off x="8951976" y="16002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50592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50592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48840" y="2450592"/>
            <a:ext cx="1645920" cy="868680"/>
          </a:xfrm>
          <a:prstGeom prst="rect">
            <a:avLst/>
          </a:prstGeom>
          <a:solidFill>
            <a:srgbClr val="CFEA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2450592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9624" y="2450592"/>
            <a:ext cx="1645920" cy="868680"/>
          </a:xfrm>
          <a:prstGeom prst="rect">
            <a:avLst/>
          </a:prstGeom>
          <a:solidFill>
            <a:srgbClr val="F5FA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9624" y="2450592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50408" y="2450592"/>
            <a:ext cx="1645920" cy="868680"/>
          </a:xfrm>
          <a:prstGeom prst="rect">
            <a:avLst/>
          </a:prstGeom>
          <a:solidFill>
            <a:srgbClr val="F5FA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450592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51192" y="2450592"/>
            <a:ext cx="1645920" cy="868680"/>
          </a:xfrm>
          <a:prstGeom prst="rect">
            <a:avLst/>
          </a:prstGeom>
          <a:solidFill>
            <a:srgbClr val="F5FA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1192" y="2450592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51976" y="2450592"/>
            <a:ext cx="1645920" cy="868680"/>
          </a:xfrm>
          <a:prstGeom prst="rect">
            <a:avLst/>
          </a:prstGeom>
          <a:solidFill>
            <a:srgbClr val="F5FA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51976" y="2450592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392424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392424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148840" y="3392424"/>
            <a:ext cx="1645920" cy="868680"/>
          </a:xfrm>
          <a:prstGeom prst="rect">
            <a:avLst/>
          </a:prstGeom>
          <a:solidFill>
            <a:srgbClr val="CFEA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3392424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49624" y="3392424"/>
            <a:ext cx="1645920" cy="868680"/>
          </a:xfrm>
          <a:prstGeom prst="rect">
            <a:avLst/>
          </a:prstGeom>
          <a:solidFill>
            <a:srgbClr val="CFEA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9624" y="3392424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550408" y="3392424"/>
            <a:ext cx="1645920" cy="868680"/>
          </a:xfrm>
          <a:prstGeom prst="rect">
            <a:avLst/>
          </a:prstGeom>
          <a:solidFill>
            <a:srgbClr val="F5FA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3392424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251192" y="3392424"/>
            <a:ext cx="1645920" cy="868680"/>
          </a:xfrm>
          <a:prstGeom prst="rect">
            <a:avLst/>
          </a:prstGeom>
          <a:solidFill>
            <a:srgbClr val="F5FA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51192" y="3392424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951976" y="3392424"/>
            <a:ext cx="1645920" cy="868680"/>
          </a:xfrm>
          <a:prstGeom prst="rect">
            <a:avLst/>
          </a:prstGeom>
          <a:solidFill>
            <a:srgbClr val="F5FA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51976" y="3392424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4334256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334256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148840" y="4334256"/>
            <a:ext cx="1645920" cy="868680"/>
          </a:xfrm>
          <a:prstGeom prst="rect">
            <a:avLst/>
          </a:prstGeom>
          <a:solidFill>
            <a:srgbClr val="CFEA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48840" y="4334256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849624" y="4334256"/>
            <a:ext cx="1645920" cy="868680"/>
          </a:xfrm>
          <a:prstGeom prst="rect">
            <a:avLst/>
          </a:prstGeom>
          <a:solidFill>
            <a:srgbClr val="CFEA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9624" y="4334256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550408" y="4334256"/>
            <a:ext cx="1645920" cy="868680"/>
          </a:xfrm>
          <a:prstGeom prst="rect">
            <a:avLst/>
          </a:prstGeom>
          <a:solidFill>
            <a:srgbClr val="CFEA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0408" y="4334256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251192" y="4334256"/>
            <a:ext cx="1645920" cy="868680"/>
          </a:xfrm>
          <a:prstGeom prst="rect">
            <a:avLst/>
          </a:prstGeom>
          <a:solidFill>
            <a:srgbClr val="F5FA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51192" y="4334256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951976" y="4334256"/>
            <a:ext cx="1645920" cy="868680"/>
          </a:xfrm>
          <a:prstGeom prst="rect">
            <a:avLst/>
          </a:prstGeom>
          <a:solidFill>
            <a:srgbClr val="F5FA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51976" y="4334256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48640" y="5321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Edwards, J. Cloud Security Fundamentals — Tabla 3.1, adaptada.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EN LA NUBE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Threats to Cloud Computing 2024 (CSA)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 más de 500 profesionales de seguridad; ranking por importancia percibida de 28 problemáticas de seguridad cloud.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8013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6916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incorrecta y control de cambios inadecuado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4871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3774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 y acceso (IAM)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31729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0632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y APIs inseguras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8587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7490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Selección/implementación inadecuada de la estrategia de seguridad cloud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45445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4348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terceros inseguros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52303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230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51206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inseguro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6916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144768" y="18013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31" name="Text 29"/>
          <p:cNvSpPr/>
          <p:nvPr/>
        </p:nvSpPr>
        <p:spPr>
          <a:xfrm>
            <a:off x="6144768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01968" y="16916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Divulgación accidental de datos en la nube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23774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144768" y="24871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35" name="Text 33"/>
          <p:cNvSpPr/>
          <p:nvPr/>
        </p:nvSpPr>
        <p:spPr>
          <a:xfrm>
            <a:off x="6144768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01968" y="23774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sistema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30632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1729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39" name="Text 37"/>
          <p:cNvSpPr/>
          <p:nvPr/>
        </p:nvSpPr>
        <p:spPr>
          <a:xfrm>
            <a:off x="614476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01968" y="30632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Visibilidad/observabilidad limitada en la nube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37490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42" name="Shape 40"/>
          <p:cNvSpPr/>
          <p:nvPr/>
        </p:nvSpPr>
        <p:spPr>
          <a:xfrm>
            <a:off x="6144768" y="38587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43" name="Text 41"/>
          <p:cNvSpPr/>
          <p:nvPr/>
        </p:nvSpPr>
        <p:spPr>
          <a:xfrm>
            <a:off x="6144768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01968" y="37490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compartido de recursos sin autenticación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35040" y="44348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46" name="Shape 44"/>
          <p:cNvSpPr/>
          <p:nvPr/>
        </p:nvSpPr>
        <p:spPr>
          <a:xfrm>
            <a:off x="6144768" y="45445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47" name="Text 45"/>
          <p:cNvSpPr/>
          <p:nvPr/>
        </p:nvSpPr>
        <p:spPr>
          <a:xfrm>
            <a:off x="6144768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01968" y="44348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persistentes avanzadas (APT)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EN LA NUBE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amenazas de mayor impacto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E457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10512"/>
            <a:ext cx="3429000" cy="24688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93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05940" y="2331720"/>
            <a:ext cx="914400" cy="9144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9" name="Image 0" descr="/home/claude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551176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474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incorrecta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de almacenamiento públicos, security groups sobre-permisivos y controles de cambio deficientes. La causa raíz más frecuente de brechas de datos en la nube.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06240" y="15544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15544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4206240" y="1810512"/>
            <a:ext cx="3429000" cy="2468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0" y="16093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63540" y="23317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/home/claude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996" y="2551176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89120" y="3474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acceso (IAM)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443484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comprometidas, roles sobre-privilegiados y rutas de escalamiento de privilegios que abusan de relaciones de confianza entre cuentas.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863840" y="15544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21" name="Shape 17"/>
          <p:cNvSpPr/>
          <p:nvPr/>
        </p:nvSpPr>
        <p:spPr>
          <a:xfrm>
            <a:off x="7863840" y="15544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22" name="Shape 18"/>
          <p:cNvSpPr/>
          <p:nvPr/>
        </p:nvSpPr>
        <p:spPr>
          <a:xfrm>
            <a:off x="7863840" y="1810512"/>
            <a:ext cx="3429000" cy="246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8046720" y="16093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121140" y="23317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596" y="2551176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046720" y="3474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y APIs inseguras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809244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débil, falta de rate-limiting y exposición de endpoints sin validación adecuada de entrada.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Cloud Security Alliance — Top Threats to Cloud Computing 2024 ("Egregious Eleven").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 · 1 DE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 (mínimo privilegio)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0261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50876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identidad —humana o de servicio— recibe únicamente los permisos estrictamente necesarios para cumplir su función, y nada más.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8" name="Image 1" descr="/home/claude/icons/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03580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superficie de ataque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63040" y="339242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permisos activos implican menos rutas explotables por un atacante o un error humano.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12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519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08736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el radio de impacto (blast radius)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463040" y="444398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credencial se compromete, el daño potencial queda acotado a lo estrictamente autorizado.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16" name="Image 3" descr="/home/claude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035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51389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acceso a la consola cloud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463040" y="549554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muchos proveedores, quien accede a la consola tiene privilegios prácticamente ilimitados por defecto: debe restringirse y auditarse con el mismo rigor que un centro de datos físico.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 · 2 DE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 (defensa en profundidad)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cualquier control de seguridad puede fallar. La defensa en profundidad crea capas de controles superpuestos, de modo que si uno falla, el siguiente contiene el ataque.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2011680"/>
            <a:ext cx="3931920" cy="3931920"/>
          </a:xfrm>
          <a:prstGeom prst="ellipse">
            <a:avLst/>
          </a:prstGeom>
          <a:solidFill>
            <a:srgbClr val="CFEAE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2468880"/>
            <a:ext cx="3017520" cy="301752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2926080"/>
            <a:ext cx="2103120" cy="21031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3383280"/>
            <a:ext cx="1188720" cy="11887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5808" y="372160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749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/ Red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5488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acceso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348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926080" y="4270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178308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19385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clave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66560" y="233172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control de seguridad: “¿Qué pasa si este falla?” Si la respuesta es inaceptable, la defensa en profundidad es insuficiente.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384048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39959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alerta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66560" y="438912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sola falla de inventario o monitoreo puede inutilizar varios controles a la vez, la profundidad de defensa también es insuficiente.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 · 3 DE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 (confianza cero)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“Nunca confiar, siempre verificar.” La confianza no se otorga por estar dentro de la red o poseer un dispositivo corporativo: se gana mediante evidencia continua (NIST SP 800-207).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048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532888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se divide en segmentos granulares con políticas propias, limitando el movimiento lateral de un atacante.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14884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/>
        </p:spPr>
      </p:sp>
      <p:sp>
        <p:nvSpPr>
          <p:cNvPr id="11" name="Shape 8"/>
          <p:cNvSpPr/>
          <p:nvPr/>
        </p:nvSpPr>
        <p:spPr>
          <a:xfrm>
            <a:off x="6172200" y="24048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253288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fuerte y continua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17920" y="3017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autenticación adaptativa y re-verificación periódica o basada en riesgo de la transacción.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37083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49884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por sesión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a cada recurso se concede de forma explícita y por sesión, nunca de forma implícita o permanente.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43600" y="411480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/>
        </p:spPr>
      </p:sp>
      <p:sp>
        <p:nvSpPr>
          <p:cNvPr id="21" name="Shape 16"/>
          <p:cNvSpPr/>
          <p:nvPr/>
        </p:nvSpPr>
        <p:spPr>
          <a:xfrm>
            <a:off x="6172200" y="437083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icons/shield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4498848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asume la brecha (“assume breach”)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21792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parte de que la red ya está comprometida, moviendo el perímetro hacia cada recurso protegido.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boundaries y actores de amenaza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enfoque orientado a activos: primero se identifica qué proteger, luego dónde cambia el nivel de confianza y quién podría atacar.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CE9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confiable)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CFEAE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78240" y="20116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(máxima protección)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1783080"/>
            <a:ext cx="0" cy="1371600"/>
          </a:xfrm>
          <a:prstGeom prst="line">
            <a:avLst/>
          </a:prstGeom>
          <a:noFill/>
          <a:ln w="22225">
            <a:solidFill>
              <a:srgbClr val="E4572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51460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confianza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78040" y="1783080"/>
            <a:ext cx="0" cy="1371600"/>
          </a:xfrm>
          <a:prstGeom prst="line">
            <a:avLst/>
          </a:prstGeom>
          <a:noFill/>
          <a:ln w="22225">
            <a:solidFill>
              <a:srgbClr val="E4572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62940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confianza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34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donde cambia el nivel de confianza (Internet → App, App → Datos) es una frontera de confianza: allí deben concentrarse los controles de validación y autenticación.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actores de amenaza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484632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Cibercriminales, hacktivistas, APT patrocinados por estados.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4343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74720" y="484632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o contratistas malintencionados o negligentes.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343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63640" y="484632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Proveedores, integraciones y cadenas de suministro comprometidas.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15400" y="4343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52560" y="484632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Bots, malware y explotación masiva y oportunista de configuraciones.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Modeling: la metodología STRIDE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modelado de amenazas identifica, evalúa y prioriza riesgos durante la fase de diseño. Microsoft desarrolló STRIDE como taxonomía para estructurar ese análisis.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 de identidad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86584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386584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78024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96312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Alteración no autorizada de datos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24528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315968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34256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haber ejecutado una acción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62472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F3138"/>
          </a:solidFill>
          <a:ln/>
        </p:spPr>
      </p:sp>
      <p:sp>
        <p:nvSpPr>
          <p:cNvPr id="18" name="Text 16"/>
          <p:cNvSpPr/>
          <p:nvPr/>
        </p:nvSpPr>
        <p:spPr>
          <a:xfrm>
            <a:off x="6062472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153912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sensibles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00416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7900416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991856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10144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 la disponibilidad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38360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E3C44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829800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48088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mayor acceso del autorizado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general: definir alcance del sistema → diagramar componentes y fronteras de confianza → aplicar STRIDE a cada elemento → priorizar con una matriz de impacto × probabilidad.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aplicado: pasarela de pagos (ejemplo)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 = Impacto (1–5) × Probabilidad (1–5). Prioriza qué amenazas mitigar primero en el diseño.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34086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0" y="1691640"/>
            <a:ext cx="462686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691640"/>
            <a:ext cx="4626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amenaza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1691640"/>
            <a:ext cx="124358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69164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9680" y="1691640"/>
            <a:ext cx="124358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0" y="169164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149840" y="1691640"/>
            <a:ext cx="124358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0" y="169164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2340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94560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2194560"/>
            <a:ext cx="4626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194560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Secuestro de token vía phishing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2194560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19456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69680" y="2194560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19456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49840" y="2194560"/>
            <a:ext cx="1243584" cy="521208"/>
          </a:xfrm>
          <a:prstGeom prst="rect">
            <a:avLst/>
          </a:prstGeom>
          <a:solidFill>
            <a:srgbClr val="E4572E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0" y="219456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761488"/>
            <a:ext cx="2340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61488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2761488"/>
            <a:ext cx="4626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761488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 de solicitudes API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2761488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761488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69680" y="2761488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2761488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149840" y="2761488"/>
            <a:ext cx="1243584" cy="521208"/>
          </a:xfrm>
          <a:prstGeom prst="rect">
            <a:avLst/>
          </a:prstGeom>
          <a:solidFill>
            <a:srgbClr val="F2A65A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0" y="2761488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328416"/>
            <a:ext cx="2340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28416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3328416"/>
            <a:ext cx="4626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328416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niega una transacción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89520" y="3328416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3328416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69680" y="3328416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3328416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149840" y="3328416"/>
            <a:ext cx="1243584" cy="521208"/>
          </a:xfrm>
          <a:prstGeom prst="rect">
            <a:avLst/>
          </a:prstGeom>
          <a:solidFill>
            <a:srgbClr val="02C39A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49840" y="3328416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3895344"/>
            <a:ext cx="2340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895344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Info. Disclosure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0" y="3895344"/>
            <a:ext cx="4626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0" y="3895344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Filtración de datos de pago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589520" y="3895344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3895344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69680" y="3895344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3895344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149840" y="3895344"/>
            <a:ext cx="1243584" cy="521208"/>
          </a:xfrm>
          <a:prstGeom prst="rect">
            <a:avLst/>
          </a:prstGeom>
          <a:solidFill>
            <a:srgbClr val="E4572E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49840" y="3895344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4462272"/>
            <a:ext cx="2340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462272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926080" y="4462272"/>
            <a:ext cx="4626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26080" y="4462272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del rate-limiting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589520" y="4462272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4462272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69680" y="4462272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69680" y="4462272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149840" y="4462272"/>
            <a:ext cx="1243584" cy="521208"/>
          </a:xfrm>
          <a:prstGeom prst="rect">
            <a:avLst/>
          </a:prstGeom>
          <a:solidFill>
            <a:srgbClr val="F2A65A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149840" y="4462272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8640" y="5029200"/>
            <a:ext cx="2340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5029200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Elev. of Privilege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926080" y="5029200"/>
            <a:ext cx="4626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26080" y="5029200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a rol administrador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589520" y="5029200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0" y="502920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69680" y="5029200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69680" y="502920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149840" y="5029200"/>
            <a:ext cx="1243584" cy="521208"/>
          </a:xfrm>
          <a:prstGeom prst="rect">
            <a:avLst/>
          </a:prstGeom>
          <a:solidFill>
            <a:srgbClr val="F2A65A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149840" y="502920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48640" y="57332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Mitigaciones típicas: OAuth 2 + MFA (spoofing) · firmas HMAC (tampering) · logs inmutables (repudiation) · cifrado TLS 1.3 + tokenización (disclosure) · rate limiting + WAF (DoS) · PAM + RBAC/ABAC (elevación).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PRÁCTICA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vista previa del laboratorio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008022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Threat Dragon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código abierto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Diagramación de arquitectura con fronteras de confianza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31012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Aplicación guiada de la taxonomía STRIDE por elemento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8770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Documentación de amenazas, mitigaciones y estado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44398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Formato reutilizable como evidencia de aprendizaje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150876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0B2027"/>
          </a:solidFill>
          <a:ln/>
        </p:spPr>
      </p:sp>
      <p:sp>
        <p:nvSpPr>
          <p:cNvPr id="14" name="Shape 11"/>
          <p:cNvSpPr/>
          <p:nvPr/>
        </p:nvSpPr>
        <p:spPr>
          <a:xfrm>
            <a:off x="6263640" y="1810512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50" y="2008022"/>
            <a:ext cx="427939" cy="42793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 en Azure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315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en grupos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63640" y="2788920"/>
            <a:ext cx="457200" cy="45720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19" name="Image 2" descr="/home/claude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88950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278892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diagrama de responsabilidad compartida del entorno asignado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3749040"/>
            <a:ext cx="457200" cy="45720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22" name="Image 3" descr="/home/claude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8496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374904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amenazas del escenario con OWASP Threat Dragon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63640" y="4709160"/>
            <a:ext cx="457200" cy="45720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25" name="Image 4" descr="/home/claude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480974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03720" y="47091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una Managed Identity funcional integrando 2 componentes cloud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E3C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8132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servicio elegido (IaaS/PaaS/SaaS) es una decisión de riesgo, no solo técnica.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03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44144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responsabilidad compartida debe mapearse explícitamente a activos reales para evitar puntos ciegos.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2044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40156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incorrecta e IAM lideran el ranking de amenazas cloud del CSA en 2024.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8056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36168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Defense in Depth y Zero Trust son principios complementarios, no excluyentes.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5303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/home/claude/icons/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44068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532180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ofrece una taxonomía práctica y repetible para modelar amenazas desde el diseño.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Gobernanza, Riesgo, Cumplimiento y Arquitectura Segura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bibliográficas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obligatoria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Edwards, J. Cloud Security Fundamentals.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complementarias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Thompson, G. Certificate of Cloud Security Knowledge (CCSK v5) Official Study Guide In-Depth Guidance and Practice.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Dotson, C. Practical Cloud Security: A Guide for Secure Design and Deployment, 2nd Edition. O'Reilly Media.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Messier, R. Learning Cloud Security: Cloud Computing and Security Architecture Essentials. O'Reilly Media.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Computing Security: Strategies and Best Practices.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Security Alliance (CSA). Top Threats to Cloud Computing 2024 (Egregious Eleven).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OWASP Foundation. OWASP Threat Dragon Documentation — owasp.org/www-project-threat-dragon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MITRE ATT&amp;CK for Cloud — attack.mitre.org/matrices/enterprise/cloud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2026-08-14T20:46:44Z</dcterms:created>
  <dcterms:modified xsi:type="dcterms:W3CDTF">2026-08-14T20:46:44Z</dcterms:modified>
</cp:coreProperties>
</file>