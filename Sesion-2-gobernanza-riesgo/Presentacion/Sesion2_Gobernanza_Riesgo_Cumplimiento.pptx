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5.png"/><Relationship Id="rId6" Type="http://schemas.openxmlformats.org/officeDocument/2006/relationships/image" Target="../media/image-17-5.png"/><Relationship Id="rId7" Type="http://schemas.openxmlformats.org/officeDocument/2006/relationships/image" Target="../media/image-17-5.png"/><Relationship Id="rId8" Type="http://schemas.openxmlformats.org/officeDocument/2006/relationships/image" Target="../media/image-17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2.png"/><Relationship Id="rId4" Type="http://schemas.openxmlformats.org/officeDocument/2006/relationships/image" Target="../media/image-33-2.png"/><Relationship Id="rId5" Type="http://schemas.openxmlformats.org/officeDocument/2006/relationships/image" Target="../media/image-3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EJÉRCITO NACIONAL · ESCUELA DE COMUNICACIONES MILITARES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Ciberseguridad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332720" y="5029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5620" y="8458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51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Seguridad en la Nube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· Gobernanza, Riesgo, Cumplimiento y Arquitectura Segura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Manuel Alejandro Vargas Rojas · manuelvargasrojas@cedoc.edu.co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teórico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0E3C44">
              <a:alpha val="6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789920" y="4754880"/>
            <a:ext cx="2743200" cy="2743200"/>
          </a:xfrm>
          <a:prstGeom prst="ellipse">
            <a:avLst/>
          </a:prstGeom>
          <a:solidFill>
            <a:srgbClr val="0F3138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 y agenda de la sesión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estudiante evaluará el cumplimiento normativo y el riesgo de un entorno cloud utilizando marcos de gobernanza (SOC 2, ISO 31000/NIST RMF) y herramientas CSPM.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A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505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907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base, ciclo ISO 31000/NIST RMF y riesgo específico de la nube.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AF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4505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907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gobernanza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1/2/3, foco en SOC 2 Tipo II y su rol frente a los proveedores cloud.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AF9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4505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907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seguro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Guidance, Security by Design y Security by Default.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793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vs. Data Plane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074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planos, superficie de ataque e implicaciones de arquitectura.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41148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A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2793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47365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5074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de seguridad continua: Prowler y CloudSploit.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41148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AF9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2793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47365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5074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postura de seguridad con hallazgos priorizados por riesgo.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 de aprendizaje y laboratorio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sesión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ciclo de gestión de riesgos (ISO 31000/NIST RMF) a escenarios cloud.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96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5328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el propósito y alcance de un reporte SOC 2 Tipo II frente a un CSP.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09981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principios de CSA Guidance, Security by Design y Security by Default.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30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6667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Control Plane y Data Plane, y su impacto en la superficie de ataque.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2336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la postura de seguridad de un entorno cloud con herramientas CSPM.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0E3C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0" descr="/home/claude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9717" y="1896237"/>
            <a:ext cx="276606" cy="27660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06640" y="18105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766560" y="2514600"/>
            <a:ext cx="4572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0" y="24871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CSPM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949440" y="2807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 y CloudSploit sobre la suscripción asignada.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66560" y="3429000"/>
            <a:ext cx="4572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6949440" y="34015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gobernanza/riesgo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949440" y="37216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mapeados a marcos CSA (CCM) y priorizados por riesgo.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766560" y="4343400"/>
            <a:ext cx="4572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8"/>
          <p:cNvSpPr/>
          <p:nvPr/>
        </p:nvSpPr>
        <p:spPr>
          <a:xfrm>
            <a:off x="6949440" y="43159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aprendizaje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949440" y="46360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ejecutivo: hallazgos, severidad, tratamiento propuesto.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766560" y="5715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20 % de la nota final del módulo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camino de la especialización en Seguridad en la Nube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2788920"/>
            <a:ext cx="9418320" cy="0"/>
          </a:xfrm>
          <a:prstGeom prst="line">
            <a:avLst/>
          </a:prstGeom>
          <a:noFill/>
          <a:ln w="50800">
            <a:solidFill>
              <a:srgbClr val="CF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788920"/>
            <a:ext cx="2560320" cy="0"/>
          </a:xfrm>
          <a:prstGeom prst="line">
            <a:avLst/>
          </a:prstGeom>
          <a:noFill/>
          <a:ln w="508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377440"/>
            <a:ext cx="822960" cy="822960"/>
          </a:xfrm>
          <a:prstGeom prst="ellipse">
            <a:avLst/>
          </a:prstGeom>
          <a:solidFill>
            <a:srgbClr val="02C39A"/>
          </a:solidFill>
          <a:ln w="31750">
            <a:solidFill>
              <a:srgbClr val="0B20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Gobernanza, Riesgo,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Segura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06440" y="2377440"/>
            <a:ext cx="822960" cy="822960"/>
          </a:xfrm>
          <a:prstGeom prst="ellipse">
            <a:avLst/>
          </a:prstGeom>
          <a:solidFill>
            <a:srgbClr val="CFEAE6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Identidad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Acceso (IAM)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66760" y="2377440"/>
            <a:ext cx="822960" cy="822960"/>
          </a:xfrm>
          <a:prstGeom prst="ellipse">
            <a:avLst/>
          </a:prstGeom>
          <a:solidFill>
            <a:srgbClr val="CFEAE6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0956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Infraestructura, Redes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Acceso Privado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927080" y="2377440"/>
            <a:ext cx="822960" cy="822960"/>
          </a:xfrm>
          <a:prstGeom prst="ellipse">
            <a:avLst/>
          </a:prstGeom>
          <a:solidFill>
            <a:srgbClr val="CFEAE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24128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B2027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conceptual hacia lo técnico-operativo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41324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1 sentó las bases (responsabilidad compartida, amenazas, Zero Trust, threat modeling). La Sesión 2 añade la capa de gobernanza y riesgo que prioriza las decisiones técnicas de las sesiones 3, 4 y 5 — reforzando en cada una los principios transversales de mínimo privilegio, defensa en profundidad y confianza cero.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Resumen de la Sesión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3C44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190423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servicio (IaaS/PaaS/SaaS) elegido es una decisión de riesgo, no solo técnica.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3C44"/>
          </a:solidFill>
          <a:ln/>
        </p:spPr>
      </p:sp>
      <p:sp>
        <p:nvSpPr>
          <p:cNvPr id="9" name="Shape 6"/>
          <p:cNvSpPr/>
          <p:nvPr/>
        </p:nvSpPr>
        <p:spPr>
          <a:xfrm>
            <a:off x="6419088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958" y="190423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7373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responsabilidad compartida debe mapearse a activos reales: datos e identidades siempre son del cliente.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3C44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33558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" y="345871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2918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incorrecta e IAM lideran el ranking de amenazas cloud del CSA (Top Threats 2024).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3154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3C44"/>
          </a:solidFill>
          <a:ln/>
        </p:spPr>
      </p:sp>
      <p:sp>
        <p:nvSpPr>
          <p:cNvPr id="17" name="Shape 12"/>
          <p:cNvSpPr/>
          <p:nvPr/>
        </p:nvSpPr>
        <p:spPr>
          <a:xfrm>
            <a:off x="6419088" y="33558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958" y="3458718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32918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Defense in Depth y Zero Trust son principios complementarios, no excluyentes.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3C44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9103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icons/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" y="501319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8463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(taxonomía) y el enfoque OWASP (proceso + Threat Dragon) se combinan en la práctica de threat modeling.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17920" y="47091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3C44"/>
          </a:solidFill>
          <a:ln/>
        </p:spPr>
      </p:sp>
      <p:sp>
        <p:nvSpPr>
          <p:cNvPr id="25" name="Shape 18"/>
          <p:cNvSpPr/>
          <p:nvPr/>
        </p:nvSpPr>
        <p:spPr>
          <a:xfrm>
            <a:off x="6419088" y="49103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/home/claude/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958" y="5013198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48463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riesgos (ISO 31000/NIST RMF) conecta el threat modeling con la priorización — es el punto de partida de hoy.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Conceptos 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aplicar marcos formales conviene fijar el vocabulario común, ya sembrado en la Sesión 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13262B"/>
          </a:solidFill>
          <a:ln/>
        </p:spPr>
      </p:sp>
      <p:sp>
        <p:nvSpPr>
          <p:cNvPr id="6" name="Shape 4"/>
          <p:cNvSpPr/>
          <p:nvPr/>
        </p:nvSpPr>
        <p:spPr>
          <a:xfrm>
            <a:off x="1540764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782" y="23385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97180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33756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tiene valor: datos, servicios, reputación.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192024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13262B"/>
          </a:solidFill>
          <a:ln/>
        </p:spPr>
      </p:sp>
      <p:sp>
        <p:nvSpPr>
          <p:cNvPr id="11" name="Shape 8"/>
          <p:cNvSpPr/>
          <p:nvPr/>
        </p:nvSpPr>
        <p:spPr>
          <a:xfrm>
            <a:off x="4347972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233857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297180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38728" y="333756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potencial que puede causar daño (actor o accidente).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63056" y="192024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13262B"/>
          </a:solidFill>
          <a:ln/>
        </p:spPr>
      </p:sp>
      <p:sp>
        <p:nvSpPr>
          <p:cNvPr id="16" name="Shape 12"/>
          <p:cNvSpPr/>
          <p:nvPr/>
        </p:nvSpPr>
        <p:spPr>
          <a:xfrm>
            <a:off x="7155180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shield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198" y="233857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297180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45936" y="333756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 explotable de un activo o proceso.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70264" y="192024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13262B"/>
          </a:solidFill>
          <a:ln/>
        </p:spPr>
      </p:sp>
      <p:sp>
        <p:nvSpPr>
          <p:cNvPr id="21" name="Shape 16"/>
          <p:cNvSpPr/>
          <p:nvPr/>
        </p:nvSpPr>
        <p:spPr>
          <a:xfrm>
            <a:off x="9962388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406" y="2338578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07424" y="297180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53144" y="333756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× Impacto: posibilidad de que una amenaza explote una vulnerabilidad.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2976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CE9E3"/>
          </a:solidFill>
          <a:ln/>
        </p:spPr>
      </p:sp>
      <p:sp>
        <p:nvSpPr>
          <p:cNvPr id="26" name="Text 20"/>
          <p:cNvSpPr/>
          <p:nvPr/>
        </p:nvSpPr>
        <p:spPr>
          <a:xfrm>
            <a:off x="822960" y="4434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confundir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Amenaza: la lluvia     ·     Vulnerabilidad: el techo roto     ·     Riesgo: inundación del datacenter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ciclo de gestión de riesgos (ISO 31000 / NIST RMF)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198310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03580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activos y amenazas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496312" y="19659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145" y="198310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65176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97480" y="303580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e impacto, cualitativo o cuantitativo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99432" y="19659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94960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265" y="198310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5488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00600" y="303580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contra el apetito de riesgo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702552" y="19659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498080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385" y="1983105"/>
            <a:ext cx="377190" cy="3771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5800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03720" y="303580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tratamiento adecuado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805672" y="19659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601200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4" descr="/home/claude/icon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5505" y="1983105"/>
            <a:ext cx="377190" cy="37719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5548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96112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006840" y="303580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es dinámico, más aún en la nube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opciones de tratamiento del riesgo: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548640" y="4389120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0E3C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48640" y="4389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2057400" y="4389120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0E3C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057400" y="4389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3566160" y="4389120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0E3C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566160" y="4389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5074920" y="4389120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0E3C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074920" y="4389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E3C44"/>
          </a:solidFill>
          <a:ln/>
        </p:spPr>
      </p:sp>
      <p:sp>
        <p:nvSpPr>
          <p:cNvPr id="43" name="Text 36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1 a 3 son exactamente lo que el threat modeling de la Sesión 1 (STRIDE + OWASP) hace de forma estructurada — ahora los formalizamos con un marco de gestión de riesgos reconocido.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 · EJERCICIO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Matriz de riesgo 5×5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Clasifiquen estos riesgos de un e-commerce en la nube (grupos de 3-4, 5 min). Ubiquen cada uno en la matriz según probabilidad e impacto y definan el tratamiento.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99339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administrador filtradas en un repositorio público.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7706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con imagen base vulnerable en producción.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54787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regional del proveedor de nube.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32511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con permisos excesivos que ya cambió de rol.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52160" y="5029200"/>
            <a:ext cx="740664" cy="740664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5029200"/>
            <a:ext cx="740664" cy="740664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5029200"/>
            <a:ext cx="740664" cy="740664"/>
          </a:xfrm>
          <a:prstGeom prst="rect">
            <a:avLst/>
          </a:prstGeom>
          <a:solidFill>
            <a:srgbClr val="F2A65A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502920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502920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4251960"/>
            <a:ext cx="740664" cy="740664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4251960"/>
            <a:ext cx="740664" cy="740664"/>
          </a:xfrm>
          <a:prstGeom prst="rect">
            <a:avLst/>
          </a:prstGeom>
          <a:solidFill>
            <a:srgbClr val="F2A65A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4251960"/>
            <a:ext cx="740664" cy="740664"/>
          </a:xfrm>
          <a:prstGeom prst="rect">
            <a:avLst/>
          </a:prstGeom>
          <a:solidFill>
            <a:srgbClr val="F2A65A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425196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0" y="425196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3474720"/>
            <a:ext cx="740664" cy="740664"/>
          </a:xfrm>
          <a:prstGeom prst="rect">
            <a:avLst/>
          </a:prstGeom>
          <a:solidFill>
            <a:srgbClr val="F2A65A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3474720"/>
            <a:ext cx="740664" cy="740664"/>
          </a:xfrm>
          <a:prstGeom prst="rect">
            <a:avLst/>
          </a:prstGeom>
          <a:solidFill>
            <a:srgbClr val="F2A65A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347472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347472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0" y="347472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2697480"/>
            <a:ext cx="740664" cy="740664"/>
          </a:xfrm>
          <a:prstGeom prst="rect">
            <a:avLst/>
          </a:prstGeom>
          <a:solidFill>
            <a:srgbClr val="F2A65A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269748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269748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83880" y="269748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269748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0" y="192024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29400" y="192024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06640" y="192024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83880" y="192024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1920240"/>
            <a:ext cx="740664" cy="740664"/>
          </a:xfrm>
          <a:prstGeom prst="rect">
            <a:avLst/>
          </a:prstGeom>
          <a:solidFill>
            <a:srgbClr val="E4572E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5852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→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5780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Discusión: ¿qué tratamiento aplica a cada uno — mitigar, transferir, aceptar o evitar?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Gestión de riesgos en la nube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19625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se comparte, no se transfiere del todo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asume capas de la pila; la responsabilidad final sobre datos e identidades siempre es del cliente.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alert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31" y="196253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060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vectores propios de la nube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3337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 sobre-privilegiadas, APIs expuestas, shadow IT y mala configuración de servicios.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trending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771" y="19625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6060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alimenta las decisiones técnicas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1040" y="3337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modelar primero? ¿Dónde invertir en controles? La priorización sale de aquí.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B2027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 →  formalizar el gobierno de estas decisiones con marcos reconocidos: SOC, CSA Guidance y el modelo de planos de control.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23317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26746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931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42519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Marcos de gobernanza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1 / SOC 2 / SOC 3 · Tipo I vs. Tipo II · CAIQ y STAR Registry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GOBERNANZA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es SOC?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Organization Controls — un estándar de auditoría desarrollado y mantenido por la AICPA (American Institute of Certified Public Accountants), aplicable a proveedores de servicios, incluidos los CSPs.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5008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Controls over Financial Reporting (ICFR). Enfocado en controles financieros, no es el foco de seguridad.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21031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0B202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3774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25008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34290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Controls Relevant to Security, Availability, Processing Integrity, Confidentiality or Privacy. El estándar de referencia para CSPs.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21031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250088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3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4290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alto nivel del SOC 2, de distribución pública. SOC 1 y 2 solo se comparten bajo NDA.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CE9E3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no es una certificación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es un attestation engagement report: el CSP hace una afirmación sobre sus controles, y un auditor externo emite una opinión sobre su diseño (Tipo I) y/o su efectividad operativa (Tipo II).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GOBERNANZA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 2 Tipo I vs. Tipo II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5FA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controles, en un punto en el tiempo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Evalúa si los controles están diseñados adecuadamente para cumplir los criterios documentados.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644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Determina si existen en papel y en políticas — no si funcionan en la práctica.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83133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Duración típica: 1-3 meses.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39826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 dice al cliente: "decimos que tenemos controles".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0B202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operativa, a lo largo del tiempo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Evalúa cómo opera la organización durante varios meses (6-12 meses típicamente).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2644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Requiere evidencia de efectividad: logs, reportes de monitoreo, registros de incidentes y capacitación.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83133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Duración total: 6-12 meses de operación + 1-3 meses de auditoría.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439826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 dice al cliente: "los controles funcionan de verdad, con evidencia".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cliente, el reporte ideal de un CSP es SOC 2 Tipo II — el auditor valida efectividad, no solo diseño. Es exigido de forma estándar a proveedores como Azure, AWS y GCP.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GOBERNANZA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Evaluando proveedores: CAIQ y STAR Registry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pedir el reporte SOC 2 directamente, la CSA ofrece herramientas estandarizadas para comparar la postura de distintos CSPs.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3262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2619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CAIQ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Assessment Initiative Questionnaire — cuestionario basado en la CCM que el CSP responde con sí/no. Es un autoevaluación del proveedor.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3262B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148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icons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397" y="226199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Registry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9224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público de la CSA con respuestas de cientos de CSPs. Nivel 1: autoevaluación. Nivel 2: validación por auditor externo (SOC 2 o ISO 27001 + CCM).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del STAR Registry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11064240" cy="502920"/>
          </a:xfrm>
          <a:prstGeom prst="rect">
            <a:avLst/>
          </a:prstGeom>
          <a:solidFill>
            <a:srgbClr val="028090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4343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331720" y="4343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certifica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806440" y="4343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281160" y="4343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48640" y="484632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5800" y="4846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2331720" y="4846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del CSP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806440" y="4846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CAIQ (respuestas propias)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9281160" y="4846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auditoría externa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85800" y="5349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2331720" y="5349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externo independiente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806440" y="5349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o ISO/IEC 27001 + CCM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9281160" y="5349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2: 1 año · ISO 27001: 3 años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23317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26746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931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42519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Diseño seguro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Guidance v5 · Security by Design · Security by Default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SEGURO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CSA Security Guidance y el Cloud Controls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Cloud Security Alliance (CSA) es la organización de referencia en seguridad cloud. Publica dos herramientas complementarias: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3262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2619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94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Guidance v5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integral de referencia en 12 dominios sobre las áreas críticas de enfoque en cloud computing. Base de la certificación CCSK.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3262B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148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397" y="226199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94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Controls Matrix (CCM)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92240" y="26974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controles específicos (p. ej. DSP-07 "Data Protection by Design and Default", GRC-02 "Risk Management Program") organizados por dominio. Base del CAIQ.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los 12 dominios de CSA Guidance v5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617720"/>
            <a:ext cx="3584448" cy="502920"/>
          </a:xfrm>
          <a:prstGeom prst="roundRect">
            <a:avLst>
              <a:gd name="adj" fmla="val 10909"/>
            </a:avLst>
          </a:prstGeom>
          <a:solidFill>
            <a:srgbClr val="CFEAE6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" y="4617720"/>
            <a:ext cx="3310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Conceptos y arquitecturas cloud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288536" y="4617720"/>
            <a:ext cx="3584448" cy="502920"/>
          </a:xfrm>
          <a:prstGeom prst="roundRect">
            <a:avLst>
              <a:gd name="adj" fmla="val 10909"/>
            </a:avLst>
          </a:prstGeom>
          <a:solidFill>
            <a:srgbClr val="CFEAE6"/>
          </a:solidFill>
          <a:ln/>
        </p:spPr>
      </p:sp>
      <p:sp>
        <p:nvSpPr>
          <p:cNvPr id="19" name="Text 15"/>
          <p:cNvSpPr/>
          <p:nvPr/>
        </p:nvSpPr>
        <p:spPr>
          <a:xfrm>
            <a:off x="4425696" y="4617720"/>
            <a:ext cx="3310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Gobernanza cloud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28432" y="4617720"/>
            <a:ext cx="3584448" cy="502920"/>
          </a:xfrm>
          <a:prstGeom prst="roundRect">
            <a:avLst>
              <a:gd name="adj" fmla="val 10909"/>
            </a:avLst>
          </a:prstGeom>
          <a:solidFill>
            <a:srgbClr val="CFEAE6"/>
          </a:solidFill>
          <a:ln/>
        </p:spPr>
      </p:sp>
      <p:sp>
        <p:nvSpPr>
          <p:cNvPr id="21" name="Text 17"/>
          <p:cNvSpPr/>
          <p:nvPr/>
        </p:nvSpPr>
        <p:spPr>
          <a:xfrm>
            <a:off x="8165592" y="4617720"/>
            <a:ext cx="3310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Riesgo, auditoría y cumplimiento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5257800"/>
            <a:ext cx="3584448" cy="502920"/>
          </a:xfrm>
          <a:prstGeom prst="roundRect">
            <a:avLst>
              <a:gd name="adj" fmla="val 10909"/>
            </a:avLst>
          </a:prstGeom>
          <a:solidFill>
            <a:srgbClr val="CFEAE6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" y="5257800"/>
            <a:ext cx="3310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Plano de gestión y continuidad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288536" y="5257800"/>
            <a:ext cx="3584448" cy="502920"/>
          </a:xfrm>
          <a:prstGeom prst="roundRect">
            <a:avLst>
              <a:gd name="adj" fmla="val 10909"/>
            </a:avLst>
          </a:prstGeom>
          <a:solidFill>
            <a:srgbClr val="CFEAE6"/>
          </a:solidFill>
          <a:ln/>
        </p:spPr>
      </p:sp>
      <p:sp>
        <p:nvSpPr>
          <p:cNvPr id="25" name="Text 21"/>
          <p:cNvSpPr/>
          <p:nvPr/>
        </p:nvSpPr>
        <p:spPr>
          <a:xfrm>
            <a:off x="4425696" y="5257800"/>
            <a:ext cx="3310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Seguridad de infraestructura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028432" y="5257800"/>
            <a:ext cx="3584448" cy="502920"/>
          </a:xfrm>
          <a:prstGeom prst="roundRect">
            <a:avLst>
              <a:gd name="adj" fmla="val 10909"/>
            </a:avLst>
          </a:prstGeom>
          <a:solidFill>
            <a:srgbClr val="CFEAE6"/>
          </a:solidFill>
          <a:ln/>
        </p:spPr>
      </p:sp>
      <p:sp>
        <p:nvSpPr>
          <p:cNvPr id="27" name="Text 23"/>
          <p:cNvSpPr/>
          <p:nvPr/>
        </p:nvSpPr>
        <p:spPr>
          <a:xfrm>
            <a:off x="8165592" y="5257800"/>
            <a:ext cx="3310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Identidad y gestión de accesos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SEGURO · 1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by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seguridad no se agrega, se hornea." La seguridad se integra desde la concepción de un sistema, servicio o proceso — no se añade al final como un parche.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44487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042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desde el inicio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se define en los requisitos, no en la revisión final antes del despliegue.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677" y="244487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23042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del fabricante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46520" y="29718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CISA/NSA/FBI (2023), quien construye el producto asume la carga de seguridad, no el cliente.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251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459371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4531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clases de vulnerabilidad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7240" y="51206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lenguajes, frameworks y patrones que eliminan categorías enteras de fallos por diseño.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4251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480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icons/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677" y="459371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44531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negocio crítica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46520" y="51206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de TI que sostienen la postura de seguridad se tratan y financian como críticos.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SEGURO · 2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by Default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y servicios son resilientes frente a las técnicas de explotación más comunes desde su configuración inicial — sin costo adicional ni pasos extra del usuario.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E3C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por defecto SEGURA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852928"/>
            <a:ext cx="192024" cy="192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habilitado de fábrica en cuentas privilegiadas.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50215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566160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45643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privado por defecto; el acceso público es opt-in explícito.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" y="4215384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279392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16966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obligatorio; HTTP se rechaza sin configuración adicional.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22960" y="4928616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992624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8828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auditoría activos desde el primer despliegue, sin costo extra.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17920" y="21031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E3C44"/>
          </a:solidFill>
          <a:ln/>
        </p:spPr>
      </p:sp>
      <p:sp>
        <p:nvSpPr>
          <p:cNvPr id="20" name="Text 14"/>
          <p:cNvSpPr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por defecto RIESGOSA (evitar)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492240" y="2788920"/>
            <a:ext cx="320040" cy="3200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2" name="Image 4" descr="/home/claude/icons/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852928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494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de almacenamiento públicos por defecto.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92240" y="3502152"/>
            <a:ext cx="320040" cy="3200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5" descr="/home/claude/icons/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566160"/>
            <a:ext cx="192024" cy="1920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345643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administrativas predeterminadas y conocidas.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492240" y="4215384"/>
            <a:ext cx="320040" cy="3200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8" name="Image 6" descr="/home/claude/icons/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4279392"/>
            <a:ext cx="192024" cy="1920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49440" y="416966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de administración abiertos "por si acaso".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6492240" y="4928616"/>
            <a:ext cx="320040" cy="3200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1" name="Image 7" descr="/home/claude/icons/x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4992624"/>
            <a:ext cx="192024" cy="19202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949440" y="48828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debe activar manualmente el cifrado o el logging.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CISA/NSA/FBI y socios internacionales — "Shifting the Balance of Cybersecurity Risk: Principles and Approaches for Security-by-Design and -Default" (2023).</a:t>
            </a:r>
            <a:endParaRPr lang="en-US" sz="950" dirty="0"/>
          </a:p>
        </p:txBody>
      </p:sp>
      <p:sp>
        <p:nvSpPr>
          <p:cNvPr id="34" name="Text 24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SEGURO · 3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by Design vs. Security by Default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complementarios: uno mira el proceso de construcción, el otro el estado inicial del producto entregado.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621792"/>
          </a:xfrm>
          <a:prstGeom prst="rect">
            <a:avLst/>
          </a:prstGeom>
          <a:solidFill>
            <a:srgbClr val="028090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2011680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0" y="2011680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Default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064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3347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80360" y="2633472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construcción del sistema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0" y="2633472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del sistema al momento de la entrega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11064240" cy="621792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5526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0360" y="3255264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consideró la seguridad en cada decisión de arquitectura?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0" y="3255264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usuario está protegido sin hacer nada adicional?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1064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7705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principal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80360" y="3877056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arquitectura / desarrollo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3877056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producto / configuración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11064240" cy="621792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9884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Azure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80360" y="4498848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en vez de credenciales embebidas (Sesión 1)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0" y="4498848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con acceso público deshabilitado de fábrica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64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1206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CCM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80360" y="5120640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DSP-07 · Data Protection by Design and Default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0" y="5120640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IAM-05 · Least Privilege como configuración base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SEGURO · 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teoría al control verificable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CFEAE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Guidance define QUÉ dominios cubrir  →  CCM define controles específicos y verificables  →  Security by Design/Default definen CÓMO se implementan por defecto.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encadenamiento es exactamente lo que evalúa una auditoría de postura (CSPM) en el laboratorio de hoy: cada hallazgo de Prowler o CloudSploit es, en el fondo, la ausencia de un control CCM que debió aplicarse por diseño o por defecto.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13262B"/>
          </a:solidFill>
          <a:ln/>
        </p:spPr>
      </p:sp>
      <p:sp>
        <p:nvSpPr>
          <p:cNvPr id="8" name="Shape 6"/>
          <p:cNvSpPr/>
          <p:nvPr/>
        </p:nvSpPr>
        <p:spPr>
          <a:xfrm>
            <a:off x="1586484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/home/claude/icons/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41925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754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Guidance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5120640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2: Gobernanza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27248" y="4434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55848" y="384048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13262B"/>
          </a:solidFill>
          <a:ln/>
        </p:spPr>
      </p:sp>
      <p:sp>
        <p:nvSpPr>
          <p:cNvPr id="14" name="Shape 11"/>
          <p:cNvSpPr/>
          <p:nvPr/>
        </p:nvSpPr>
        <p:spPr>
          <a:xfrm>
            <a:off x="4393692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/home/claude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419252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3008" y="4754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93008" y="5120640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GRC-02: Risk Mgmt Program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934456" y="4434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163056" y="384048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13262B"/>
          </a:solidFill>
          <a:ln/>
        </p:spPr>
      </p:sp>
      <p:sp>
        <p:nvSpPr>
          <p:cNvPr id="20" name="Shape 16"/>
          <p:cNvSpPr/>
          <p:nvPr/>
        </p:nvSpPr>
        <p:spPr>
          <a:xfrm>
            <a:off x="7200900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/home/claude/icons/lay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419252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0216" y="4754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Design/Default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00216" y="5120640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segura de base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741664" y="4434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970264" y="384048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13262B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08108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4192524"/>
            <a:ext cx="301752" cy="3017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07424" y="4754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(hoy)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107424" y="5120640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control existe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23317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26746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931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42519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 Plane vs. Data Plane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planos y superficie de ataque en la arquitectura cloud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VS. DATA PLANE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Dos planos, dos responsabilidades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servicio cloud puede pensarse como la combinación de dos planos funcionales que deben protegerse de forma distinta.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3262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23385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71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"cómo se administra"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crean, configuran y eliminan los recursos. Incluye APIs de gestión, consola/portal, IAM, políticas y automatización (IaC).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663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Azure Resource Manager, AWS Management Console, API de creación de VMs, políticas de Azure Policy.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3262B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21945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978" y="2338578"/>
            <a:ext cx="352044" cy="3520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17920" y="2971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217920" y="3337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"qué hace el servicio"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ocurre el procesamiento real: lectura/escritura de datos, tráfico de aplicación, cómputo de la carga de trabajo.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92240" y="4663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consultas a una base de datos, peticiones HTTP a una app, lectura de un blob en Storage, tráfico entre VMs.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VS. DATA PLANE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Comparación y superficie de ataque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58368"/>
          </a:xfrm>
          <a:prstGeom prst="rect">
            <a:avLst/>
          </a:prstGeom>
          <a:solidFill>
            <a:srgbClr val="028090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06040" y="14630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78040" y="14630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11064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2140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protege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212140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de crear/modificar/eliminar recursos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78040" y="212140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confidencialidad e integridad de los datos en tránsito y procesamiento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64240" cy="658368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7977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típico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77977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Administradores, pipelines CI/CD, Terraform/Bicep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78040" y="277977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Aplicaciones, usuarios finales, servicios entre sí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11064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381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compromete...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343814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controla TODO el entorno (crea, borra, exfiltra config)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78040" y="343814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accede a los datos de ESE servicio específico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658368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9651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clave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409651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MFA, Just-In-Time access, auditoría de API calls, Azure Policy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409651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tránsito/reposo, NSG, WAF, DLP, tokenización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5488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incidente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475488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de service principal filtrada → control total de la suscripción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475488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de almacenamiento público → fuga de datos de clientes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5504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plane comprometido es sistémicamente más grave: es el "meta-riesgo" que habilita todos los demás.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VS. DATA PLANE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Ejemplos concretos en Azure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1554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69480" y="1554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777240"/>
          </a:xfrm>
          <a:prstGeom prst="rect">
            <a:avLst/>
          </a:prstGeom>
          <a:solidFill>
            <a:srgbClr val="0E3C44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2331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Manager (ARM) — crear la cuenta, definir redundancia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69480" y="2331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Blob/Table/Queue API — leer y escribir objetos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0E3C44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08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31089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— aprovisionar el servidor, escalar tier de cómputo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31089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— consultas, transacciones, procedimientos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777240"/>
          </a:xfrm>
          <a:prstGeom prst="rect">
            <a:avLst/>
          </a:prstGeom>
          <a:solidFill>
            <a:srgbClr val="0E3C44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38862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— crear el vault, definir política de acceso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38862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secretos — GET/SET de claves y secretos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777240"/>
          </a:xfrm>
          <a:prstGeom prst="rect">
            <a:avLst/>
          </a:prstGeom>
          <a:solidFill>
            <a:srgbClr val="0E3C44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663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88920" y="46634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— crear VNet, subredes, NSGs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de red — tráfico real entre recursos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VS. DATA PLANE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 qué esto importa para el resto del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9419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Managed Identity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credenciales embebidas para acceder al data plane sin exponer secretos gestionados por el control plane.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677" y="19419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013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· IAM y RBAC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46520" y="24688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roles de Azure distinguen explícitamente permisos de control plane (Contributor) de permisos de data plane (Storage Blob Data Reader).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40907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502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· Redes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77240" y="46177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protegen el data plane; los NSG y firewalls son controles de red que operan en ambos planos.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677" y="409079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9502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· SecOps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46520" y="46177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logs de control plane (Activity Log) y de data plane (Diagnostic Logs) requieren estrategias de monitoreo diferenciadas.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Cómo se conectan los cuatro bloques de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0E3C44"/>
          </a:solidFill>
          <a:ln/>
        </p:spPr>
      </p:sp>
      <p:sp>
        <p:nvSpPr>
          <p:cNvPr id="5" name="Shape 3"/>
          <p:cNvSpPr/>
          <p:nvPr/>
        </p:nvSpPr>
        <p:spPr>
          <a:xfrm>
            <a:off x="1563624" y="21031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355" y="22368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priorizar (ISO 31000/NIST RMF)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182880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0E3C44"/>
          </a:solidFill>
          <a:ln/>
        </p:spPr>
      </p:sp>
      <p:sp>
        <p:nvSpPr>
          <p:cNvPr id="10" name="Shape 7"/>
          <p:cNvSpPr/>
          <p:nvPr/>
        </p:nvSpPr>
        <p:spPr>
          <a:xfrm>
            <a:off x="4370832" y="21031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icons/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563" y="223685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83464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gobernanza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93008" y="329184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se demuestra el cumplimiento (SOC 2)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182880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0E3C44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8040" y="21031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icons/lay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771" y="223685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83464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seguro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00216" y="329184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se construye por defecto (CSA/Design/Default)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70264" y="182880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0E3C44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5248" y="21031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/home/claude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979" y="22368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283464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vs. Data Plane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07424" y="329184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DÓNDE se aplican los controles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2519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E3C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converge en la auditoría de postura (CSPM)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22960" y="47548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 y CloudSploit verifican, de forma automatizada, si los controles que exige la gobernanza (SOC 2, CCM) están efectivamente implementados por diseño/defecto, en el plano correcto — cerrando el ciclo de gestión de riesgos: identificar → analizar → evaluar.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PRÁCTICA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Cómo se conecta cada tema con el laboratorio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028090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de la teoría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17373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el laboratorio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gestión de riesgos (ISO 31000/NIST RMF)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25146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de hallazgos CSPM por severidad (probabilidad × impacto)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77724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CCM / SOC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2918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check de Prowler mapea a un control CCM (p. ej. IAM-05, DSP-07)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69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 / by Default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40690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típico de CSPM ES la ausencia de una configuración segura por defecto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77724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vs. Data Plane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48463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Prowler/CloudSploit auditan el control plane (config vía ARM) para inferir riesgo del data plane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23317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26746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931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42519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CSPM: Cloud Security Posture Management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herramienta: Prowler y CloudSploit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es CSPM?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Posture Management: una categoría de herramientas que evalúan de forma continua y automatizada la infraestructura cloud contra buenas prácticas y marcos de cumplimiento.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1586484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5008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6324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Descubrimiento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429000"/>
            <a:ext cx="22585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a las APIs del proveedor y enumera todos los recursos: cómputo, storage, IAM, redes.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55848" y="210312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4393692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5008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306324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Verificación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38728" y="3429000"/>
            <a:ext cx="22585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cada recurso contra cientos de checks (CIS, PCI, SOC 2, NIST) usando solo permisos de lectura.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63056" y="210312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720090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250088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306324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Priorización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45936" y="3429000"/>
            <a:ext cx="22585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hallazgos por severidad — igual que la matriz de riesgo 5×5 del bloque 1.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970264" y="210312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08108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25008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07424" y="306324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53144" y="3429000"/>
            <a:ext cx="22585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evidencia exportable (CSV/JSON/HTML) para el informe de gobernanza.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clave: Gartner estima que ~99 % de las fallas de seguridad cloud son responsabilidad del cliente — y la mala configuración es la causa número uno. CSPM ataca directamente ese problema.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Herramientas del laboratorio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0E3C4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8505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multi-cloud (Azure, AWS, GCP, M365, Kubernetes). Mapea hallazgos a CIS, NIST 800-53, SOC 2, PCI-DSS, ISO 27001 y más.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 en Azure: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337560"/>
            <a:ext cx="4846320" cy="2194560"/>
          </a:xfrm>
          <a:prstGeom prst="roundRect">
            <a:avLst>
              <a:gd name="adj" fmla="val 2500"/>
            </a:avLst>
          </a:prstGeom>
          <a:solidFill>
            <a:srgbClr val="13262B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4290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AZURE_CLIENT_ID="..."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AZURE_TENANT_ID="..."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AZURE_CLIENT_SECRET="..."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prowler azure --compliance cis_4.0_azure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prowler azure --list-checks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prowler azure -M csv json html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17920" y="15087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0E3C44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397" y="185051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CloudSploit (Aqua)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9224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(Node.js). Audita Azure/AWS/GCP contra cientos de checks y mapea a CIS, PCI e HIPAA. Requiere un service principal de solo lectura (rol Reader).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492240" y="3063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trabajo: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92240" y="3383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Crear service principal de solo lectura (Reader)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92240" y="3840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git clone + npm install; configurar config.js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492240" y="4297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./index.js --console=table --compliance=cis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92240" y="4754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Exportar: --csv=hallazgos.csv --json=hallazgos.json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Auditoría de postura de seguridad (CSPM)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41848" y="3657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3886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16552" y="4663440"/>
            <a:ext cx="335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52120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 + CloudSploit sobre la suscripción asignada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laboratorio en dos partes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Auditamos la postura de seguridad del entorno cloud construido en sesiones previas, con dos herramientas CSPM complementarias.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3637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31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— Auditoría con Prowler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multi-framework de la suscripción: CIS, NIST, SOC 2. Identificación de checks fallidos por dominio (IAM, almacenamiento, redes).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4480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reporte HTML con hallazgos categorizados por severidad.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5FAF9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23637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331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— Auditoría con CloudSploit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92240" y="28803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pasada con un motor de reglas distinto, para contrastar cobertura y detectar falsos negativos de la primera herramienta.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4480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CSV/JSON exportado y comparado contra Prowler.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Pasos guiados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identidad de solo lectura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34440" y="18470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 / app registration con rol Reader sobre la suscripción — nunca permisos de escritura para una auditoría.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395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escaneo 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 azure --compliance cis_4.0_azure y CloudSploit ./index.js --compliance=cis sobre el mismo entorno.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10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hallazgos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34440" y="36758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por severidad (crítico/alto/medio/bajo) usando la misma lógica de la matriz de riesgo 5×5.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224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a marcos de gobernanza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45902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cada hallazgo relevante a su control CCM y, si aplica, al criterio de Confianza SOC 2 correspondiente.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1389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el informe ejecutivo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4440" y="55046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priorizados + tratamiento propuesto (mitigar/transferir/aceptar/evitar) — la evidencia de aprendizaje de la sesión.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Entregable y criterios de evaluación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E3C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9065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gobernanza/riesgo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945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CSPM (Prowler y CloudSploit) con hallazgos priorizados, mapeados a marcos CSA (CCM), y tratamiento de riesgo propuesto para cada uno.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 evaluado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el cumplimiento normativo y el riesgo de un entorno cloud utilizando marcos de gobernanza y herramientas CSPM.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544568"/>
            <a:ext cx="192024" cy="192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44531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 escaneo (ambas herramientas)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5001768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9103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del mapeo a controles CCM/SOC 2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3949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5458968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53675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la priorización por riesgo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8521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5916168"/>
            <a:ext cx="192024" cy="1920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58247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del tratamiento propuesto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85800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20 % de la nota final del módulo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teoría a la práctica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13232"/>
          </a:xfrm>
          <a:prstGeom prst="rect">
            <a:avLst/>
          </a:prstGeom>
          <a:solidFill>
            <a:srgbClr val="028090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de la teoría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126480" y="1463040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el laboratorio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76272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ISO 31000/NIST RMF (Bloque 1)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2176272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→ Analizar → Evaluar hallazgos CSPM antes de tratar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11064240" cy="713232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9504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y Trust Services Criteria (Bloque 2)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2889504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check verifica un control que respalda una futura auditoría SOC 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02736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CCM (Bloque 3)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26480" y="3602736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explícito hallazgo → control CCM (p. ej. IAM-05, DSP-07)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11064240" cy="713232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15968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Design/Default (Bloque 3)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4315968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hallazgo = una configuración que no nació segura por defecto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2920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vs. Data Plane (Bloque 4)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26480" y="5029200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escaneo audita el control plane para inferir el riesgo del data plane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Resumen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E3C4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973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0002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en la nube se comparte con el proveedor, pero nunca se transfiere del todo — datos e identidades siguen siendo del cliente.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E3C4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8973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20002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6916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Tipo II es el estándar de facto para demostrar que los controles de un CSP no solo existen, sino que funcionan en el tiempo.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E3C44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icons/lay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1889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8803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 y Security by Default son complementarios: uno mira el proceso, el otro el estado inicial del producto.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17920" y="27889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E3C44"/>
          </a:solidFill>
          <a:ln/>
        </p:spPr>
      </p:sp>
      <p:sp>
        <p:nvSpPr>
          <p:cNvPr id="17" name="Shape 12"/>
          <p:cNvSpPr/>
          <p:nvPr/>
        </p:nvSpPr>
        <p:spPr>
          <a:xfrm>
            <a:off x="6400800" y="30861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318897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28803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y Data Plane requieren controles distintos — comprometer el primero es sistémicamente más grave.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0E3C44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42748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437769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40690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(Prowler/CloudSploit) es donde convergen los cuatro bloques: verifica de forma automatizada si la gobernanza se cumple en la práctica.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Seguridad de Datos e Identidad y Acceso (IAM)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 SESIÓN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viene: Datos e Identidad y Acceso (IAM)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gobernanza y el riesgo de hoy definen las reglas; la Sesión 3 las implementa a nivel de identidad y datos.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232829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ABAC, MFA, Federation, SAML, OAuth 2.0, OIDC, JWT — el control plane de identidades en detalle.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9202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31" y="232829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3429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tránsito/reposo, KMS, Secrets Management, Key Rotation — el control técnico del data plane.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9202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771" y="232829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DLP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21040" y="3429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Classification, Tokenización, DLP — aplicando en la práctica el "Data Protection by Design" de hoy.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conductor: el riesgo identificado hoy sobre identidades sobre-privilegiadas se resuelve técnicamente con RBAC/ABAC en la Sesión 3.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Referencias bibliográficas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obligatorias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Edwards, J. Cloud Security Fundamentals.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Thompson, G. Certificate of Cloud Security Knowledge (CCSK v5) Official Study Guide.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complementarias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Messier, R. Learning Cloud Security: Cloud Computing and Security Architecture Essentials.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107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Dotson, C. Practical Cloud Security: A Guide for Secure Design and Deployment.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5818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Security Alliance. Top Threats to Cloud Computing 2024.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0565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Security Alliance. Security Guidance for Critical Areas of Focus in Cloud Computing v5.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531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CISA/NSA/FBI et al. Shifting the Balance of Cybersecurity Risk: Security-by-Design and -Default (2023).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documentación técnica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Prowler — github.com/prowler-cloud/prowler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54589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CloudSploit (Aqua) — github.com/aquasecurity/cloudsploit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75157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CSA STAR Registry — cloudsecurityalliance.org/star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 · manuelvargasrojas@cedoc.edu.co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656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656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2026-08-15T00:04:29Z</dcterms:created>
  <dcterms:modified xsi:type="dcterms:W3CDTF">2026-08-15T00:04:29Z</dcterms:modified>
</cp:coreProperties>
</file>