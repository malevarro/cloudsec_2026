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image" Target="../media/image-23-1.png"/><Relationship Id="rId5" Type="http://schemas.openxmlformats.org/officeDocument/2006/relationships/image" Target="../media/image-23-1.png"/><Relationship Id="rId6" Type="http://schemas.openxmlformats.org/officeDocument/2006/relationships/image" Target="../media/image-23-6.png"/><Relationship Id="rId7" Type="http://schemas.openxmlformats.org/officeDocument/2006/relationships/image" Target="../media/image-23-6.png"/><Relationship Id="rId8" Type="http://schemas.openxmlformats.org/officeDocument/2006/relationships/image" Target="../media/image-23-6.png"/><Relationship Id="rId9" Type="http://schemas.openxmlformats.org/officeDocument/2006/relationships/image" Target="../media/image-23-6.png"/><Relationship Id="rId10" Type="http://schemas.openxmlformats.org/officeDocument/2006/relationships/image" Target="../media/image-23-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2.png"/><Relationship Id="rId4" Type="http://schemas.openxmlformats.org/officeDocument/2006/relationships/image" Target="../media/image-31-2.png"/><Relationship Id="rId5" Type="http://schemas.openxmlformats.org/officeDocument/2006/relationships/image" Target="../media/image-3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1.png"/><Relationship Id="rId3" Type="http://schemas.openxmlformats.org/officeDocument/2006/relationships/image" Target="../media/image-33-1.png"/><Relationship Id="rId4" Type="http://schemas.openxmlformats.org/officeDocument/2006/relationships/image" Target="../media/image-33-1.png"/><Relationship Id="rId5" Type="http://schemas.openxmlformats.org/officeDocument/2006/relationships/image" Target="../media/image-33-1.png"/><Relationship Id="rId6" Type="http://schemas.openxmlformats.org/officeDocument/2006/relationships/image" Target="../media/image-33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EJÉRCITO NACIONAL · ESCUELA DE COMUNICACIONES MILITARES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Ciberseguridad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77272" y="50292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0" y="681228"/>
            <a:ext cx="1014984" cy="1014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51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Seguridad en la Nube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 · Seguridad de Datos e Identidad y Acceso (IAM)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Manuel Alejandro Vargas Rojas · manuelvargasrojas@cedoc.edu.co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teórico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y agenda de la sesión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estudiante configurará mecanismos de identidad, acceso y protección de datos en la nube (IAM, federación, cifrado).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12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5694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 — fundamentos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99008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RBAC, ABAC, PBAC, MFA.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9" name="Text 7"/>
          <p:cNvSpPr/>
          <p:nvPr/>
        </p:nvSpPr>
        <p:spPr>
          <a:xfrm>
            <a:off x="4361688" y="2112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61688" y="25694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y protocolos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1688" y="299008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Federation, SAML, OAuth 2.0, OIDC, JWT.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196596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13" name="Text 11"/>
          <p:cNvSpPr/>
          <p:nvPr/>
        </p:nvSpPr>
        <p:spPr>
          <a:xfrm>
            <a:off x="7973568" y="21122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73568" y="2569464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73568" y="2990088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Cifrado, KMS, HSM, gestión de llaves, secretos.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8770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9808" y="4334256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47548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Classification, Tokenización, DLP en la nube.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3730752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21" name="Text 19"/>
          <p:cNvSpPr/>
          <p:nvPr/>
        </p:nvSpPr>
        <p:spPr>
          <a:xfrm>
            <a:off x="4361688" y="38770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61688" y="4334256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61688" y="47548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Entra ID, RBAC, Key Vault, SAML y OIDC.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3730752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5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7973568" y="387705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73568" y="4334256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73568" y="475488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IAM e integración de federación de identidad.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 de aprendizaje y laboratorio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sesión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8288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y aplicar IAM, RBAC, ABAC y PBAC en el diseño de permisos cloud.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87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MFA y explicar el rol de la federación de identidades entre organizaciones.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9125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1455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flujos de SAML 2.0, OAuth 2.0 y OIDC, y la estructura de un JWT.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80390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cifrado en tránsito/reposo y describir la jerarquía KMS–HSM–DEK/KEK.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079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44622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datos y aplicar tokenización y DLP como controles complementarios al cifrado.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23760" y="1417320"/>
            <a:ext cx="4434840" cy="3840480"/>
          </a:xfrm>
          <a:prstGeom prst="roundRect">
            <a:avLst>
              <a:gd name="adj" fmla="val 2381"/>
            </a:avLst>
          </a:prstGeom>
          <a:solidFill>
            <a:srgbClr val="0E3C4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1645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GUIADO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0384" y="2155424"/>
            <a:ext cx="297729" cy="29772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208483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IAM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46720" y="235915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ID, RBAC y Key Vault configurados.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98080" y="297180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7" name="Image 1" descr="/home/claude/work/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384" y="3024104"/>
            <a:ext cx="297729" cy="297729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046720" y="29535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SAML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8046720" y="322783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sptest.iamshowcase.com.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7498080" y="384048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2" descr="/home/claude/work/build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384" y="3892784"/>
            <a:ext cx="297729" cy="297729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04672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OIDC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046720" y="40965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ms-identity-python-webapp.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7498080" y="4892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CURSO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camino de la especialización en Seguridad en la Nube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2468880"/>
            <a:ext cx="10454335" cy="0"/>
          </a:xfrm>
          <a:prstGeom prst="line">
            <a:avLst/>
          </a:prstGeom>
          <a:noFill/>
          <a:ln w="25400">
            <a:solidFill>
              <a:srgbClr val="CF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F5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62224" y="2148840"/>
            <a:ext cx="640080" cy="640080"/>
          </a:xfrm>
          <a:prstGeom prst="ellipse">
            <a:avLst/>
          </a:prstGeom>
          <a:solidFill>
            <a:srgbClr val="F5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2224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36444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Gobernanza, Riesgo,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Segura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75808" y="214884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75808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0028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 Identidad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(IAM)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250028" y="181965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89391" y="2148840"/>
            <a:ext cx="640080" cy="640080"/>
          </a:xfrm>
          <a:prstGeom prst="ellipse">
            <a:avLst/>
          </a:prstGeom>
          <a:solidFill>
            <a:srgbClr val="F5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9391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863611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Infraestructura, Redes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Acceso Privado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002975" y="2148840"/>
            <a:ext cx="640080" cy="640080"/>
          </a:xfrm>
          <a:prstGeom prst="ellipse">
            <a:avLst/>
          </a:prstGeom>
          <a:solidFill>
            <a:srgbClr val="F5FAF9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2975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42855" y="2926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94415" cy="1554480"/>
          </a:xfrm>
          <a:prstGeom prst="roundRect">
            <a:avLst>
              <a:gd name="adj" fmla="val 5294"/>
            </a:avLst>
          </a:prstGeom>
          <a:solidFill>
            <a:srgbClr val="0B2027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6344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gobernanza a la implementación técnica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2 formalizó cómo se gobierna y audita el riesgo (SOC 2, CCM, CSPM). La Sesión 3 baja ese gobierno a los dos activos que, según el modelo de responsabilidad compartida, siempre son del cliente: identidades y datos — aplicando el mínimo privilegio y el "Data Protection by Design" vistos en la Sesión 2.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63220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214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compartido, no transferido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proveedor asume capas de la pila; datos e identidades siguen siendo del cliente.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13834" y="137160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15002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38" y="163220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5002" y="21214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Tipo II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15002" y="246888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de facto para demostrar que los controles de un CSP funcionan en el tiempo, no solo existen.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79029" y="137160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80197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633" y="163220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0197" y="212140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/ Default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80197" y="246888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Complementarios: uno mira el proceso de construcción, el otro el estado inicial del producto.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24612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work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50672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9592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vs. Data Plane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controles distintos — comprometer el control plane es sistémicamente más grave.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13834" y="324612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25" name="Shape 19"/>
          <p:cNvSpPr/>
          <p:nvPr/>
        </p:nvSpPr>
        <p:spPr>
          <a:xfrm>
            <a:off x="4515002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work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4438" y="350672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15002" y="399592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CSPM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15002" y="434340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Prowler/CloudSploit verifican de forma automatizada si la gobernanza definida se cumple en la práctica.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79029" y="3246120"/>
            <a:ext cx="3564026" cy="1691640"/>
          </a:xfrm>
          <a:prstGeom prst="roundRect">
            <a:avLst>
              <a:gd name="adj" fmla="val 4865"/>
            </a:avLst>
          </a:prstGeom>
          <a:solidFill>
            <a:srgbClr val="F5FAF9"/>
          </a:solidFill>
          <a:ln/>
        </p:spPr>
      </p:sp>
      <p:sp>
        <p:nvSpPr>
          <p:cNvPr id="30" name="Shape 23"/>
          <p:cNvSpPr/>
          <p:nvPr/>
        </p:nvSpPr>
        <p:spPr>
          <a:xfrm>
            <a:off x="8280197" y="344728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work/build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633" y="350672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80197" y="399592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hilo conductor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80197" y="4343400"/>
            <a:ext cx="316169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identidades sobre-privilegiadas identificadas como riesgo en la Sesión 2 se resuelven hoy con RBAC/ABAC.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¿Qué es IAM?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es el control plane de identidades: el mecanismo que decide quién entra y qué puede hacer una vez dentro.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usuario, servicio o carga de trabajo recibe una identidad única y verificable en el directorio (p. ej. Entra ID).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comprueba que la identidad es quien dice ser: contraseña, MFA, certificado o identidad federada.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qué puede hacer esa identidad ya autenticada, sobre qué recursos y bajo qué condiciones.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decisión de acceso queda registrada — es la base de la auditoría y del threat hunting de la Sesión 5.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RBAC, ABAC y PBAC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modelos no son excluyentes: PBAC formaliza y versiona lo que RBAC y ABAC deciden por separado.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22860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decide el acceso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típico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el rol que la persona cumple en la organización (developer, admin, sales).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"Contributor" en un grupo de recursos de Azure.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atributos del usuario o de la conexión: MFA realizado, IP, etiqueta del recurso.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puede borrar VMs si el recurso tiene el tag environment=development.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PBAC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 RBAC + ABAC en una política única, legible por máquina (JSON/XML).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IaC versionada que evalúa rol + IP + MFA antes de autorizar.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5137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de hoy aplica RBAC con alcance mínimo sobre Entra ID y Key Vault.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MFA — Multi-Factor Authentication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habilitado de fábrica en cuentas privilegiadas fue el ejemplo de Security by Default de la Sesión 2.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sabes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o PIN. El factor más débil y más atacado (phishing, credential stuffing).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tienes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autenticadora, token físico o llave FIDO2 — resistente a phishing cuando usa criptografía de clave pública.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eres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Biometría: huella, rostro. Suele combinarse con el dispositivo del usuario.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condicional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adaptativo: exige el segundo factor solo si el riesgo del inicio de sesión lo amerita.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 · EJERCICIO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Diseño de una matriz de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 de 3-4, definan qué modelo (RBAC, ABAC o PBAC) aplicarían a cada escenario y qué rol/atributo mínimo requiere.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8288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1305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necesita reiniciar VMs solo del entorno de desarrollo.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5420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8437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de CI/CD necesita leer secretos de Key Vault sin intervención humana.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25526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5570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analista de finanzas necesita leer, pero no modificar, un contenedor de Storage.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96849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4270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administrador necesita eliminar recursos únicamente si aprobó MFA en los últimos 10 minutos.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Federación de identidades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federación evita que cada aplicación tenga que gestionar credenciales propias — reduce superficie de ataque.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 (IdP)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que autentica al usuario y emite una prueba de identidad (Entra ID, Google, Okta).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(SP)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que confía en esa prueba para conceder acceso, sin gestionar su propia base de contraseñas.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confianza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y SP intercambian metadatos y certificados por adelantado; todo el flujo depende de esa confianza previa.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central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real: una sola identidad y un solo MFA sirven para decenas de aplicaciones distintas.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SAML 2.0 — flujo de autenticación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Assertion Markup Language: estándar basado en XML, típico en SSO empresarial (aplicaciones internas, SaaS corporativo).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6489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build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590" y="19482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06040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3008376"/>
            <a:ext cx="185312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intenta acceder a la aplicación (Service Provider).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2548067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538637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build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337" y="19482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68107" y="2606040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Redirección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895539" y="3008376"/>
            <a:ext cx="185312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 redirige al usuario hacia el IdP configurado.</a:t>
            </a:r>
            <a:endParaRPr lang="en-US" sz="970" dirty="0"/>
          </a:p>
        </p:txBody>
      </p:sp>
      <p:sp>
        <p:nvSpPr>
          <p:cNvPr id="14" name="Text 10"/>
          <p:cNvSpPr/>
          <p:nvPr/>
        </p:nvSpPr>
        <p:spPr>
          <a:xfrm>
            <a:off x="4821814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812384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build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084" y="194822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1854" y="2606040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Autenticación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169286" y="3008376"/>
            <a:ext cx="185312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se autentica ante el IdP (incluye MFA).</a:t>
            </a:r>
            <a:endParaRPr lang="en-US" sz="970" dirty="0"/>
          </a:p>
        </p:txBody>
      </p:sp>
      <p:sp>
        <p:nvSpPr>
          <p:cNvPr id="19" name="Text 14"/>
          <p:cNvSpPr/>
          <p:nvPr/>
        </p:nvSpPr>
        <p:spPr>
          <a:xfrm>
            <a:off x="7095561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086131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work/build/icons/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831" y="194822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5601" y="2606040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Aserción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43033" y="3008376"/>
            <a:ext cx="185312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IdP firma y envía una aserción SAML (XML) al SP.</a:t>
            </a:r>
            <a:endParaRPr lang="en-US" sz="970" dirty="0"/>
          </a:p>
        </p:txBody>
      </p:sp>
      <p:sp>
        <p:nvSpPr>
          <p:cNvPr id="24" name="Text 18"/>
          <p:cNvSpPr/>
          <p:nvPr/>
        </p:nvSpPr>
        <p:spPr>
          <a:xfrm>
            <a:off x="9369308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10359878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work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3578" y="1948221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89348" y="2606040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Acceso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9716780" y="3008376"/>
            <a:ext cx="1853123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 valida la firma y concede la sesión.</a:t>
            </a:r>
            <a:endParaRPr lang="en-US" sz="970" dirty="0"/>
          </a:p>
        </p:txBody>
      </p:sp>
      <p:sp>
        <p:nvSpPr>
          <p:cNvPr id="29" name="Shape 22"/>
          <p:cNvSpPr/>
          <p:nvPr/>
        </p:nvSpPr>
        <p:spPr>
          <a:xfrm>
            <a:off x="548640" y="425196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F5FAF9"/>
          </a:solidFill>
          <a:ln/>
        </p:spPr>
      </p:sp>
      <p:sp>
        <p:nvSpPr>
          <p:cNvPr id="30" name="Text 23"/>
          <p:cNvSpPr/>
          <p:nvPr/>
        </p:nvSpPr>
        <p:spPr>
          <a:xfrm>
            <a:off x="749808" y="4251960"/>
            <a:ext cx="10692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hoy: integración SAML real contra sptest.iamshowcase.com, un Service Provider de pruebas.</a:t>
            </a:r>
            <a:endParaRPr lang="en-US" sz="1080" dirty="0"/>
          </a:p>
        </p:txBody>
      </p:sp>
      <p:sp>
        <p:nvSpPr>
          <p:cNvPr id="31" name="Text 2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OAuth 2.0 — roles del protocolo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es un protocolo de autorización, no de autenticación: delega acceso a recursos sin compartir contraseñas.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Owner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dueño de los datos, quien autoriza el acceso.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smart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que solicita acceso a un recurso en nombre del usuario.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Server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tokens de acceso tras validar la identidad y el consentimiento.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Server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que aloja el recurso protegido y valida el token en cada llamada.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OAuth 2.0 — grant types principales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Implicit Grant, usado en versiones antiguas de SPA, está desaconsejado en OAuth 2.1 — Authorization Code + PKCE lo reemplaza.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219456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Consideración de seguridad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 Code + PKCE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web, móviles y SPA con usuario presente.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PKCE es obligatorio en apps públicas: evita interceptación del código de autorización.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Credentials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 servicio a servicio, sin usuario (p. ej. un pipeline).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client secret debe vivir en Key Vault/Secrets Manager, nunca en el código.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Renovar el acceso sin re-autenticar al usuario.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Debe rotar y tener expiración; su robo equivale a robar la sesión completa.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OpenID Connect (OIDC)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SAML es el estándar de SSO empresarial clásico, OIDC es su equivalente para aplicaciones cloud-native modernas.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identidad sobre OAuth 2.0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añade autenticación a un protocolo que originalmente solo autorizaba acceso a recursos.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Token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 firmado que prueba quién es el usuario — distinto del access token, que autoriza llamadas a la API.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UserInfo endpoint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estándar para obtener atributos adicionales del usuario (nombre, correo, claims).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típico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para aplicaciones modernas (SPA, móviles, APIs) — el reemplazo natural de SAML en arquitecturas cloud-native.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3950208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CE9E3"/>
          </a:solidFill>
          <a:ln/>
        </p:spPr>
      </p:sp>
      <p:sp>
        <p:nvSpPr>
          <p:cNvPr id="26" name="Text 20"/>
          <p:cNvSpPr/>
          <p:nvPr/>
        </p:nvSpPr>
        <p:spPr>
          <a:xfrm>
            <a:off x="731520" y="395020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 hoy: integración OIDC real con ms-identity-python-webapp.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Web Token (JWT)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formato de token que transportan tanto OIDC (ID Token) como muchas implementaciones de OAuth 2.0 (access token).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firma y tipo de token.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22402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114800" y="18288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0B2027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4505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quién es, quién lo emitió, cuándo expira.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240280"/>
            <a:ext cx="182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680960" y="1828800"/>
            <a:ext cx="3383280" cy="1737360"/>
          </a:xfrm>
          <a:prstGeom prst="roundRect">
            <a:avLst>
              <a:gd name="adj" fmla="val 4737"/>
            </a:avLst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2450592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criptográfica que garantiza integridad.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11094415" cy="1143000"/>
          </a:xfrm>
          <a:prstGeom prst="roundRect">
            <a:avLst>
              <a:gd name="adj" fmla="val 7200"/>
            </a:avLst>
          </a:prstGeom>
          <a:solidFill>
            <a:srgbClr val="F5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06372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JWT no está cifrado por defecto — solo firmado. Cualquiera puede leer su payload (Base64), pero no puede alterarlo sin invalidar la firma. Nunca se debe colocar información sensible (contraseñas, secretos) directamente en el payload.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· PROTOCOLO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Síntesis — SAML vs. OAuth 2.0 / OIDC vs. JWT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219456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 2.0 / OIDC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 de SSO federado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Autorización (+ OIDC: autenticación)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de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XML firmado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+ tokens (a menudo JWT)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codificado y firmado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típico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empresarial, apps 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APIs, SPA, apps móviles, cloud-native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Transportar claims entre servicios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el lab de hoy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sptest.iamshowcase.com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ms-identity-python-webapp (OIDC)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Token / access token emitidos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398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 entre sí: OIDC usa JWT como formato de token, y muchas organizaciones corren SAML y OIDC en paralelo según la app.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Cifrado en tránsito vs. en reposo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activo de datos pasa por dos estados que requieren controles de cifrado distintos.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227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tránsito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los datos mientras viajan por la red.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22960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obligatorio; HTTP se rechaza sin configuración adicional.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22960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/ ExpressRoute con cifrado para conexiones híbridas.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22960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típico: tráfico interceptado sin TLS entre servicios.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255868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0188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/home/claude/work/build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67" y="212278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0268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reposo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30188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731356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los datos almacenados en disco, base de datos u objeto.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530188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731356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por defecto en la mayoría de servicios cloud modernos.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530188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731356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de cifrado se gestiona por separado del dato — vía KMS.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530188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6731356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típico: bucket público con datos cifrados, mal configurado.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548640" y="590702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son necesarios: cifrar solo uno de los dos estados deja una ventana de exposición completa.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Cifrado simétrico vs. asimétrico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del modelo de cifrado determina cómo se distribuyen y escalan las llaves.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227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llave para cifrar y descifrar.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22960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eficiente para grandes volúmenes de datos.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22960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distribuir la llave de forma segura ("explosión de llaves").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22960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AES-256 para cifrar datos en reposo.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255868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0188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/home/claude/work/build/icons/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67" y="212278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0268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Asimétrico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30188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731356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llaves: pública (se comparte) y privada (se protege).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530188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731356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el problema de distribución de llaves a gran escala.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530188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731356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costoso computacionalmente — no cifra grandes volúmenes.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530188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6731356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TLS handshake al visitar un sitio HTTPS.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548640" y="590702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 se combinan: TLS usa cifrado asimétrico solo para intercambiar una llave de sesión simétrica.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KMS y HSM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KMS es, en la práctica, la implementación técnica del "Data Protection by Design" que la Sesión 2 mencionó como control CCM DSP-07.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Service (KMS)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por el CSP para generar, almacenar, rotar y revocar llaves criptográficas — todo el ciclo de vida en un solo lugar.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Security Module (HSM)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físico resistente a manipulación (FIPS 140-3) donde la llave se genera y nunca sale en texto plano.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vs. llave del proveedor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Customer-Managed Key da control granular y auditoría; la llave del proveedor simplifica operación por defecto.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uso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(cifrar, descifrar, rotar) debe quedar registrada — insumo directo del SIEM de la Sesión 5.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HSM vs. KMS — ¿dónde vive realmente la llave?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alternativas — la mayoría de los KMS gestionados por el CSP (como Azure Key Vault) usan un HSM por debajo para proteger la llave raíz.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227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 (Hardware Security Module)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físico dedicado, certificado FIPS 140-2/3.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822960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llave se genera y permanece dentro del hardware — nunca sale en texto plano.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22960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1024128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aislamiento y control; requerido en sectores muy regulados.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22960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costo y complejidad operativa (p. ej. Azure Dedicated HSM).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255868" y="1783080"/>
            <a:ext cx="5387188" cy="3977640"/>
          </a:xfrm>
          <a:prstGeom prst="roundRect">
            <a:avLst>
              <a:gd name="adj" fmla="val 2069"/>
            </a:avLst>
          </a:prstGeom>
          <a:solidFill>
            <a:srgbClr val="0B20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0188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1" descr="/home/claude/work/build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567" y="212278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170268" y="20574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(Key Management Service)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530188" y="285292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18"/>
          <p:cNvSpPr/>
          <p:nvPr/>
        </p:nvSpPr>
        <p:spPr>
          <a:xfrm>
            <a:off x="6731356" y="2743200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gestionado por el CSP: generación, rotación, revocación y políticas de acceso.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530188" y="341985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0"/>
          <p:cNvSpPr/>
          <p:nvPr/>
        </p:nvSpPr>
        <p:spPr>
          <a:xfrm>
            <a:off x="6731356" y="3310128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apoyarse en un HSM multi-tenant por debajo, sin exponer el hardware al cliente.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6530188" y="398678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2"/>
          <p:cNvSpPr/>
          <p:nvPr/>
        </p:nvSpPr>
        <p:spPr>
          <a:xfrm>
            <a:off x="6731356" y="3877056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IAM, logging y los demás servicios cloud.</a:t>
            </a:r>
            <a:endParaRPr lang="en-US" sz="1080" dirty="0"/>
          </a:p>
        </p:txBody>
      </p:sp>
      <p:sp>
        <p:nvSpPr>
          <p:cNvPr id="27" name="Shape 23"/>
          <p:cNvSpPr/>
          <p:nvPr/>
        </p:nvSpPr>
        <p:spPr>
          <a:xfrm>
            <a:off x="6530188" y="455371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4"/>
          <p:cNvSpPr/>
          <p:nvPr/>
        </p:nvSpPr>
        <p:spPr>
          <a:xfrm>
            <a:off x="6731356" y="4443984"/>
            <a:ext cx="46373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Azure Key Vault (Standard = software; Premium = respaldado por HSM).</a:t>
            </a:r>
            <a:endParaRPr lang="en-US" sz="1080" dirty="0"/>
          </a:p>
        </p:txBody>
      </p:sp>
      <p:sp>
        <p:nvSpPr>
          <p:cNvPr id="29" name="Text 25"/>
          <p:cNvSpPr/>
          <p:nvPr/>
        </p:nvSpPr>
        <p:spPr>
          <a:xfrm>
            <a:off x="548640" y="590702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Key Vault en capa Premium ofrece el equilibrio típico del laboratorio: experiencia de KMS con garantías de HSM, sin operar hardware propio.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Envelope encryption — jerarquía de llaves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estándar de KMS para no sobrecargar el servicio con millones de llaves individuales.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549108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809" y="194822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06040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1792" y="3008376"/>
            <a:ext cx="242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una Data Encryption Key de corto uso para cifrar el dato.</a:t>
            </a:r>
            <a:endParaRPr lang="en-US" sz="970" dirty="0"/>
          </a:p>
        </p:txBody>
      </p:sp>
      <p:sp>
        <p:nvSpPr>
          <p:cNvPr id="9" name="Text 6"/>
          <p:cNvSpPr/>
          <p:nvPr/>
        </p:nvSpPr>
        <p:spPr>
          <a:xfrm>
            <a:off x="3116504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91292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992" y="194822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6544" y="2606040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Cifrado del dato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63976" y="3008376"/>
            <a:ext cx="242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DEK cifra el archivo u objeto directamente.</a:t>
            </a:r>
            <a:endParaRPr lang="en-US" sz="970" dirty="0"/>
          </a:p>
        </p:txBody>
      </p:sp>
      <p:sp>
        <p:nvSpPr>
          <p:cNvPr id="14" name="Text 10"/>
          <p:cNvSpPr/>
          <p:nvPr/>
        </p:nvSpPr>
        <p:spPr>
          <a:xfrm>
            <a:off x="5958688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7233476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176" y="194822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78728" y="2606040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KEK envuelve la DEK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06160" y="3008376"/>
            <a:ext cx="242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Key Encryption Key, guardada en el KMS, cifra ("envuelve") la DEK.</a:t>
            </a:r>
            <a:endParaRPr lang="en-US" sz="970" dirty="0"/>
          </a:p>
        </p:txBody>
      </p:sp>
      <p:sp>
        <p:nvSpPr>
          <p:cNvPr id="19" name="Text 14"/>
          <p:cNvSpPr/>
          <p:nvPr/>
        </p:nvSpPr>
        <p:spPr>
          <a:xfrm>
            <a:off x="8800871" y="195681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0075659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work/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360" y="194822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20911" y="2606040"/>
            <a:ext cx="247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Almacenamiento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9148343" y="3008376"/>
            <a:ext cx="2421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DEK envuelta se guarda junto al dato; la KEK nunca sale del KMS.</a:t>
            </a:r>
            <a:endParaRPr lang="en-US" sz="970" dirty="0"/>
          </a:p>
        </p:txBody>
      </p:sp>
      <p:sp>
        <p:nvSpPr>
          <p:cNvPr id="24" name="Shape 18"/>
          <p:cNvSpPr/>
          <p:nvPr/>
        </p:nvSpPr>
        <p:spPr>
          <a:xfrm>
            <a:off x="548640" y="425196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F5FAF9"/>
          </a:solidFill>
          <a:ln/>
        </p:spPr>
      </p:sp>
      <p:sp>
        <p:nvSpPr>
          <p:cNvPr id="25" name="Text 19"/>
          <p:cNvSpPr/>
          <p:nvPr/>
        </p:nvSpPr>
        <p:spPr>
          <a:xfrm>
            <a:off x="749808" y="4251960"/>
            <a:ext cx="106920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de forma segura equivale a borrar la KEK en el KMS — la DEK envuelta queda irrecuperable sin ella (crypto-shredding).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Secrets Management y Key Rotation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Hardcodear una llave en un repositorio anula por completo la fortaleza del algoritmo de cifrado, sin importar cuál sea.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Contraseñas, tokens de API y cadenas de conexión se guardan en un vault (p. ej. Key Vault), nunca en código o config.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Identity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se autentica ante el vault sin credenciales embebidas — el patrón visto ya en la Sesión 1.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llaves de forma periódica limita la ventana de exposición si una llave se filtra.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arch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y recuperación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respaldo controladas de las llaves para no perder acceso permanente a los datos ante una falla.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Buenas prácticas de gestión de llaves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Security by Default en la Sesión 2, la gestión de llaves tiene configuraciones seguras y riesgosas bien conocidas.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87188" cy="3794760"/>
          </a:xfrm>
          <a:prstGeom prst="roundRect">
            <a:avLst>
              <a:gd name="adj" fmla="val 2169"/>
            </a:avLst>
          </a:prstGeom>
          <a:solidFill>
            <a:srgbClr val="F5FA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5146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work/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279" y="2552639"/>
            <a:ext cx="216530" cy="216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2468880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KMS/vault del proveedor y dejar que gestione la rotación automática.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77240" y="313639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work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279" y="3174431"/>
            <a:ext cx="216530" cy="216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3090672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RBAC/ABAC con separación de funciones para operaciones sensibles (borrar, exportar).</a:t>
            </a:r>
            <a:endParaRPr lang="en-US" sz="1060" dirty="0"/>
          </a:p>
        </p:txBody>
      </p:sp>
      <p:sp>
        <p:nvSpPr>
          <p:cNvPr id="13" name="Shape 9"/>
          <p:cNvSpPr/>
          <p:nvPr/>
        </p:nvSpPr>
        <p:spPr>
          <a:xfrm>
            <a:off x="777240" y="375818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2" descr="/home/claude/work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9" y="3796223"/>
            <a:ext cx="216530" cy="2165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3712464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Rotar llaves simétricas de forma periódica (p. ej. cada 90 días) y auditar cada uso.</a:t>
            </a:r>
            <a:endParaRPr lang="en-US" sz="1060" dirty="0"/>
          </a:p>
        </p:txBody>
      </p:sp>
      <p:sp>
        <p:nvSpPr>
          <p:cNvPr id="16" name="Shape 11"/>
          <p:cNvSpPr/>
          <p:nvPr/>
        </p:nvSpPr>
        <p:spPr>
          <a:xfrm>
            <a:off x="777240" y="437997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3" descr="/home/claude/work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79" y="4418015"/>
            <a:ext cx="216530" cy="2165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334256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Managed Identity para que las apps accedan a secretos sin credenciales embebidas.</a:t>
            </a:r>
            <a:endParaRPr lang="en-US" sz="1060" dirty="0"/>
          </a:p>
        </p:txBody>
      </p:sp>
      <p:sp>
        <p:nvSpPr>
          <p:cNvPr id="19" name="Shape 13"/>
          <p:cNvSpPr/>
          <p:nvPr/>
        </p:nvSpPr>
        <p:spPr>
          <a:xfrm>
            <a:off x="777240" y="50017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4" descr="/home/claude/work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79" y="5039807"/>
            <a:ext cx="216530" cy="2165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70432" y="495604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proceso de escrow y recuperación probado ante pérdida de acceso.</a:t>
            </a:r>
            <a:endParaRPr lang="en-US" sz="1060" dirty="0"/>
          </a:p>
        </p:txBody>
      </p:sp>
      <p:sp>
        <p:nvSpPr>
          <p:cNvPr id="22" name="Shape 15"/>
          <p:cNvSpPr/>
          <p:nvPr/>
        </p:nvSpPr>
        <p:spPr>
          <a:xfrm>
            <a:off x="6255868" y="1783080"/>
            <a:ext cx="5387188" cy="3794760"/>
          </a:xfrm>
          <a:prstGeom prst="roundRect">
            <a:avLst>
              <a:gd name="adj" fmla="val 2169"/>
            </a:avLst>
          </a:prstGeom>
          <a:solidFill>
            <a:srgbClr val="FCE9E3"/>
          </a:solidFill>
          <a:ln/>
        </p:spPr>
      </p:sp>
      <p:sp>
        <p:nvSpPr>
          <p:cNvPr id="23" name="Text 16"/>
          <p:cNvSpPr/>
          <p:nvPr/>
        </p:nvSpPr>
        <p:spPr>
          <a:xfrm>
            <a:off x="6484468" y="19659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484468" y="2514600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5" descr="/home/claude/work/build/icons/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507" y="2552639"/>
            <a:ext cx="216530" cy="2165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77660" y="2468880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Hardcodear llaves o secretos en el código fuente o en archivos de configuración.</a:t>
            </a:r>
            <a:endParaRPr lang="en-US" sz="1060" dirty="0"/>
          </a:p>
        </p:txBody>
      </p:sp>
      <p:sp>
        <p:nvSpPr>
          <p:cNvPr id="27" name="Shape 19"/>
          <p:cNvSpPr/>
          <p:nvPr/>
        </p:nvSpPr>
        <p:spPr>
          <a:xfrm>
            <a:off x="6484468" y="3136392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8" name="Image 6" descr="/home/claude/work/build/icons/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2507" y="3174431"/>
            <a:ext cx="216530" cy="21653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77660" y="3090672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la misma llave para múltiples sistemas o propósitos distintos.</a:t>
            </a:r>
            <a:endParaRPr lang="en-US" sz="1060" dirty="0"/>
          </a:p>
        </p:txBody>
      </p:sp>
      <p:sp>
        <p:nvSpPr>
          <p:cNvPr id="30" name="Shape 21"/>
          <p:cNvSpPr/>
          <p:nvPr/>
        </p:nvSpPr>
        <p:spPr>
          <a:xfrm>
            <a:off x="6484468" y="3758184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1" name="Image 7" descr="/home/claude/work/build/icons/x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507" y="3796223"/>
            <a:ext cx="216530" cy="21653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77660" y="3712464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Otorgar permisos amplios de administración de llaves a toda la organización.</a:t>
            </a:r>
            <a:endParaRPr lang="en-US" sz="1060" dirty="0"/>
          </a:p>
        </p:txBody>
      </p:sp>
      <p:sp>
        <p:nvSpPr>
          <p:cNvPr id="33" name="Shape 23"/>
          <p:cNvSpPr/>
          <p:nvPr/>
        </p:nvSpPr>
        <p:spPr>
          <a:xfrm>
            <a:off x="6484468" y="4379976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4" name="Image 8" descr="/home/claude/work/build/icons/x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507" y="4418015"/>
            <a:ext cx="216530" cy="21653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877660" y="4334256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llaves sin fecha de expiración ni política de rotación definida.</a:t>
            </a:r>
            <a:endParaRPr lang="en-US" sz="1060" dirty="0"/>
          </a:p>
        </p:txBody>
      </p:sp>
      <p:sp>
        <p:nvSpPr>
          <p:cNvPr id="36" name="Shape 25"/>
          <p:cNvSpPr/>
          <p:nvPr/>
        </p:nvSpPr>
        <p:spPr>
          <a:xfrm>
            <a:off x="6484468" y="5001768"/>
            <a:ext cx="292608" cy="29260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7" name="Image 9" descr="/home/claude/work/build/icons/x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507" y="5039807"/>
            <a:ext cx="216530" cy="21653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877660" y="4956048"/>
            <a:ext cx="45185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Almacenar copias de llaves fuera de un vault o HSM controlado y auditado.</a:t>
            </a:r>
            <a:endParaRPr lang="en-US" sz="1060" dirty="0"/>
          </a:p>
        </p:txBody>
      </p:sp>
      <p:sp>
        <p:nvSpPr>
          <p:cNvPr id="39" name="Text 27"/>
          <p:cNvSpPr/>
          <p:nvPr/>
        </p:nvSpPr>
        <p:spPr>
          <a:xfrm>
            <a:off x="548640" y="5705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CCSK v5 (gestión de llaves) y Cloud Security Fundamentals — key lifecycle management.</a:t>
            </a:r>
            <a:endParaRPr lang="en-US" sz="950" dirty="0"/>
          </a:p>
        </p:txBody>
      </p:sp>
      <p:sp>
        <p:nvSpPr>
          <p:cNvPr id="40" name="Text 28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41" name="Text 29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Classification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se hace manual (etiquetado por el usuario), por contenido (patrones como PII o tarjetas) o por contexto (metadatos).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242316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compartirse libremente, sin impacto si se expone.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de marketing, comunicados de prensa.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interno de la organización; exposición no autorizada es indeseable pero no regulatoria.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Procedimientos internos, datos operativos no sensibles.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significativo si se expone; requiere controles de acceso definidos.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Contratos, información financiera interna.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Restringido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Máxima sensibilidad; impacto legal, regulatorio o reputacional severo.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personales (PII), credenciales, secretos comerciales.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885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clasificación previa, ni DLP ni cifrado saben qué proteger con más rigor.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Tokenización, cifrado y enmascaramiento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no es matemáticamente reversible: es un "localizador de registro" hacia el vault — por eso es especialmente fuerte para PCI DSS.</a:t>
            </a:r>
            <a:endParaRPr lang="en-US" sz="1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219456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funciona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se prefiere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Cifrado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 el dato con un algoritmo reversible mediante una llave.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se necesita recuperar el dato original con la llave correcta.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Sustituye el dato por un token sin valor matemático; el original vive en un vault aparte.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tarjetas o PII que casi nunca necesitan verse en claro (cumplimiento PCI DSS).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Enmascaramiento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Oculta parcialmente el dato para mostrarlo sin exponerlo por completo.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Entornos de prueba/desarrollo o vistas de soporte al cliente.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DLP — Data Loss / Leak Prevention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depende directamente de la clasificación de datos: sin ella, no sabe qué proteger con más fuerza.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almacenamiento, correo y endpoints para encontrar datos sensibles no clasificados.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72536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3573704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3704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3704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el movimiento de datos: descargas, envíos por correo, subidas a servicios externos.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96432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6397600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7600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basadas en clasificación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97600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metadatos de clasificación, DLP genera exceso de falsos positivos o negativos.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20327" y="1783080"/>
            <a:ext cx="2622728" cy="1965960"/>
          </a:xfrm>
          <a:prstGeom prst="roundRect">
            <a:avLst>
              <a:gd name="adj" fmla="val 4186"/>
            </a:avLst>
          </a:prstGeom>
          <a:solidFill>
            <a:srgbClr val="F5FAF9"/>
          </a:solidFill>
          <a:ln/>
        </p:spPr>
      </p:sp>
      <p:sp>
        <p:nvSpPr>
          <p:cNvPr id="21" name="Shape 16"/>
          <p:cNvSpPr/>
          <p:nvPr/>
        </p:nvSpPr>
        <p:spPr>
          <a:xfrm>
            <a:off x="9221495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/home/claude/work/build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043684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21495" y="253288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221495" y="2880360"/>
            <a:ext cx="222039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Alerta, bloquea o redacta la transferencia según el riesgo — integrado con CASB y SIEM.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Cómo se conectan los cuatro bloques de hoy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22728" cy="1828800"/>
          </a:xfrm>
          <a:prstGeom prst="roundRect">
            <a:avLst>
              <a:gd name="adj" fmla="val 4500"/>
            </a:avLst>
          </a:prstGeom>
          <a:solidFill>
            <a:srgbClr val="F5FAF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build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63220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2140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IAM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222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QUIÉN puede actuar (RBAC/ABAC/PBAC + MFA).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72536" y="1371600"/>
            <a:ext cx="2622728" cy="1828800"/>
          </a:xfrm>
          <a:prstGeom prst="roundRect">
            <a:avLst>
              <a:gd name="adj" fmla="val 4500"/>
            </a:avLst>
          </a:prstGeom>
          <a:solidFill>
            <a:srgbClr val="F5FAF9"/>
          </a:solidFill>
          <a:ln/>
        </p:spPr>
      </p:sp>
      <p:sp>
        <p:nvSpPr>
          <p:cNvPr id="10" name="Shape 7"/>
          <p:cNvSpPr/>
          <p:nvPr/>
        </p:nvSpPr>
        <p:spPr>
          <a:xfrm>
            <a:off x="3573704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163220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3704" y="212140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y protocolos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73704" y="2468880"/>
            <a:ext cx="222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prueba esa identidad entre sistemas (SAML/OIDC/JWT).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96432" y="1371600"/>
            <a:ext cx="2622728" cy="1828800"/>
          </a:xfrm>
          <a:prstGeom prst="roundRect">
            <a:avLst>
              <a:gd name="adj" fmla="val 4500"/>
            </a:avLst>
          </a:prstGeom>
          <a:solidFill>
            <a:srgbClr val="F5FAF9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7600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work/build/icons/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163220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7600" y="212140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97600" y="2468880"/>
            <a:ext cx="222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CÓMO se protege el dato en sí (cifrado + KMS).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20327" y="1371600"/>
            <a:ext cx="2622728" cy="1828800"/>
          </a:xfrm>
          <a:prstGeom prst="roundRect">
            <a:avLst>
              <a:gd name="adj" fmla="val 4500"/>
            </a:avLst>
          </a:prstGeom>
          <a:solidFill>
            <a:srgbClr val="F5FAF9"/>
          </a:solidFill>
          <a:ln/>
        </p:spPr>
      </p:sp>
      <p:sp>
        <p:nvSpPr>
          <p:cNvPr id="20" name="Shape 15"/>
          <p:cNvSpPr/>
          <p:nvPr/>
        </p:nvSpPr>
        <p:spPr>
          <a:xfrm>
            <a:off x="9221495" y="1572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work/build/icons/t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163220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1495" y="2121408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y DLP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221495" y="2468880"/>
            <a:ext cx="2220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QUÉ tan sensible es el dato y CÓMO se vigila su movimiento.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401568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CE9E3"/>
          </a:solidFill>
          <a:ln/>
        </p:spPr>
      </p:sp>
      <p:sp>
        <p:nvSpPr>
          <p:cNvPr id="25" name="Text 19"/>
          <p:cNvSpPr/>
          <p:nvPr/>
        </p:nvSpPr>
        <p:spPr>
          <a:xfrm>
            <a:off x="731520" y="340156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converge en el laboratorio: RBAC decide quién accede; SAML y OIDC prueban esa identidad; el cifrado y los secretos de Key Vault protegen el dato mismo.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teoría al laboratorio</a:t>
            </a:r>
            <a:endParaRPr lang="en-US" sz="2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25146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(Bloque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Asignación de roles con alcance mínimo sobre la suscripción en Entra ID.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(Bloque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MFA habilitado sobre la cuenta usada en el laboratorio.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(Bloque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real de SSO contra el Service Provider sptest.iamshowcase.com.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(Bloque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real contra la app de referencia ms-identity-python-webapp.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/ KMS (Bloque 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Key Vault y acceso vía Managed Identity, sin credenciales embebidas.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5993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teórico de hoy tiene una tarea concreta y verificable dentro del mismo laboratorio.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laboratorio en tres partes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Configuramos y validamos, en el mismo entorno, los tres pilares del bloque teórico: identidad, protocolos y protección de datos.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4026" cy="2148840"/>
          </a:xfrm>
          <a:prstGeom prst="roundRect">
            <a:avLst>
              <a:gd name="adj" fmla="val 3830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IAM base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316169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RBAC con alcance mínimo + Key Vault para secretos, con Managed Identity para el acceso.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13834" y="1783080"/>
            <a:ext cx="3564026" cy="2148840"/>
          </a:xfrm>
          <a:prstGeom prst="roundRect">
            <a:avLst>
              <a:gd name="adj" fmla="val 3830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15002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38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5002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Federación SAML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15002" y="2880360"/>
            <a:ext cx="316169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SSO contra el Service Provider de pruebas sptest.iamshowcase.com.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79029" y="1783080"/>
            <a:ext cx="3564026" cy="2148840"/>
          </a:xfrm>
          <a:prstGeom prst="roundRect">
            <a:avLst>
              <a:gd name="adj" fmla="val 3830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80197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633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0197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Federación OIDC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80197" y="2880360"/>
            <a:ext cx="316169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OpenID Connect contra la aplicación de referencia ms-identity-python-webapp.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Pasos guiados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8992" y="137160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Entra ID y RBAC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78992" y="16733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Crear/verificar usuarios y asignar roles con el principio de menor privilegio sobre la suscripción asignada.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2084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Key Vault y Managed Identity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8992" y="238658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vault, guardar un secreto de prueba y acceder desde un recurso vía Managed Identity — sin credenciales embebidas.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48640" y="281635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279806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30998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aserción contra sptest.iamshowcase.com y validar el inicio de sesión federado.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35295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8992" y="351129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OIDC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38130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la app ms-identity-python-webapp para autenticar contra Entra ID vía OpenID Connect.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4224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documentar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cada integración con evidencia (capturas, logs) para el informe de evaluación.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Entregable y criterios de evaluación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0E3C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work/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7510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IAM configurado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3852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+ RBAC + Key Vault operativos, con integración SAML (sptest.iamshowcase.com) y OIDC (ms-identity-python-webapp) validadas y evidenciadas.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/home/claude/work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6" y="3012216"/>
            <a:ext cx="230063" cy="2300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9900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RBAC — permisos realmente mínimos, no sobre-asignados.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47472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work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056" y="3515136"/>
            <a:ext cx="230063" cy="2300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493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correcto de Managed Identity — sin credenciales embebidas en código.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97764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3" descr="/home/claude/work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" y="4018056"/>
            <a:ext cx="230063" cy="2300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9959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SAML funcional y verificable.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48640" y="44805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4" descr="/home/claude/work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056" y="4520976"/>
            <a:ext cx="230063" cy="2300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0584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Federación OIDC funcional y verificable.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48640" y="5120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20 % de la nota final del módulo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DEL LABORATORIO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Síntesis del laboratorio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25146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de la teoría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 en el laboratorio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RBAC/ABAC/PBAC (Bloque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con alcance mínimo asignados en Entra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 (Bloque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MFA sobre la cuenta de laboratorio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SAML (Bloque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contra sptest.iamshowcase.com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OIDC / JWT (Bloque 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contra ms-identity-python-webapp; inspección del ID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9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/ KMS (Bloque 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B20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Vault + Managed Identity, sin secretos embebidos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work/build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79" y="1546799"/>
            <a:ext cx="216530" cy="216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490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decide quién actúa; RBAC, ABAC y PBAC son formas complementarias de tomar esa decisión.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1226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work/build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79" y="2150303"/>
            <a:ext cx="216530" cy="216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87552" y="20939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sigue siendo el estándar de SSO empresarial; OIDC (sobre OAuth 2.0) es su equivalente cloud-native, y JWT es el formato que ambos transportan.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715768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work/build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79" y="2753807"/>
            <a:ext cx="216530" cy="2165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552" y="26974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cifrado en tránsito y en reposo son controles distintos y ambos necesarios; el KMS con envelope encryption es cómo se gestionan las llaves a escala.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319272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work/build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79" y="3357311"/>
            <a:ext cx="216530" cy="2165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7552" y="33009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HSM certificado FIPS suele vivir por debajo del KMS gestionado — Azure Key Vault Premium combina ambos.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922776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work/build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79" y="3960815"/>
            <a:ext cx="216530" cy="2165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7552" y="39044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y Key Rotation evitan que una llave o credencial filtrada tenga una ventana de exposición indefinida.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48640" y="4526280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5" descr="/home/claude/work/build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79" y="4564319"/>
            <a:ext cx="216530" cy="2165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7552" y="450799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de datos es el insumo que hace efectivos tanto la tokenización como el DLP.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48640" y="52669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Seguridad de Infraestructura, Redes y Acceso Privado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4" name="Text 16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 A SESIÓN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 que viene: Infraestructura, Redes y Acceso Privado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identidad y los datos de la Sesión 3 se implementan sobre una red; la Sesión 4 asegura esa capa de red.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4026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043684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red segura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" y="2880360"/>
            <a:ext cx="31616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&amp; Spoke, NSG, IDS/IPS — el control de red que rodea a las identidades y datos de hoy.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13834" y="1783080"/>
            <a:ext cx="3564026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15002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work/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38" y="2043684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5002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privado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15002" y="2880360"/>
            <a:ext cx="31616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Endpoints, Bastion, TLS — cómo llegar a los mismos servicios (Key Vault, Storage) sin exponerlos a internet.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79029" y="1783080"/>
            <a:ext cx="3564026" cy="2011680"/>
          </a:xfrm>
          <a:prstGeom prst="roundRect">
            <a:avLst>
              <a:gd name="adj" fmla="val 4091"/>
            </a:avLst>
          </a:prstGeom>
          <a:solidFill>
            <a:srgbClr val="F5FA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80197" y="19842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work/build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633" y="2043684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80197" y="2532888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80197" y="2880360"/>
            <a:ext cx="316169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aplicaciones expuestas, complementando el cifrado en tránsito visto hoy.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95928"/>
            <a:ext cx="11094415" cy="502920"/>
          </a:xfrm>
          <a:prstGeom prst="roundRect">
            <a:avLst>
              <a:gd name="adj" fmla="val 10909"/>
            </a:avLst>
          </a:prstGeom>
          <a:solidFill>
            <a:srgbClr val="FCE9E3"/>
          </a:solidFill>
          <a:ln/>
        </p:spPr>
      </p:sp>
      <p:sp>
        <p:nvSpPr>
          <p:cNvPr id="21" name="Text 16"/>
          <p:cNvSpPr/>
          <p:nvPr/>
        </p:nvSpPr>
        <p:spPr>
          <a:xfrm>
            <a:off x="731520" y="3995928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conductor: el Key Vault configurado hoy se protegerá en la Sesión 4 con un Private Endpoint en lugar de acceso público.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Referencias bibliográficas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obligatorias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76479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Edwards, J. Cloud Security Fundamentals.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Thompson, G. Certificate of Cloud Security Knowledge (CCSK v5) Official Study Guide.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complementarias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8437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Messier, R. Learning Cloud Security: Cloud Computing and Security Architecture Essentials.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Dotson, C. Practical Cloud Security: A Guide for Secure Design and Deployment, 2nd Ed.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4728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Computing Security: Strategies and Best Practices.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Security Alliance. Top Threats to Cloud Computing 2024.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788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documentación técnica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Entra ID — learn.microsoft.com/entra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280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SAML Test IdP/SP — sptest.iamshowcase.com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1297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ms-identity-python-webapp — github.com/Azure-Samples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431536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OWASP — owasp.org (JWT y OAuth Cheat Sheets)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Alejandro Vargas Rojas · manuelvargasrojas@cedoc.edu.co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la Nube · Sesión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2026-08-15T21:32:02Z</dcterms:created>
  <dcterms:modified xsi:type="dcterms:W3CDTF">2026-08-15T21:32:02Z</dcterms:modified>
</cp:coreProperties>
</file>